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9144000"/>
  <p:embeddedFontLst>
    <p:embeddedFont>
      <p:font typeface="Saira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jmfMXLLGeCZy70Z+1eV9pCGx12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aira-italic.fntdata"/><Relationship Id="rId11" Type="http://schemas.openxmlformats.org/officeDocument/2006/relationships/slide" Target="slides/slide7.xml"/><Relationship Id="rId22" Type="http://customschemas.google.com/relationships/presentationmetadata" Target="metadata"/><Relationship Id="rId10" Type="http://schemas.openxmlformats.org/officeDocument/2006/relationships/slide" Target="slides/slide6.xml"/><Relationship Id="rId21" Type="http://schemas.openxmlformats.org/officeDocument/2006/relationships/font" Target="fonts/Saira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Saira-bold.fntdata"/><Relationship Id="rId6" Type="http://schemas.openxmlformats.org/officeDocument/2006/relationships/slide" Target="slides/slide2.xml"/><Relationship Id="rId18" Type="http://schemas.openxmlformats.org/officeDocument/2006/relationships/font" Target="fonts/Saira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0c34938e9c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g30c34938e9c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e0920f1d41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g2e0920f1d41_0_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0c34938e9c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g30c34938e9c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0c34938e9c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5" name="Google Shape;125;g30c34938e9c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0c34938e9c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g30c34938e9c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0c34938e9c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g30c34938e9c_0_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0c34938e9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g30c34938e9c_0_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0c34938e9c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" name="Google Shape;170;g30c34938e9c_0_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0c34938e9c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2" name="Google Shape;182;g30c34938e9c_0_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02c77a19e3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3" name="Google Shape;193;g202c77a19e3_0_2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e0920f1d41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2" name="Google Shape;202;g2e0920f1d41_0_1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1f3006538ad_0_20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g1f3006538ad_0_2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5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5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5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5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5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5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6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6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6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6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6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6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6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6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6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6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6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6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6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6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6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5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5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5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5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1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1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12.png"/><Relationship Id="rId6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252814" y="1014596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b="0" i="0" lang="es-AR" sz="42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Laboratorio de computación II</a:t>
            </a:r>
            <a:endParaRPr b="0" i="0" sz="54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 b="30673" l="23551" r="22738" t="29909"/>
          <a:stretch/>
        </p:blipFill>
        <p:spPr>
          <a:xfrm>
            <a:off x="8791460" y="390327"/>
            <a:ext cx="2959466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/>
        </p:nvSpPr>
        <p:spPr>
          <a:xfrm>
            <a:off x="2324175" y="2285050"/>
            <a:ext cx="75435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AR" sz="28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Unidad </a:t>
            </a:r>
            <a:r>
              <a:rPr lang="es-AR" sz="28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20</a:t>
            </a:r>
            <a:r>
              <a:rPr b="0" i="0" lang="es-AR" sz="28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- Clases.</a:t>
            </a:r>
            <a:endParaRPr b="0" i="0" sz="28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4439325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" name="Google Shape;8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08999" y="5652288"/>
            <a:ext cx="941920" cy="95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28725" y="3072050"/>
            <a:ext cx="4134525" cy="31008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0c34938e9c_0_13"/>
          <p:cNvSpPr txBox="1"/>
          <p:nvPr/>
        </p:nvSpPr>
        <p:spPr>
          <a:xfrm>
            <a:off x="319439" y="990221"/>
            <a:ext cx="8472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33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Programación Orientada a Objetos (POO)</a:t>
            </a:r>
            <a:endParaRPr b="0" i="0" sz="45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95" name="Google Shape;95;g30c34938e9c_0_13"/>
          <p:cNvPicPr preferRelativeResize="0"/>
          <p:nvPr/>
        </p:nvPicPr>
        <p:blipFill rotWithShape="1">
          <a:blip r:embed="rId3">
            <a:alphaModFix/>
          </a:blip>
          <a:srcRect b="30668" l="23553" r="22731" t="29911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g30c34938e9c_0_13"/>
          <p:cNvSpPr txBox="1"/>
          <p:nvPr/>
        </p:nvSpPr>
        <p:spPr>
          <a:xfrm>
            <a:off x="3954850" y="6338200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97" name="Google Shape;97;g30c34938e9c_0_13"/>
          <p:cNvSpPr txBox="1"/>
          <p:nvPr/>
        </p:nvSpPr>
        <p:spPr>
          <a:xfrm>
            <a:off x="490000" y="2411875"/>
            <a:ext cx="8812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98" name="Google Shape;98;g30c34938e9c_0_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08999" y="5652288"/>
            <a:ext cx="941920" cy="9543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g30c34938e9c_0_13"/>
          <p:cNvSpPr txBox="1"/>
          <p:nvPr/>
        </p:nvSpPr>
        <p:spPr>
          <a:xfrm>
            <a:off x="327550" y="1900225"/>
            <a:ext cx="9137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AR" sz="1800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La Programación Orientada a Objetos (POO) es un paradigma de programación que se basa en el concepto de "objetos". Un objeto pretende simular entidades del mundo real.</a:t>
            </a:r>
            <a:endParaRPr b="0" i="0" sz="1800" u="none" cap="none" strike="noStrike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00" name="Google Shape;100;g30c34938e9c_0_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65963" y="3201250"/>
            <a:ext cx="4260263" cy="284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e0920f1d41_0_73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b="0" i="0" lang="es-AR" sz="42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Clases y ob</a:t>
            </a: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jetos</a:t>
            </a:r>
            <a:endParaRPr b="0" i="0" sz="54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06" name="Google Shape;106;g2e0920f1d41_0_73"/>
          <p:cNvPicPr preferRelativeResize="0"/>
          <p:nvPr/>
        </p:nvPicPr>
        <p:blipFill rotWithShape="1">
          <a:blip r:embed="rId3">
            <a:alphaModFix/>
          </a:blip>
          <a:srcRect b="30671" l="23552" r="22734" t="29910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g2e0920f1d41_0_73"/>
          <p:cNvSpPr txBox="1"/>
          <p:nvPr/>
        </p:nvSpPr>
        <p:spPr>
          <a:xfrm>
            <a:off x="3954850" y="6338200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08" name="Google Shape;108;g2e0920f1d41_0_73"/>
          <p:cNvSpPr txBox="1"/>
          <p:nvPr/>
        </p:nvSpPr>
        <p:spPr>
          <a:xfrm>
            <a:off x="490000" y="2411875"/>
            <a:ext cx="8812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09" name="Google Shape;109;g2e0920f1d41_0_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08999" y="5652288"/>
            <a:ext cx="941920" cy="95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g2e0920f1d41_0_73"/>
          <p:cNvSpPr txBox="1"/>
          <p:nvPr/>
        </p:nvSpPr>
        <p:spPr>
          <a:xfrm>
            <a:off x="327550" y="1780425"/>
            <a:ext cx="9137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AR" sz="1800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Una clase es una plantilla o molde que define un tipo de objeto. Pueden pensar en una clase como una descripción general de un grupo de objetos que tienen propiedades y comportamientos similares.</a:t>
            </a:r>
            <a:endParaRPr b="0" i="0" sz="1800" u="none" cap="none" strike="noStrike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11" name="Google Shape;111;g2e0920f1d41_0_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14469" y="3224013"/>
            <a:ext cx="4193968" cy="2963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0c34938e9c_0_2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Definición de una clase</a:t>
            </a:r>
            <a:endParaRPr b="0" i="0" sz="54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17" name="Google Shape;117;g30c34938e9c_0_2"/>
          <p:cNvPicPr preferRelativeResize="0"/>
          <p:nvPr/>
        </p:nvPicPr>
        <p:blipFill rotWithShape="1">
          <a:blip r:embed="rId3">
            <a:alphaModFix/>
          </a:blip>
          <a:srcRect b="30668" l="23553" r="22731" t="29911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g30c34938e9c_0_2"/>
          <p:cNvSpPr txBox="1"/>
          <p:nvPr/>
        </p:nvSpPr>
        <p:spPr>
          <a:xfrm>
            <a:off x="3954850" y="6338200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19" name="Google Shape;119;g30c34938e9c_0_2"/>
          <p:cNvSpPr txBox="1"/>
          <p:nvPr/>
        </p:nvSpPr>
        <p:spPr>
          <a:xfrm>
            <a:off x="490000" y="2411875"/>
            <a:ext cx="8812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20" name="Google Shape;120;g30c34938e9c_0_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08999" y="5652288"/>
            <a:ext cx="941920" cy="95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g30c34938e9c_0_2"/>
          <p:cNvSpPr txBox="1"/>
          <p:nvPr/>
        </p:nvSpPr>
        <p:spPr>
          <a:xfrm>
            <a:off x="327550" y="1900225"/>
            <a:ext cx="91371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-AR" sz="1800">
                <a:solidFill>
                  <a:srgbClr val="0D0D0D"/>
                </a:solidFill>
                <a:highlight>
                  <a:schemeClr val="lt1"/>
                </a:highlight>
                <a:latin typeface="Saira"/>
                <a:ea typeface="Saira"/>
                <a:cs typeface="Saira"/>
                <a:sym typeface="Saira"/>
              </a:rPr>
              <a:t>En Python, definimos una clase utilizando la palabra clave class, seguida del nombre de la clase (en formato PascalCase por convención).</a:t>
            </a:r>
            <a:endParaRPr b="0" i="0" sz="1800" u="none" cap="none" strike="noStrike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22" name="Google Shape;122;g30c34938e9c_0_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98925" y="2948525"/>
            <a:ext cx="6994349" cy="211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0c34938e9c_0_40"/>
          <p:cNvSpPr txBox="1"/>
          <p:nvPr/>
        </p:nvSpPr>
        <p:spPr>
          <a:xfrm>
            <a:off x="327539" y="78397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El Constructor </a:t>
            </a:r>
            <a:endParaRPr b="0" i="0" sz="54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28" name="Google Shape;128;g30c34938e9c_0_40"/>
          <p:cNvPicPr preferRelativeResize="0"/>
          <p:nvPr/>
        </p:nvPicPr>
        <p:blipFill rotWithShape="1">
          <a:blip r:embed="rId3">
            <a:alphaModFix/>
          </a:blip>
          <a:srcRect b="30668" l="23553" r="22731" t="29911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g30c34938e9c_0_40"/>
          <p:cNvSpPr txBox="1"/>
          <p:nvPr/>
        </p:nvSpPr>
        <p:spPr>
          <a:xfrm>
            <a:off x="3954850" y="6338200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30" name="Google Shape;130;g30c34938e9c_0_40"/>
          <p:cNvSpPr txBox="1"/>
          <p:nvPr/>
        </p:nvSpPr>
        <p:spPr>
          <a:xfrm>
            <a:off x="490000" y="2411875"/>
            <a:ext cx="8812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31" name="Google Shape;131;g30c34938e9c_0_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08999" y="5652288"/>
            <a:ext cx="941920" cy="95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g30c34938e9c_0_40"/>
          <p:cNvSpPr txBox="1"/>
          <p:nvPr/>
        </p:nvSpPr>
        <p:spPr>
          <a:xfrm>
            <a:off x="275975" y="1693950"/>
            <a:ext cx="9137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-AR" sz="1800">
                <a:solidFill>
                  <a:srgbClr val="0D0D0D"/>
                </a:solidFill>
                <a:highlight>
                  <a:schemeClr val="lt1"/>
                </a:highlight>
                <a:latin typeface="Saira"/>
                <a:ea typeface="Saira"/>
                <a:cs typeface="Saira"/>
                <a:sym typeface="Saira"/>
              </a:rPr>
              <a:t>El método </a:t>
            </a:r>
            <a:r>
              <a:rPr lang="es-AR" sz="1800">
                <a:solidFill>
                  <a:srgbClr val="FF0000"/>
                </a:solidFill>
                <a:highlight>
                  <a:schemeClr val="lt1"/>
                </a:highlight>
                <a:latin typeface="Saira"/>
                <a:ea typeface="Saira"/>
                <a:cs typeface="Saira"/>
                <a:sym typeface="Saira"/>
              </a:rPr>
              <a:t>__init__ </a:t>
            </a:r>
            <a:r>
              <a:rPr lang="es-AR" sz="1800">
                <a:solidFill>
                  <a:srgbClr val="0D0D0D"/>
                </a:solidFill>
                <a:highlight>
                  <a:schemeClr val="lt1"/>
                </a:highlight>
                <a:latin typeface="Saira"/>
                <a:ea typeface="Saira"/>
                <a:cs typeface="Saira"/>
                <a:sym typeface="Saira"/>
              </a:rPr>
              <a:t>es el constructor de la clase. Se llama automáticamente cuando se crea una nueva instancia de la clase y generalmente se usa para inicializar las propiedades del objeto.</a:t>
            </a:r>
            <a:endParaRPr b="0" i="0" sz="1800" u="none" cap="none" strike="noStrike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33" name="Google Shape;133;g30c34938e9c_0_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30775" y="2986950"/>
            <a:ext cx="5627499" cy="2191874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g30c34938e9c_0_40"/>
          <p:cNvSpPr txBox="1"/>
          <p:nvPr/>
        </p:nvSpPr>
        <p:spPr>
          <a:xfrm>
            <a:off x="327550" y="5157800"/>
            <a:ext cx="91371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-AR" sz="1800">
                <a:solidFill>
                  <a:srgbClr val="0D0D0D"/>
                </a:solidFill>
                <a:highlight>
                  <a:schemeClr val="lt1"/>
                </a:highlight>
                <a:latin typeface="Saira"/>
                <a:ea typeface="Saira"/>
                <a:cs typeface="Saira"/>
                <a:sym typeface="Saira"/>
              </a:rPr>
              <a:t>En este caso, el constructor recibe marca, modelo y color como parámetros y los asigna a la instancia del objeto.</a:t>
            </a:r>
            <a:endParaRPr b="0" i="0" sz="1800" u="none" cap="none" strike="noStrike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0c34938e9c_0_28"/>
          <p:cNvSpPr txBox="1"/>
          <p:nvPr/>
        </p:nvSpPr>
        <p:spPr>
          <a:xfrm>
            <a:off x="319439" y="990221"/>
            <a:ext cx="8472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38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Propiedades y atributos</a:t>
            </a:r>
            <a:endParaRPr b="0" i="0" sz="50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40" name="Google Shape;140;g30c34938e9c_0_28"/>
          <p:cNvPicPr preferRelativeResize="0"/>
          <p:nvPr/>
        </p:nvPicPr>
        <p:blipFill rotWithShape="1">
          <a:blip r:embed="rId3">
            <a:alphaModFix/>
          </a:blip>
          <a:srcRect b="30668" l="23553" r="22731" t="29911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g30c34938e9c_0_28"/>
          <p:cNvSpPr txBox="1"/>
          <p:nvPr/>
        </p:nvSpPr>
        <p:spPr>
          <a:xfrm>
            <a:off x="3954850" y="6338200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42" name="Google Shape;142;g30c34938e9c_0_28"/>
          <p:cNvSpPr txBox="1"/>
          <p:nvPr/>
        </p:nvSpPr>
        <p:spPr>
          <a:xfrm>
            <a:off x="490000" y="2411875"/>
            <a:ext cx="8812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43" name="Google Shape;143;g30c34938e9c_0_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08999" y="5652288"/>
            <a:ext cx="941920" cy="95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g30c34938e9c_0_28"/>
          <p:cNvSpPr txBox="1"/>
          <p:nvPr/>
        </p:nvSpPr>
        <p:spPr>
          <a:xfrm>
            <a:off x="327550" y="1774175"/>
            <a:ext cx="9137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-AR" sz="1800">
                <a:solidFill>
                  <a:srgbClr val="0D0D0D"/>
                </a:solidFill>
                <a:highlight>
                  <a:schemeClr val="lt1"/>
                </a:highlight>
                <a:latin typeface="Saira"/>
                <a:ea typeface="Saira"/>
                <a:cs typeface="Saira"/>
                <a:sym typeface="Saira"/>
              </a:rPr>
              <a:t>Los atributos son variables que pertenecen a la clase o a la instancia. En este ejemplo, </a:t>
            </a:r>
            <a:r>
              <a:rPr lang="es-AR" sz="1800">
                <a:solidFill>
                  <a:srgbClr val="FF0000"/>
                </a:solidFill>
                <a:highlight>
                  <a:schemeClr val="lt1"/>
                </a:highlight>
                <a:latin typeface="Saira"/>
                <a:ea typeface="Saira"/>
                <a:cs typeface="Saira"/>
                <a:sym typeface="Saira"/>
              </a:rPr>
              <a:t>marca</a:t>
            </a:r>
            <a:r>
              <a:rPr lang="es-AR" sz="1800">
                <a:solidFill>
                  <a:srgbClr val="0D0D0D"/>
                </a:solidFill>
                <a:highlight>
                  <a:schemeClr val="lt1"/>
                </a:highlight>
                <a:latin typeface="Saira"/>
                <a:ea typeface="Saira"/>
                <a:cs typeface="Saira"/>
                <a:sym typeface="Saira"/>
              </a:rPr>
              <a:t>, </a:t>
            </a:r>
            <a:r>
              <a:rPr lang="es-AR" sz="1800">
                <a:solidFill>
                  <a:srgbClr val="FF0000"/>
                </a:solidFill>
                <a:highlight>
                  <a:schemeClr val="lt1"/>
                </a:highlight>
                <a:latin typeface="Saira"/>
                <a:ea typeface="Saira"/>
                <a:cs typeface="Saira"/>
                <a:sym typeface="Saira"/>
              </a:rPr>
              <a:t>modelo </a:t>
            </a:r>
            <a:r>
              <a:rPr lang="es-AR" sz="1800">
                <a:solidFill>
                  <a:srgbClr val="0D0D0D"/>
                </a:solidFill>
                <a:highlight>
                  <a:schemeClr val="lt1"/>
                </a:highlight>
                <a:latin typeface="Saira"/>
                <a:ea typeface="Saira"/>
                <a:cs typeface="Saira"/>
                <a:sym typeface="Saira"/>
              </a:rPr>
              <a:t>y </a:t>
            </a:r>
            <a:r>
              <a:rPr lang="es-AR" sz="1800">
                <a:solidFill>
                  <a:srgbClr val="FF0000"/>
                </a:solidFill>
                <a:highlight>
                  <a:schemeClr val="lt1"/>
                </a:highlight>
                <a:latin typeface="Saira"/>
                <a:ea typeface="Saira"/>
                <a:cs typeface="Saira"/>
                <a:sym typeface="Saira"/>
              </a:rPr>
              <a:t>color </a:t>
            </a:r>
            <a:r>
              <a:rPr lang="es-AR" sz="1800">
                <a:solidFill>
                  <a:srgbClr val="0D0D0D"/>
                </a:solidFill>
                <a:highlight>
                  <a:schemeClr val="lt1"/>
                </a:highlight>
                <a:latin typeface="Saira"/>
                <a:ea typeface="Saira"/>
                <a:cs typeface="Saira"/>
                <a:sym typeface="Saira"/>
              </a:rPr>
              <a:t>son atributos de instancia, lo que significa que cada objeto Auto tendrá su propio valor de estos atributos.</a:t>
            </a:r>
            <a:endParaRPr b="0" i="0" sz="1800" u="none" cap="none" strike="noStrike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45" name="Google Shape;145;g30c34938e9c_0_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11963" y="3067175"/>
            <a:ext cx="7568263" cy="30252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0c34938e9c_0_53"/>
          <p:cNvSpPr txBox="1"/>
          <p:nvPr/>
        </p:nvSpPr>
        <p:spPr>
          <a:xfrm>
            <a:off x="319439" y="990221"/>
            <a:ext cx="8472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38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Métodos</a:t>
            </a:r>
            <a:endParaRPr b="0" i="0" sz="50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51" name="Google Shape;151;g30c34938e9c_0_53"/>
          <p:cNvPicPr preferRelativeResize="0"/>
          <p:nvPr/>
        </p:nvPicPr>
        <p:blipFill rotWithShape="1">
          <a:blip r:embed="rId3">
            <a:alphaModFix/>
          </a:blip>
          <a:srcRect b="30668" l="23553" r="22731" t="29911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0c34938e9c_0_53"/>
          <p:cNvSpPr txBox="1"/>
          <p:nvPr/>
        </p:nvSpPr>
        <p:spPr>
          <a:xfrm>
            <a:off x="3954850" y="6338200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53" name="Google Shape;153;g30c34938e9c_0_53"/>
          <p:cNvSpPr txBox="1"/>
          <p:nvPr/>
        </p:nvSpPr>
        <p:spPr>
          <a:xfrm>
            <a:off x="490000" y="2411875"/>
            <a:ext cx="8812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54" name="Google Shape;154;g30c34938e9c_0_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08999" y="5652288"/>
            <a:ext cx="941920" cy="95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g30c34938e9c_0_53"/>
          <p:cNvSpPr txBox="1"/>
          <p:nvPr/>
        </p:nvSpPr>
        <p:spPr>
          <a:xfrm>
            <a:off x="327550" y="1774175"/>
            <a:ext cx="9137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-AR" sz="1800">
                <a:solidFill>
                  <a:srgbClr val="0D0D0D"/>
                </a:solidFill>
                <a:highlight>
                  <a:schemeClr val="lt1"/>
                </a:highlight>
                <a:latin typeface="Saira"/>
                <a:ea typeface="Saira"/>
                <a:cs typeface="Saira"/>
                <a:sym typeface="Saira"/>
              </a:rPr>
              <a:t>Los métodos son funciones que se definen dentro de una clase y que operan sobre los objetos de esa clase. Todos los métodos de instancia incluyen </a:t>
            </a:r>
            <a:r>
              <a:rPr lang="es-AR" sz="1800">
                <a:solidFill>
                  <a:srgbClr val="FF0000"/>
                </a:solidFill>
                <a:highlight>
                  <a:schemeClr val="lt1"/>
                </a:highlight>
                <a:latin typeface="Saira"/>
                <a:ea typeface="Saira"/>
                <a:cs typeface="Saira"/>
                <a:sym typeface="Saira"/>
              </a:rPr>
              <a:t>self </a:t>
            </a:r>
            <a:r>
              <a:rPr lang="es-AR" sz="1800">
                <a:solidFill>
                  <a:srgbClr val="0D0D0D"/>
                </a:solidFill>
                <a:highlight>
                  <a:schemeClr val="lt1"/>
                </a:highlight>
                <a:latin typeface="Saira"/>
                <a:ea typeface="Saira"/>
                <a:cs typeface="Saira"/>
                <a:sym typeface="Saira"/>
              </a:rPr>
              <a:t>como primer parámetro, que representa la instancia actual.</a:t>
            </a:r>
            <a:endParaRPr b="0" i="0" sz="1800" u="none" cap="none" strike="noStrike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56" name="Google Shape;156;g30c34938e9c_0_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73037" y="3016538"/>
            <a:ext cx="7076824" cy="32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0c34938e9c_0_66"/>
          <p:cNvSpPr txBox="1"/>
          <p:nvPr/>
        </p:nvSpPr>
        <p:spPr>
          <a:xfrm>
            <a:off x="319439" y="990221"/>
            <a:ext cx="8472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38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Métodos</a:t>
            </a:r>
            <a:endParaRPr b="0" i="0" sz="50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62" name="Google Shape;162;g30c34938e9c_0_66"/>
          <p:cNvPicPr preferRelativeResize="0"/>
          <p:nvPr/>
        </p:nvPicPr>
        <p:blipFill rotWithShape="1">
          <a:blip r:embed="rId3">
            <a:alphaModFix/>
          </a:blip>
          <a:srcRect b="30668" l="23553" r="22731" t="29911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g30c34938e9c_0_66"/>
          <p:cNvSpPr txBox="1"/>
          <p:nvPr/>
        </p:nvSpPr>
        <p:spPr>
          <a:xfrm>
            <a:off x="3954850" y="6338200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64" name="Google Shape;164;g30c34938e9c_0_66"/>
          <p:cNvSpPr txBox="1"/>
          <p:nvPr/>
        </p:nvSpPr>
        <p:spPr>
          <a:xfrm>
            <a:off x="490000" y="2411875"/>
            <a:ext cx="8812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65" name="Google Shape;165;g30c34938e9c_0_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08999" y="5652288"/>
            <a:ext cx="941920" cy="95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g30c34938e9c_0_66"/>
          <p:cNvSpPr txBox="1"/>
          <p:nvPr/>
        </p:nvSpPr>
        <p:spPr>
          <a:xfrm>
            <a:off x="327550" y="1774175"/>
            <a:ext cx="91371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-AR" sz="1800">
                <a:solidFill>
                  <a:srgbClr val="0D0D0D"/>
                </a:solidFill>
                <a:highlight>
                  <a:schemeClr val="lt1"/>
                </a:highlight>
                <a:latin typeface="Saira"/>
                <a:ea typeface="Saira"/>
                <a:cs typeface="Saira"/>
                <a:sym typeface="Saira"/>
              </a:rPr>
              <a:t>Ahora podemos llamar a los métodos arrancar y detener desde una instancia de Auto:</a:t>
            </a:r>
            <a:endParaRPr b="0" i="0" sz="1800" u="none" cap="none" strike="noStrike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67" name="Google Shape;167;g30c34938e9c_0_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94575" y="2758225"/>
            <a:ext cx="7633750" cy="214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0c34938e9c_0_77"/>
          <p:cNvSpPr txBox="1"/>
          <p:nvPr/>
        </p:nvSpPr>
        <p:spPr>
          <a:xfrm>
            <a:off x="319439" y="990221"/>
            <a:ext cx="8472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38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Métodos de clase y estáticos</a:t>
            </a:r>
            <a:endParaRPr b="0" i="0" sz="50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73" name="Google Shape;173;g30c34938e9c_0_77"/>
          <p:cNvPicPr preferRelativeResize="0"/>
          <p:nvPr/>
        </p:nvPicPr>
        <p:blipFill rotWithShape="1">
          <a:blip r:embed="rId3">
            <a:alphaModFix/>
          </a:blip>
          <a:srcRect b="30668" l="23553" r="22731" t="29911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g30c34938e9c_0_77"/>
          <p:cNvSpPr txBox="1"/>
          <p:nvPr/>
        </p:nvSpPr>
        <p:spPr>
          <a:xfrm>
            <a:off x="3954850" y="6338200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75" name="Google Shape;175;g30c34938e9c_0_77"/>
          <p:cNvSpPr txBox="1"/>
          <p:nvPr/>
        </p:nvSpPr>
        <p:spPr>
          <a:xfrm>
            <a:off x="490000" y="2411875"/>
            <a:ext cx="8812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76" name="Google Shape;176;g30c34938e9c_0_7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08999" y="5652288"/>
            <a:ext cx="941920" cy="95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g30c34938e9c_0_77"/>
          <p:cNvSpPr txBox="1"/>
          <p:nvPr/>
        </p:nvSpPr>
        <p:spPr>
          <a:xfrm>
            <a:off x="327550" y="1774175"/>
            <a:ext cx="9150000" cy="18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-AR" sz="1800">
                <a:solidFill>
                  <a:srgbClr val="0D0D0D"/>
                </a:solidFill>
                <a:highlight>
                  <a:schemeClr val="lt1"/>
                </a:highlight>
                <a:latin typeface="Saira"/>
                <a:ea typeface="Saira"/>
                <a:cs typeface="Saira"/>
                <a:sym typeface="Saira"/>
              </a:rPr>
              <a:t>Además de los métodos de instancia, tenemos:</a:t>
            </a:r>
            <a:endParaRPr sz="1800">
              <a:solidFill>
                <a:srgbClr val="0D0D0D"/>
              </a:solidFill>
              <a:highlight>
                <a:schemeClr val="lt1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Saira"/>
              <a:buChar char="●"/>
            </a:pPr>
            <a:r>
              <a:rPr lang="es-AR" sz="1800">
                <a:solidFill>
                  <a:srgbClr val="0D0D0D"/>
                </a:solidFill>
                <a:highlight>
                  <a:schemeClr val="lt1"/>
                </a:highlight>
                <a:latin typeface="Saira"/>
                <a:ea typeface="Saira"/>
                <a:cs typeface="Saira"/>
                <a:sym typeface="Saira"/>
              </a:rPr>
              <a:t>Métodos de clase: Usan </a:t>
            </a:r>
            <a:r>
              <a:rPr lang="es-AR" sz="1800">
                <a:solidFill>
                  <a:srgbClr val="0000FF"/>
                </a:solidFill>
                <a:highlight>
                  <a:schemeClr val="lt1"/>
                </a:highlight>
                <a:latin typeface="Saira"/>
                <a:ea typeface="Saira"/>
                <a:cs typeface="Saira"/>
                <a:sym typeface="Saira"/>
              </a:rPr>
              <a:t>@classmethod</a:t>
            </a:r>
            <a:r>
              <a:rPr lang="es-AR" sz="1800">
                <a:solidFill>
                  <a:srgbClr val="0D0D0D"/>
                </a:solidFill>
                <a:highlight>
                  <a:schemeClr val="lt1"/>
                </a:highlight>
                <a:latin typeface="Saira"/>
                <a:ea typeface="Saira"/>
                <a:cs typeface="Saira"/>
                <a:sym typeface="Saira"/>
              </a:rPr>
              <a:t> y reciben </a:t>
            </a:r>
            <a:r>
              <a:rPr lang="es-AR" sz="1800">
                <a:solidFill>
                  <a:srgbClr val="188038"/>
                </a:solidFill>
                <a:highlight>
                  <a:schemeClr val="lt1"/>
                </a:highlight>
                <a:latin typeface="Saira"/>
                <a:ea typeface="Saira"/>
                <a:cs typeface="Saira"/>
                <a:sym typeface="Saira"/>
              </a:rPr>
              <a:t>cls</a:t>
            </a:r>
            <a:r>
              <a:rPr lang="es-AR" sz="1800">
                <a:solidFill>
                  <a:srgbClr val="0D0D0D"/>
                </a:solidFill>
                <a:highlight>
                  <a:schemeClr val="lt1"/>
                </a:highlight>
                <a:latin typeface="Saira"/>
                <a:ea typeface="Saira"/>
                <a:cs typeface="Saira"/>
                <a:sym typeface="Saira"/>
              </a:rPr>
              <a:t>, que representa la clase.</a:t>
            </a:r>
            <a:endParaRPr sz="1800">
              <a:solidFill>
                <a:srgbClr val="0D0D0D"/>
              </a:solidFill>
              <a:highlight>
                <a:schemeClr val="lt1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Saira"/>
              <a:buChar char="●"/>
            </a:pPr>
            <a:r>
              <a:rPr lang="es-AR" sz="1800">
                <a:solidFill>
                  <a:srgbClr val="0D0D0D"/>
                </a:solidFill>
                <a:highlight>
                  <a:schemeClr val="lt1"/>
                </a:highlight>
                <a:latin typeface="Saira"/>
                <a:ea typeface="Saira"/>
                <a:cs typeface="Saira"/>
                <a:sym typeface="Saira"/>
              </a:rPr>
              <a:t>Métodos estáticos: No reciben automáticamente ni </a:t>
            </a:r>
            <a:r>
              <a:rPr lang="es-AR" sz="1800">
                <a:solidFill>
                  <a:srgbClr val="FF0000"/>
                </a:solidFill>
                <a:highlight>
                  <a:schemeClr val="lt1"/>
                </a:highlight>
                <a:latin typeface="Saira"/>
                <a:ea typeface="Saira"/>
                <a:cs typeface="Saira"/>
                <a:sym typeface="Saira"/>
              </a:rPr>
              <a:t>self</a:t>
            </a:r>
            <a:r>
              <a:rPr lang="es-AR" sz="1800">
                <a:solidFill>
                  <a:srgbClr val="0D0D0D"/>
                </a:solidFill>
                <a:highlight>
                  <a:schemeClr val="lt1"/>
                </a:highlight>
                <a:latin typeface="Saira"/>
                <a:ea typeface="Saira"/>
                <a:cs typeface="Saira"/>
                <a:sym typeface="Saira"/>
              </a:rPr>
              <a:t> ni </a:t>
            </a:r>
            <a:r>
              <a:rPr lang="es-AR" sz="1800">
                <a:solidFill>
                  <a:srgbClr val="188038"/>
                </a:solidFill>
                <a:highlight>
                  <a:schemeClr val="lt1"/>
                </a:highlight>
                <a:latin typeface="Saira"/>
                <a:ea typeface="Saira"/>
                <a:cs typeface="Saira"/>
                <a:sym typeface="Saira"/>
              </a:rPr>
              <a:t>cls</a:t>
            </a:r>
            <a:r>
              <a:rPr lang="es-AR" sz="1800">
                <a:solidFill>
                  <a:srgbClr val="0D0D0D"/>
                </a:solidFill>
                <a:highlight>
                  <a:schemeClr val="lt1"/>
                </a:highlight>
                <a:latin typeface="Saira"/>
                <a:ea typeface="Saira"/>
                <a:cs typeface="Saira"/>
                <a:sym typeface="Saira"/>
              </a:rPr>
              <a:t>, y se definen con </a:t>
            </a:r>
            <a:r>
              <a:rPr lang="es-AR" sz="1800">
                <a:solidFill>
                  <a:srgbClr val="0000FF"/>
                </a:solidFill>
                <a:highlight>
                  <a:schemeClr val="lt1"/>
                </a:highlight>
                <a:latin typeface="Saira"/>
                <a:ea typeface="Saira"/>
                <a:cs typeface="Saira"/>
                <a:sym typeface="Saira"/>
              </a:rPr>
              <a:t>@staticmethod</a:t>
            </a:r>
            <a:r>
              <a:rPr lang="es-AR" sz="1800">
                <a:solidFill>
                  <a:srgbClr val="0D0D0D"/>
                </a:solidFill>
                <a:highlight>
                  <a:schemeClr val="lt1"/>
                </a:highlight>
                <a:latin typeface="Saira"/>
                <a:ea typeface="Saira"/>
                <a:cs typeface="Saira"/>
                <a:sym typeface="Saira"/>
              </a:rPr>
              <a:t>.</a:t>
            </a:r>
            <a:endParaRPr sz="1800">
              <a:solidFill>
                <a:srgbClr val="0D0D0D"/>
              </a:solidFill>
              <a:highlight>
                <a:schemeClr val="lt1"/>
              </a:highlight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78" name="Google Shape;178;g30c34938e9c_0_77"/>
          <p:cNvSpPr txBox="1"/>
          <p:nvPr/>
        </p:nvSpPr>
        <p:spPr>
          <a:xfrm>
            <a:off x="327550" y="4123175"/>
            <a:ext cx="101169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Saira"/>
              <a:buChar char="●"/>
            </a:pPr>
            <a:r>
              <a:rPr lang="es-AR" sz="1800">
                <a:solidFill>
                  <a:srgbClr val="0000FF"/>
                </a:solidFill>
                <a:highlight>
                  <a:schemeClr val="lt1"/>
                </a:highlight>
                <a:latin typeface="Saira"/>
                <a:ea typeface="Saira"/>
                <a:cs typeface="Saira"/>
                <a:sym typeface="Saira"/>
              </a:rPr>
              <a:t>@classmethod</a:t>
            </a:r>
            <a:r>
              <a:rPr lang="es-AR" sz="1800">
                <a:solidFill>
                  <a:srgbClr val="0D0D0D"/>
                </a:solidFill>
                <a:highlight>
                  <a:schemeClr val="lt1"/>
                </a:highlight>
                <a:latin typeface="Saira"/>
                <a:ea typeface="Saira"/>
                <a:cs typeface="Saira"/>
                <a:sym typeface="Saira"/>
              </a:rPr>
              <a:t>: Permite que el método reciba la clase (</a:t>
            </a:r>
            <a:r>
              <a:rPr lang="es-AR" sz="1800">
                <a:solidFill>
                  <a:srgbClr val="188038"/>
                </a:solidFill>
                <a:highlight>
                  <a:schemeClr val="lt1"/>
                </a:highlight>
                <a:latin typeface="Saira"/>
                <a:ea typeface="Saira"/>
                <a:cs typeface="Saira"/>
                <a:sym typeface="Saira"/>
              </a:rPr>
              <a:t>cls</a:t>
            </a:r>
            <a:r>
              <a:rPr lang="es-AR" sz="1800">
                <a:solidFill>
                  <a:srgbClr val="0D0D0D"/>
                </a:solidFill>
                <a:highlight>
                  <a:schemeClr val="lt1"/>
                </a:highlight>
                <a:latin typeface="Saira"/>
                <a:ea typeface="Saira"/>
                <a:cs typeface="Saira"/>
                <a:sym typeface="Saira"/>
              </a:rPr>
              <a:t>) como primer argumento en lugar de la instancia (</a:t>
            </a:r>
            <a:r>
              <a:rPr lang="es-AR" sz="1800">
                <a:solidFill>
                  <a:srgbClr val="FF0000"/>
                </a:solidFill>
                <a:highlight>
                  <a:schemeClr val="lt1"/>
                </a:highlight>
                <a:latin typeface="Saira"/>
                <a:ea typeface="Saira"/>
                <a:cs typeface="Saira"/>
                <a:sym typeface="Saira"/>
              </a:rPr>
              <a:t>self</a:t>
            </a:r>
            <a:r>
              <a:rPr lang="es-AR" sz="1800">
                <a:solidFill>
                  <a:srgbClr val="0D0D0D"/>
                </a:solidFill>
                <a:highlight>
                  <a:schemeClr val="lt1"/>
                </a:highlight>
                <a:latin typeface="Saira"/>
                <a:ea typeface="Saira"/>
                <a:cs typeface="Saira"/>
                <a:sym typeface="Saira"/>
              </a:rPr>
              <a:t>). Es útil para métodos que operan sobre la clase en lugar de sobre instancias individuales.</a:t>
            </a:r>
            <a:endParaRPr sz="1800">
              <a:solidFill>
                <a:srgbClr val="0D0D0D"/>
              </a:solidFill>
              <a:highlight>
                <a:schemeClr val="lt1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Saira"/>
              <a:buChar char="●"/>
            </a:pPr>
            <a:r>
              <a:rPr lang="es-AR" sz="1800">
                <a:solidFill>
                  <a:srgbClr val="0000FF"/>
                </a:solidFill>
                <a:highlight>
                  <a:schemeClr val="lt1"/>
                </a:highlight>
                <a:latin typeface="Saira"/>
                <a:ea typeface="Saira"/>
                <a:cs typeface="Saira"/>
                <a:sym typeface="Saira"/>
              </a:rPr>
              <a:t>@staticmethod</a:t>
            </a:r>
            <a:r>
              <a:rPr lang="es-AR" sz="1800">
                <a:solidFill>
                  <a:srgbClr val="0D0D0D"/>
                </a:solidFill>
                <a:highlight>
                  <a:schemeClr val="lt1"/>
                </a:highlight>
                <a:latin typeface="Saira"/>
                <a:ea typeface="Saira"/>
                <a:cs typeface="Saira"/>
                <a:sym typeface="Saira"/>
              </a:rPr>
              <a:t>: Declara un método que no necesita ni self ni </a:t>
            </a:r>
            <a:r>
              <a:rPr lang="es-AR" sz="1800">
                <a:solidFill>
                  <a:srgbClr val="188038"/>
                </a:solidFill>
                <a:highlight>
                  <a:schemeClr val="lt1"/>
                </a:highlight>
                <a:latin typeface="Saira"/>
                <a:ea typeface="Saira"/>
                <a:cs typeface="Saira"/>
                <a:sym typeface="Saira"/>
              </a:rPr>
              <a:t>cls</a:t>
            </a:r>
            <a:r>
              <a:rPr lang="es-AR" sz="1800">
                <a:solidFill>
                  <a:srgbClr val="0D0D0D"/>
                </a:solidFill>
                <a:highlight>
                  <a:schemeClr val="lt1"/>
                </a:highlight>
                <a:latin typeface="Saira"/>
                <a:ea typeface="Saira"/>
                <a:cs typeface="Saira"/>
                <a:sym typeface="Saira"/>
              </a:rPr>
              <a:t>. Son útiles para funciones relacionadas con la clase, pero que no requieren acceder a sus atributos o métodos.</a:t>
            </a:r>
            <a:endParaRPr sz="1800">
              <a:solidFill>
                <a:srgbClr val="0D0D0D"/>
              </a:solidFill>
              <a:highlight>
                <a:schemeClr val="lt1"/>
              </a:highlight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79" name="Google Shape;179;g30c34938e9c_0_77"/>
          <p:cNvSpPr txBox="1"/>
          <p:nvPr/>
        </p:nvSpPr>
        <p:spPr>
          <a:xfrm>
            <a:off x="489989" y="3649021"/>
            <a:ext cx="847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24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Decoradores de Métodos</a:t>
            </a:r>
            <a:endParaRPr b="0" i="0" sz="36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0c34938e9c_0_98"/>
          <p:cNvSpPr txBox="1"/>
          <p:nvPr/>
        </p:nvSpPr>
        <p:spPr>
          <a:xfrm>
            <a:off x="319439" y="990221"/>
            <a:ext cx="8472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38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Métodos de clase y estáticos</a:t>
            </a:r>
            <a:endParaRPr b="0" i="0" sz="50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85" name="Google Shape;185;g30c34938e9c_0_98"/>
          <p:cNvPicPr preferRelativeResize="0"/>
          <p:nvPr/>
        </p:nvPicPr>
        <p:blipFill rotWithShape="1">
          <a:blip r:embed="rId3">
            <a:alphaModFix/>
          </a:blip>
          <a:srcRect b="30668" l="23553" r="22731" t="29911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g30c34938e9c_0_98"/>
          <p:cNvSpPr txBox="1"/>
          <p:nvPr/>
        </p:nvSpPr>
        <p:spPr>
          <a:xfrm>
            <a:off x="3954850" y="6338200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87" name="Google Shape;187;g30c34938e9c_0_98"/>
          <p:cNvSpPr txBox="1"/>
          <p:nvPr/>
        </p:nvSpPr>
        <p:spPr>
          <a:xfrm>
            <a:off x="490000" y="2411875"/>
            <a:ext cx="8812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88" name="Google Shape;188;g30c34938e9c_0_9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08999" y="5652288"/>
            <a:ext cx="941920" cy="95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g30c34938e9c_0_9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9025" y="1667325"/>
            <a:ext cx="5734025" cy="4386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g30c34938e9c_0_9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19250" y="2627674"/>
            <a:ext cx="5051325" cy="183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02c77a19e3_0_227"/>
          <p:cNvSpPr txBox="1"/>
          <p:nvPr/>
        </p:nvSpPr>
        <p:spPr>
          <a:xfrm>
            <a:off x="319439" y="990221"/>
            <a:ext cx="8472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b="0" i="0" lang="es-AR" sz="31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Componentes Principales de una Clase</a:t>
            </a:r>
            <a:endParaRPr b="0" i="0" sz="31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96" name="Google Shape;196;g202c77a19e3_0_227"/>
          <p:cNvPicPr preferRelativeResize="0"/>
          <p:nvPr/>
        </p:nvPicPr>
        <p:blipFill rotWithShape="1">
          <a:blip r:embed="rId3">
            <a:alphaModFix/>
          </a:blip>
          <a:srcRect b="30671" l="23552" r="22734" t="29910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g202c77a19e3_0_227"/>
          <p:cNvSpPr txBox="1"/>
          <p:nvPr/>
        </p:nvSpPr>
        <p:spPr>
          <a:xfrm>
            <a:off x="3954850" y="6338200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98" name="Google Shape;198;g202c77a19e3_0_227"/>
          <p:cNvSpPr txBox="1"/>
          <p:nvPr/>
        </p:nvSpPr>
        <p:spPr>
          <a:xfrm>
            <a:off x="424350" y="1783200"/>
            <a:ext cx="94914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Saira"/>
              <a:buChar char="●"/>
            </a:pPr>
            <a:r>
              <a:rPr b="0" i="0" lang="es-AR" sz="18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Constructor (__init__): Es un método especial que se llama automáticamente cuando se crea una nueva instancia de la clase. Se usa para inicializar los atributos del objeto.</a:t>
            </a:r>
            <a:endParaRPr b="0" i="0" sz="1800" u="none" cap="none" strike="noStrike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Saira"/>
              <a:buChar char="●"/>
            </a:pPr>
            <a:r>
              <a:rPr b="0" i="0" lang="es-AR" sz="18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Atributos: Son variables que pertenecen a la clase. Pueden ser de instancia (diferentes para cada objeto) o de clase (compartidos entre todas las instancias).</a:t>
            </a:r>
            <a:endParaRPr b="0" i="0" sz="1800" u="none" cap="none" strike="noStrike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Saira"/>
              <a:buChar char="●"/>
            </a:pPr>
            <a:r>
              <a:rPr b="0" i="0" lang="es-AR" sz="18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Métodos: Son funciones definidas dentro de la clase que describen el comportamiento de los objetos de la clase </a:t>
            </a:r>
            <a:r>
              <a:rPr lang="es-AR" sz="1800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 y </a:t>
            </a:r>
            <a:r>
              <a:rPr lang="es-AR" sz="1800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métodos de clase que se comparten entre todas las instancias y son propios de la clase</a:t>
            </a:r>
            <a:r>
              <a:rPr lang="es-AR" sz="1800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 </a:t>
            </a:r>
            <a:r>
              <a:rPr b="0" i="0" lang="es-AR" sz="18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.</a:t>
            </a:r>
            <a:endParaRPr b="0" i="0" sz="1800" u="none" cap="none" strike="noStrike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99" name="Google Shape;199;g202c77a19e3_0_2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08999" y="5652288"/>
            <a:ext cx="941920" cy="95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e0920f1d41_0_112"/>
          <p:cNvSpPr txBox="1"/>
          <p:nvPr/>
        </p:nvSpPr>
        <p:spPr>
          <a:xfrm>
            <a:off x="319439" y="990221"/>
            <a:ext cx="8472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b="0" i="0" lang="es-AR" sz="30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Pilares de la programación orientada a objetos </a:t>
            </a:r>
            <a:endParaRPr b="0" i="0" sz="30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05" name="Google Shape;205;g2e0920f1d41_0_112"/>
          <p:cNvPicPr preferRelativeResize="0"/>
          <p:nvPr/>
        </p:nvPicPr>
        <p:blipFill rotWithShape="1">
          <a:blip r:embed="rId3">
            <a:alphaModFix/>
          </a:blip>
          <a:srcRect b="30668" l="23553" r="22731" t="29911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g2e0920f1d41_0_112"/>
          <p:cNvSpPr txBox="1"/>
          <p:nvPr/>
        </p:nvSpPr>
        <p:spPr>
          <a:xfrm>
            <a:off x="3954850" y="6338200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07" name="Google Shape;207;g2e0920f1d41_0_1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08999" y="5652288"/>
            <a:ext cx="941920" cy="95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g2e0920f1d41_0_1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55675" y="1956776"/>
            <a:ext cx="2711550" cy="350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g1f3006538ad_0_205"/>
          <p:cNvPicPr preferRelativeResize="0"/>
          <p:nvPr/>
        </p:nvPicPr>
        <p:blipFill rotWithShape="1">
          <a:blip r:embed="rId3">
            <a:alphaModFix/>
          </a:blip>
          <a:srcRect b="30671" l="23552" r="22734" t="29910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g1f3006538ad_0_205"/>
          <p:cNvSpPr txBox="1"/>
          <p:nvPr>
            <p:ph idx="10" type="dt"/>
          </p:nvPr>
        </p:nvSpPr>
        <p:spPr>
          <a:xfrm>
            <a:off x="4439400" y="63133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-AR"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15" name="Google Shape;215;g1f3006538ad_0_205"/>
          <p:cNvSpPr txBox="1"/>
          <p:nvPr/>
        </p:nvSpPr>
        <p:spPr>
          <a:xfrm>
            <a:off x="2846238" y="2374225"/>
            <a:ext cx="6499500" cy="100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000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Próxima unidad: Pilares de la </a:t>
            </a:r>
            <a:r>
              <a:rPr lang="es-AR" sz="2000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POO</a:t>
            </a:r>
            <a:r>
              <a:rPr lang="es-AR" sz="2000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.</a:t>
            </a:r>
            <a:endParaRPr sz="20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6" name="Google Shape;216;g1f3006538ad_0_20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4432" y="3311318"/>
            <a:ext cx="2263150" cy="2292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2023-03-07T21:33:27Z</dcterms:created>
  <dc:creator>Carlos Sebastián Pedraza</dc:creator>
</cp:coreProperties>
</file>