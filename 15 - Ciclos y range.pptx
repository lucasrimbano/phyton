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Saira"/>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gcvr118ulFztTpWrOjIZfLrYW6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Saira-bold.fntdata"/><Relationship Id="rId30" Type="http://schemas.openxmlformats.org/officeDocument/2006/relationships/font" Target="fonts/Saira-regular.fntdata"/><Relationship Id="rId11" Type="http://schemas.openxmlformats.org/officeDocument/2006/relationships/slide" Target="slides/slide7.xml"/><Relationship Id="rId33" Type="http://schemas.openxmlformats.org/officeDocument/2006/relationships/font" Target="fonts/Saira-boldItalic.fntdata"/><Relationship Id="rId10" Type="http://schemas.openxmlformats.org/officeDocument/2006/relationships/slide" Target="slides/slide6.xml"/><Relationship Id="rId32" Type="http://schemas.openxmlformats.org/officeDocument/2006/relationships/font" Target="fonts/Saira-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f2ce82f4e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1f2ce82f4e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02c77a19e3_0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g202c77a19e3_0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ddb62af2b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2ddb62af2b6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ddb62af2b6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g2ddb62af2b6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ddb62af2b6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g2ddb62af2b6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db62af2b6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2ddb62af2b6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ddb62af2b6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2ddb62af2b6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ddb62af2b6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2ddb62af2b6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ddb62af2b6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2ddb62af2b6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ddb62af2b6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g2ddb62af2b6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ddb62af2b6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2ddb62af2b6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ddb62af2b6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2ddb62af2b6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ddb62af2b6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g2ddb62af2b6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ddb62af2b6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g2ddb62af2b6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ddb62af2b6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g2ddb62af2b6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ddb62af2b6_0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g2ddb62af2b6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02c77a19e3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202c77a19e3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02c77a19e3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g202c77a19e3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ddb62af2b6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g2ddb62af2b6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ddb62af2b6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2ddb62af2b6_0_1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ddb62af2b6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g2ddb62af2b6_0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ddb62af2b6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g2ddb62af2b6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02c77a19e3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202c77a19e3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f3006538ad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g1f3006538ad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6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5"/>
          <p:cNvSpPr/>
          <p:nvPr>
            <p:ph idx="2" type="pic"/>
          </p:nvPr>
        </p:nvSpPr>
        <p:spPr>
          <a:xfrm>
            <a:off x="5183188" y="987425"/>
            <a:ext cx="6172200" cy="4873625"/>
          </a:xfrm>
          <a:prstGeom prst="rect">
            <a:avLst/>
          </a:prstGeom>
          <a:noFill/>
          <a:ln>
            <a:noFill/>
          </a:ln>
        </p:spPr>
      </p:sp>
      <p:sp>
        <p:nvSpPr>
          <p:cNvPr id="64" name="Google Shape;64;p6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jp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jp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jp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jp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252814" y="10145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4200" u="none" cap="none" strike="noStrike">
                <a:solidFill>
                  <a:schemeClr val="dk1"/>
                </a:solidFill>
                <a:latin typeface="Saira"/>
                <a:ea typeface="Saira"/>
                <a:cs typeface="Saira"/>
                <a:sym typeface="Saira"/>
              </a:rPr>
              <a:t>Laboratorio de </a:t>
            </a:r>
            <a:r>
              <a:rPr lang="es-AR" sz="4200">
                <a:solidFill>
                  <a:schemeClr val="dk1"/>
                </a:solidFill>
                <a:latin typeface="Saira"/>
                <a:ea typeface="Saira"/>
                <a:cs typeface="Saira"/>
                <a:sym typeface="Saira"/>
              </a:rPr>
              <a:t>computación </a:t>
            </a:r>
            <a:r>
              <a:rPr b="0" i="0" lang="es-AR" sz="4200" u="none" cap="none" strike="noStrike">
                <a:solidFill>
                  <a:schemeClr val="dk1"/>
                </a:solidFill>
                <a:latin typeface="Saira"/>
                <a:ea typeface="Saira"/>
                <a:cs typeface="Saira"/>
                <a:sym typeface="Saira"/>
              </a:rPr>
              <a:t>II</a:t>
            </a:r>
            <a:endParaRPr b="0" i="0" sz="5400" u="none" cap="none" strike="noStrike">
              <a:solidFill>
                <a:schemeClr val="dk1"/>
              </a:solidFill>
              <a:latin typeface="Saira"/>
              <a:ea typeface="Saira"/>
              <a:cs typeface="Saira"/>
              <a:sym typeface="Saira"/>
            </a:endParaRPr>
          </a:p>
        </p:txBody>
      </p:sp>
      <p:pic>
        <p:nvPicPr>
          <p:cNvPr id="85" name="Google Shape;85;p1"/>
          <p:cNvPicPr preferRelativeResize="0"/>
          <p:nvPr/>
        </p:nvPicPr>
        <p:blipFill rotWithShape="1">
          <a:blip r:embed="rId3">
            <a:alphaModFix/>
          </a:blip>
          <a:srcRect b="30673" l="23551" r="22738" t="29909"/>
          <a:stretch/>
        </p:blipFill>
        <p:spPr>
          <a:xfrm>
            <a:off x="8791460" y="390327"/>
            <a:ext cx="2959466" cy="1085934"/>
          </a:xfrm>
          <a:prstGeom prst="rect">
            <a:avLst/>
          </a:prstGeom>
          <a:noFill/>
          <a:ln>
            <a:noFill/>
          </a:ln>
        </p:spPr>
      </p:pic>
      <p:sp>
        <p:nvSpPr>
          <p:cNvPr id="86" name="Google Shape;86;p1"/>
          <p:cNvSpPr txBox="1"/>
          <p:nvPr/>
        </p:nvSpPr>
        <p:spPr>
          <a:xfrm>
            <a:off x="3211913" y="2431725"/>
            <a:ext cx="5319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AR" sz="2800" u="none" cap="none" strike="noStrike">
                <a:solidFill>
                  <a:schemeClr val="dk1"/>
                </a:solidFill>
                <a:latin typeface="Saira"/>
                <a:ea typeface="Saira"/>
                <a:cs typeface="Saira"/>
                <a:sym typeface="Saira"/>
              </a:rPr>
              <a:t>Unidad 1</a:t>
            </a:r>
            <a:r>
              <a:rPr lang="es-AR" sz="2800">
                <a:solidFill>
                  <a:schemeClr val="dk1"/>
                </a:solidFill>
                <a:latin typeface="Saira"/>
                <a:ea typeface="Saira"/>
                <a:cs typeface="Saira"/>
                <a:sym typeface="Saira"/>
              </a:rPr>
              <a:t>5</a:t>
            </a:r>
            <a:r>
              <a:rPr b="0" i="0" lang="es-AR" sz="2800" u="none" cap="none" strike="noStrike">
                <a:solidFill>
                  <a:schemeClr val="dk1"/>
                </a:solidFill>
                <a:latin typeface="Saira"/>
                <a:ea typeface="Saira"/>
                <a:cs typeface="Saira"/>
                <a:sym typeface="Saira"/>
              </a:rPr>
              <a:t> - </a:t>
            </a:r>
            <a:r>
              <a:rPr lang="es-AR" sz="2800">
                <a:solidFill>
                  <a:schemeClr val="dk1"/>
                </a:solidFill>
                <a:latin typeface="Saira"/>
                <a:ea typeface="Saira"/>
                <a:cs typeface="Saira"/>
                <a:sym typeface="Saira"/>
              </a:rPr>
              <a:t>Ciclos y range.</a:t>
            </a:r>
            <a:endParaRPr b="0" i="0" sz="2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Saira"/>
              <a:ea typeface="Saira"/>
              <a:cs typeface="Saira"/>
              <a:sym typeface="Saira"/>
            </a:endParaRPr>
          </a:p>
        </p:txBody>
      </p:sp>
      <p:sp>
        <p:nvSpPr>
          <p:cNvPr id="87" name="Google Shape;87;p1"/>
          <p:cNvSpPr txBox="1"/>
          <p:nvPr/>
        </p:nvSpPr>
        <p:spPr>
          <a:xfrm>
            <a:off x="4439325"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Calibri"/>
              <a:ea typeface="Calibri"/>
              <a:cs typeface="Calibri"/>
              <a:sym typeface="Calibri"/>
            </a:endParaRPr>
          </a:p>
        </p:txBody>
      </p:sp>
      <p:pic>
        <p:nvPicPr>
          <p:cNvPr id="88" name="Google Shape;88;p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pic>
        <p:nvPicPr>
          <p:cNvPr id="89" name="Google Shape;89;p1"/>
          <p:cNvPicPr preferRelativeResize="0"/>
          <p:nvPr/>
        </p:nvPicPr>
        <p:blipFill>
          <a:blip r:embed="rId5">
            <a:alphaModFix/>
          </a:blip>
          <a:stretch>
            <a:fillRect/>
          </a:stretch>
        </p:blipFill>
        <p:spPr>
          <a:xfrm>
            <a:off x="3895925" y="3187800"/>
            <a:ext cx="3951871" cy="2606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1f2ce82f4ef_0_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Ciclo For </a:t>
            </a:r>
            <a:endParaRPr b="0" i="0" sz="5400" u="none" cap="none" strike="noStrike">
              <a:solidFill>
                <a:schemeClr val="dk1"/>
              </a:solidFill>
              <a:latin typeface="Saira"/>
              <a:ea typeface="Saira"/>
              <a:cs typeface="Saira"/>
              <a:sym typeface="Saira"/>
            </a:endParaRPr>
          </a:p>
        </p:txBody>
      </p:sp>
      <p:pic>
        <p:nvPicPr>
          <p:cNvPr id="95" name="Google Shape;95;g1f2ce82f4ef_0_5"/>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96" name="Google Shape;96;g1f2ce82f4ef_0_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97" name="Google Shape;97;g1f2ce82f4ef_0_5"/>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sp>
        <p:nvSpPr>
          <p:cNvPr id="98" name="Google Shape;98;g1f2ce82f4ef_0_5"/>
          <p:cNvSpPr txBox="1"/>
          <p:nvPr/>
        </p:nvSpPr>
        <p:spPr>
          <a:xfrm>
            <a:off x="319450" y="1747250"/>
            <a:ext cx="10560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1800">
                <a:solidFill>
                  <a:schemeClr val="dk1"/>
                </a:solidFill>
                <a:latin typeface="Saira"/>
                <a:ea typeface="Saira"/>
                <a:cs typeface="Saira"/>
                <a:sym typeface="Saira"/>
              </a:rPr>
              <a:t>El ciclo for en Python es una estructura de control que nos permite iterar sobre una secuencia (como una lista, una tupla, un diccionario</a:t>
            </a:r>
            <a:r>
              <a:rPr lang="es-AR" sz="1800">
                <a:solidFill>
                  <a:schemeClr val="dk1"/>
                </a:solidFill>
                <a:latin typeface="Saira"/>
                <a:ea typeface="Saira"/>
                <a:cs typeface="Saira"/>
                <a:sym typeface="Saira"/>
              </a:rPr>
              <a:t>, un conjunto</a:t>
            </a:r>
            <a:r>
              <a:rPr lang="es-AR" sz="1800">
                <a:solidFill>
                  <a:schemeClr val="dk1"/>
                </a:solidFill>
                <a:latin typeface="Saira"/>
                <a:ea typeface="Saira"/>
                <a:cs typeface="Saira"/>
                <a:sym typeface="Saira"/>
              </a:rPr>
              <a:t> o una cadena de caracteres)</a:t>
            </a:r>
            <a:endParaRPr sz="1800">
              <a:solidFill>
                <a:schemeClr val="dk1"/>
              </a:solidFill>
              <a:latin typeface="Saira"/>
              <a:ea typeface="Saira"/>
              <a:cs typeface="Saira"/>
              <a:sym typeface="Saira"/>
            </a:endParaRPr>
          </a:p>
        </p:txBody>
      </p:sp>
      <p:pic>
        <p:nvPicPr>
          <p:cNvPr id="99" name="Google Shape;99;g1f2ce82f4ef_0_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00" name="Google Shape;100;g1f2ce82f4ef_0_5"/>
          <p:cNvSpPr txBox="1"/>
          <p:nvPr/>
        </p:nvSpPr>
        <p:spPr>
          <a:xfrm>
            <a:off x="3046525" y="2904475"/>
            <a:ext cx="4943400" cy="8619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a:t>
            </a:r>
            <a:r>
              <a:rPr lang="es-AR" sz="2200">
                <a:solidFill>
                  <a:srgbClr val="0000FF"/>
                </a:solidFill>
                <a:latin typeface="Saira"/>
                <a:ea typeface="Saira"/>
                <a:cs typeface="Saira"/>
                <a:sym typeface="Saira"/>
              </a:rPr>
              <a:t>variable </a:t>
            </a:r>
            <a:r>
              <a:rPr lang="es-AR" sz="2200">
                <a:latin typeface="Saira"/>
                <a:ea typeface="Saira"/>
                <a:cs typeface="Saira"/>
                <a:sym typeface="Saira"/>
              </a:rPr>
              <a:t>in </a:t>
            </a:r>
            <a:r>
              <a:rPr lang="es-AR" sz="2200">
                <a:solidFill>
                  <a:srgbClr val="FF0000"/>
                </a:solidFill>
                <a:latin typeface="Saira"/>
                <a:ea typeface="Saira"/>
                <a:cs typeface="Saira"/>
                <a:sym typeface="Saira"/>
              </a:rPr>
              <a:t>secuencia</a:t>
            </a:r>
            <a:r>
              <a:rPr lang="es-AR" sz="2200">
                <a:latin typeface="Saira"/>
                <a:ea typeface="Saira"/>
                <a:cs typeface="Saira"/>
                <a:sym typeface="Saira"/>
              </a:rPr>
              <a:t>:</a:t>
            </a:r>
            <a:endParaRPr sz="2200">
              <a:latin typeface="Saira"/>
              <a:ea typeface="Saira"/>
              <a:cs typeface="Saira"/>
              <a:sym typeface="Saira"/>
            </a:endParaRPr>
          </a:p>
          <a:p>
            <a:pPr indent="45720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#cuerpo del ciclo</a:t>
            </a:r>
            <a:endParaRPr sz="2200">
              <a:latin typeface="Saira"/>
              <a:ea typeface="Saira"/>
              <a:cs typeface="Saira"/>
              <a:sym typeface="Sai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202c77a19e3_0_227"/>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106" name="Google Shape;106;g202c77a19e3_0_227"/>
          <p:cNvPicPr preferRelativeResize="0"/>
          <p:nvPr/>
        </p:nvPicPr>
        <p:blipFill rotWithShape="1">
          <a:blip r:embed="rId3">
            <a:alphaModFix/>
          </a:blip>
          <a:srcRect b="30671" l="23552" r="22735" t="29910"/>
          <a:stretch/>
        </p:blipFill>
        <p:spPr>
          <a:xfrm>
            <a:off x="8791460" y="390327"/>
            <a:ext cx="2959467" cy="1085934"/>
          </a:xfrm>
          <a:prstGeom prst="rect">
            <a:avLst/>
          </a:prstGeom>
          <a:noFill/>
          <a:ln>
            <a:noFill/>
          </a:ln>
        </p:spPr>
      </p:pic>
      <p:sp>
        <p:nvSpPr>
          <p:cNvPr id="107" name="Google Shape;107;g202c77a19e3_0_22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08" name="Google Shape;108;g202c77a19e3_0_227"/>
          <p:cNvSpPr txBox="1"/>
          <p:nvPr/>
        </p:nvSpPr>
        <p:spPr>
          <a:xfrm>
            <a:off x="438450" y="1989050"/>
            <a:ext cx="8812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Supongamos que tenemos una lista de números y queremos imprimir cada número</a:t>
            </a:r>
            <a:endParaRPr b="0" i="0" sz="2000" u="none" cap="none" strike="noStrike">
              <a:solidFill>
                <a:srgbClr val="000000"/>
              </a:solidFill>
              <a:latin typeface="Saira"/>
              <a:ea typeface="Saira"/>
              <a:cs typeface="Saira"/>
              <a:sym typeface="Saira"/>
            </a:endParaRPr>
          </a:p>
        </p:txBody>
      </p:sp>
      <p:pic>
        <p:nvPicPr>
          <p:cNvPr id="109" name="Google Shape;109;g202c77a19e3_0_22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10" name="Google Shape;110;g202c77a19e3_0_227"/>
          <p:cNvSpPr txBox="1"/>
          <p:nvPr/>
        </p:nvSpPr>
        <p:spPr>
          <a:xfrm>
            <a:off x="3631450" y="3106650"/>
            <a:ext cx="3960000" cy="1539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numeros = [1, 2, 3, 4, 5]</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numero in numeros:</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print(numero)</a:t>
            </a:r>
            <a:endParaRPr sz="2200">
              <a:latin typeface="Saira"/>
              <a:ea typeface="Saira"/>
              <a:cs typeface="Saira"/>
              <a:sym typeface="Sai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2ddb62af2b6_0_7"/>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116" name="Google Shape;116;g2ddb62af2b6_0_7"/>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17" name="Google Shape;117;g2ddb62af2b6_0_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18" name="Google Shape;118;g2ddb62af2b6_0_7"/>
          <p:cNvSpPr txBox="1"/>
          <p:nvPr/>
        </p:nvSpPr>
        <p:spPr>
          <a:xfrm>
            <a:off x="438450" y="1989050"/>
            <a:ext cx="8812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También podemos usar for para iterar sobre una cadena de caracteres</a:t>
            </a:r>
            <a:endParaRPr b="0" i="0" sz="2000" u="none" cap="none" strike="noStrike">
              <a:solidFill>
                <a:srgbClr val="000000"/>
              </a:solidFill>
              <a:latin typeface="Saira"/>
              <a:ea typeface="Saira"/>
              <a:cs typeface="Saira"/>
              <a:sym typeface="Saira"/>
            </a:endParaRPr>
          </a:p>
        </p:txBody>
      </p:sp>
      <p:pic>
        <p:nvPicPr>
          <p:cNvPr id="119" name="Google Shape;119;g2ddb62af2b6_0_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20" name="Google Shape;120;g2ddb62af2b6_0_7"/>
          <p:cNvSpPr txBox="1"/>
          <p:nvPr/>
        </p:nvSpPr>
        <p:spPr>
          <a:xfrm>
            <a:off x="3631450" y="2859150"/>
            <a:ext cx="3960000" cy="1539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cadena = "Python"</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caracter in cadena:</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print(caracter)</a:t>
            </a:r>
            <a:endParaRPr sz="2200">
              <a:latin typeface="Saira"/>
              <a:ea typeface="Saira"/>
              <a:cs typeface="Saira"/>
              <a:sym typeface="Saira"/>
            </a:endParaRPr>
          </a:p>
        </p:txBody>
      </p:sp>
      <p:sp>
        <p:nvSpPr>
          <p:cNvPr id="121" name="Google Shape;121;g2ddb62af2b6_0_7"/>
          <p:cNvSpPr txBox="1"/>
          <p:nvPr/>
        </p:nvSpPr>
        <p:spPr>
          <a:xfrm>
            <a:off x="500325" y="4700325"/>
            <a:ext cx="10719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800">
                <a:solidFill>
                  <a:srgbClr val="FF0000"/>
                </a:solidFill>
                <a:highlight>
                  <a:schemeClr val="lt1"/>
                </a:highlight>
                <a:latin typeface="Saira"/>
                <a:ea typeface="Saira"/>
                <a:cs typeface="Saira"/>
                <a:sym typeface="Saira"/>
              </a:rPr>
              <a:t>El ciclo for en Python utilizarse con cualquier objeto iterable.</a:t>
            </a:r>
            <a:endParaRPr>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2ddb62af2b6_0_19"/>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127" name="Google Shape;127;g2ddb62af2b6_0_19"/>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28" name="Google Shape;128;g2ddb62af2b6_0_19"/>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29" name="Google Shape;129;g2ddb62af2b6_0_19"/>
          <p:cNvSpPr txBox="1"/>
          <p:nvPr/>
        </p:nvSpPr>
        <p:spPr>
          <a:xfrm>
            <a:off x="438450" y="1989050"/>
            <a:ext cx="1055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Imaginemos que queremos calcular la suma de todos los números en una lista. Usaremos un acumulador para almacenar la suma a medida que iteramos sobre la lista.</a:t>
            </a:r>
            <a:endParaRPr b="0" i="0" sz="2000" u="none" cap="none" strike="noStrike">
              <a:solidFill>
                <a:srgbClr val="000000"/>
              </a:solidFill>
              <a:latin typeface="Saira"/>
              <a:ea typeface="Saira"/>
              <a:cs typeface="Saira"/>
              <a:sym typeface="Saira"/>
            </a:endParaRPr>
          </a:p>
        </p:txBody>
      </p:sp>
      <p:pic>
        <p:nvPicPr>
          <p:cNvPr id="130" name="Google Shape;130;g2ddb62af2b6_0_19"/>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31" name="Google Shape;131;g2ddb62af2b6_0_19"/>
          <p:cNvSpPr txBox="1"/>
          <p:nvPr/>
        </p:nvSpPr>
        <p:spPr>
          <a:xfrm>
            <a:off x="1567525" y="2987875"/>
            <a:ext cx="7930500" cy="28938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numeros = [1, 2, 3, 4, 5]</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suma = 0  # Inicializamos el acumulador en 0</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numero in numeros:</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suma += numero  # Añadimos cada número al acumulador</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print("La suma de los números es:", suma)</a:t>
            </a:r>
            <a:endParaRPr sz="2200">
              <a:latin typeface="Saira"/>
              <a:ea typeface="Saira"/>
              <a:cs typeface="Saira"/>
              <a:sym typeface="Sai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2ddb62af2b6_0_29"/>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137" name="Google Shape;137;g2ddb62af2b6_0_29"/>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38" name="Google Shape;138;g2ddb62af2b6_0_29"/>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39" name="Google Shape;139;g2ddb62af2b6_0_29"/>
          <p:cNvSpPr txBox="1"/>
          <p:nvPr/>
        </p:nvSpPr>
        <p:spPr>
          <a:xfrm>
            <a:off x="438450" y="1989050"/>
            <a:ext cx="1055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Podemos usar un acumulador para contar cuántos elementos en una lista cumplen con una condición específica.</a:t>
            </a:r>
            <a:endParaRPr b="0" i="0" sz="2000" u="none" cap="none" strike="noStrike">
              <a:solidFill>
                <a:srgbClr val="000000"/>
              </a:solidFill>
              <a:latin typeface="Saira"/>
              <a:ea typeface="Saira"/>
              <a:cs typeface="Saira"/>
              <a:sym typeface="Saira"/>
            </a:endParaRPr>
          </a:p>
        </p:txBody>
      </p:sp>
      <p:pic>
        <p:nvPicPr>
          <p:cNvPr id="140" name="Google Shape;140;g2ddb62af2b6_0_29"/>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41" name="Google Shape;141;g2ddb62af2b6_0_29"/>
          <p:cNvSpPr txBox="1"/>
          <p:nvPr/>
        </p:nvSpPr>
        <p:spPr>
          <a:xfrm>
            <a:off x="1567525" y="2987875"/>
            <a:ext cx="7930500" cy="32325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numeros = [1, 2, 3, 4, 5]</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contador = 0  # Inicializamos el contador en 0</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numero in numeros:</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if numero &gt; 3:</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contador += 1  # Incrementamos el contador cuando la condición se cumple</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print("Hay", contador, "números mayores que 3.")</a:t>
            </a:r>
            <a:endParaRPr sz="2200">
              <a:latin typeface="Saira"/>
              <a:ea typeface="Saira"/>
              <a:cs typeface="Saira"/>
              <a:sym typeface="Sai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2ddb62af2b6_0_38"/>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147" name="Google Shape;147;g2ddb62af2b6_0_38"/>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48" name="Google Shape;148;g2ddb62af2b6_0_38"/>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49" name="Google Shape;149;g2ddb62af2b6_0_38"/>
          <p:cNvSpPr txBox="1"/>
          <p:nvPr/>
        </p:nvSpPr>
        <p:spPr>
          <a:xfrm>
            <a:off x="438450" y="1989050"/>
            <a:ext cx="1055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Supongamos que queremos concatenar todas las palabras en una lista en una sola cadena, separadas por espacios.</a:t>
            </a:r>
            <a:endParaRPr b="0" i="0" sz="2000" u="none" cap="none" strike="noStrike">
              <a:solidFill>
                <a:srgbClr val="000000"/>
              </a:solidFill>
              <a:latin typeface="Saira"/>
              <a:ea typeface="Saira"/>
              <a:cs typeface="Saira"/>
              <a:sym typeface="Saira"/>
            </a:endParaRPr>
          </a:p>
        </p:txBody>
      </p:sp>
      <p:pic>
        <p:nvPicPr>
          <p:cNvPr id="150" name="Google Shape;150;g2ddb62af2b6_0_38"/>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51" name="Google Shape;151;g2ddb62af2b6_0_38"/>
          <p:cNvSpPr txBox="1"/>
          <p:nvPr/>
        </p:nvSpPr>
        <p:spPr>
          <a:xfrm>
            <a:off x="814700" y="2987875"/>
            <a:ext cx="9994200" cy="28938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palabras = ["Hola", "mundo", "desde", "Python"]</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cadena_concatenada = ""  # Inicializamos la cadena vacía</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palabra in palabras:</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cadena_concatenada += palabra + " "  # Añadimos cada palabra seguida de un espacio</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print("La cadena concatenada es:", cadena_concatenada)</a:t>
            </a:r>
            <a:endParaRPr sz="2200">
              <a:latin typeface="Saira"/>
              <a:ea typeface="Saira"/>
              <a:cs typeface="Saira"/>
              <a:sym typeface="Sai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2ddb62af2b6_0_47"/>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157" name="Google Shape;157;g2ddb62af2b6_0_47"/>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58" name="Google Shape;158;g2ddb62af2b6_0_4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59" name="Google Shape;159;g2ddb62af2b6_0_47"/>
          <p:cNvSpPr txBox="1"/>
          <p:nvPr/>
        </p:nvSpPr>
        <p:spPr>
          <a:xfrm>
            <a:off x="438450" y="1989050"/>
            <a:ext cx="1055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Otro ejemplo de acumulador es calcular el producto de todos los números en una lista.</a:t>
            </a:r>
            <a:endParaRPr b="0" i="0" sz="2000" u="none" cap="none" strike="noStrike">
              <a:solidFill>
                <a:srgbClr val="000000"/>
              </a:solidFill>
              <a:latin typeface="Saira"/>
              <a:ea typeface="Saira"/>
              <a:cs typeface="Saira"/>
              <a:sym typeface="Saira"/>
            </a:endParaRPr>
          </a:p>
        </p:txBody>
      </p:sp>
      <p:pic>
        <p:nvPicPr>
          <p:cNvPr id="160" name="Google Shape;160;g2ddb62af2b6_0_4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61" name="Google Shape;161;g2ddb62af2b6_0_47"/>
          <p:cNvSpPr txBox="1"/>
          <p:nvPr/>
        </p:nvSpPr>
        <p:spPr>
          <a:xfrm>
            <a:off x="814700" y="2987875"/>
            <a:ext cx="9994200" cy="25551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numeros = [1, 2, 3, 4, 5]</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producto = 1  # Inicializamos el acumulador en 1</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numero in numeros:</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producto *= numero  # Multiplicamos cada número al acumulador</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print("El producto de los números es:", producto)</a:t>
            </a:r>
            <a:endParaRPr sz="2200">
              <a:latin typeface="Saira"/>
              <a:ea typeface="Saira"/>
              <a:cs typeface="Saira"/>
              <a:sym typeface="Sai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2ddb62af2b6_0_6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167" name="Google Shape;167;g2ddb62af2b6_0_61"/>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68" name="Google Shape;168;g2ddb62af2b6_0_6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69" name="Google Shape;169;g2ddb62af2b6_0_61"/>
          <p:cNvSpPr txBox="1"/>
          <p:nvPr/>
        </p:nvSpPr>
        <p:spPr>
          <a:xfrm>
            <a:off x="438450" y="1989050"/>
            <a:ext cx="1055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Imaginemos que queremos encontrar el número más grande en una lista de números. Usaremos una variable testigo para almacenar el mayor número encontrado hasta el momento.</a:t>
            </a:r>
            <a:endParaRPr b="0" i="0" sz="2000" u="none" cap="none" strike="noStrike">
              <a:solidFill>
                <a:srgbClr val="000000"/>
              </a:solidFill>
              <a:latin typeface="Saira"/>
              <a:ea typeface="Saira"/>
              <a:cs typeface="Saira"/>
              <a:sym typeface="Saira"/>
            </a:endParaRPr>
          </a:p>
        </p:txBody>
      </p:sp>
      <p:pic>
        <p:nvPicPr>
          <p:cNvPr id="170" name="Google Shape;170;g2ddb62af2b6_0_6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71" name="Google Shape;171;g2ddb62af2b6_0_61"/>
          <p:cNvSpPr txBox="1"/>
          <p:nvPr/>
        </p:nvSpPr>
        <p:spPr>
          <a:xfrm>
            <a:off x="814700" y="2987875"/>
            <a:ext cx="9994200" cy="24012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1800">
                <a:latin typeface="Saira"/>
                <a:ea typeface="Saira"/>
                <a:cs typeface="Saira"/>
                <a:sym typeface="Saira"/>
              </a:rPr>
              <a:t>numeros = [3, 7, 2, 8, 4, 10, 1]</a:t>
            </a:r>
            <a:endParaRPr sz="18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800">
                <a:latin typeface="Saira"/>
                <a:ea typeface="Saira"/>
                <a:cs typeface="Saira"/>
                <a:sym typeface="Saira"/>
              </a:rPr>
              <a:t>maximo = numeros[0]  # Inicializamos la variable testigo con el primer elemento de la lista</a:t>
            </a:r>
            <a:endParaRPr sz="18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18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800">
                <a:latin typeface="Saira"/>
                <a:ea typeface="Saira"/>
                <a:cs typeface="Saira"/>
                <a:sym typeface="Saira"/>
              </a:rPr>
              <a:t>for numero in numeros:</a:t>
            </a:r>
            <a:endParaRPr sz="18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800">
                <a:latin typeface="Saira"/>
                <a:ea typeface="Saira"/>
                <a:cs typeface="Saira"/>
                <a:sym typeface="Saira"/>
              </a:rPr>
              <a:t>    if numero &gt; maximo:</a:t>
            </a:r>
            <a:endParaRPr sz="18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800">
                <a:latin typeface="Saira"/>
                <a:ea typeface="Saira"/>
                <a:cs typeface="Saira"/>
                <a:sym typeface="Saira"/>
              </a:rPr>
              <a:t>        maximo = numero  # Actualizamos la variable testigo si encontramos un número mayor</a:t>
            </a:r>
            <a:endParaRPr sz="18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18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800">
                <a:latin typeface="Saira"/>
                <a:ea typeface="Saira"/>
                <a:cs typeface="Saira"/>
                <a:sym typeface="Saira"/>
              </a:rPr>
              <a:t>print("El número más grande es:", maximo)</a:t>
            </a:r>
            <a:endParaRPr sz="1800">
              <a:latin typeface="Saira"/>
              <a:ea typeface="Saira"/>
              <a:cs typeface="Saira"/>
              <a:sym typeface="Sai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ddb62af2b6_0_7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177" name="Google Shape;177;g2ddb62af2b6_0_71"/>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78" name="Google Shape;178;g2ddb62af2b6_0_7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79" name="Google Shape;179;g2ddb62af2b6_0_71"/>
          <p:cNvSpPr txBox="1"/>
          <p:nvPr/>
        </p:nvSpPr>
        <p:spPr>
          <a:xfrm>
            <a:off x="438450" y="1989050"/>
            <a:ext cx="1055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Supongamos que queremos verificar si hay algún número par en una lista de números. Usaremos una bandera para indicar si encontramos un número par.</a:t>
            </a:r>
            <a:endParaRPr b="0" i="0" sz="2000" u="none" cap="none" strike="noStrike">
              <a:solidFill>
                <a:srgbClr val="000000"/>
              </a:solidFill>
              <a:latin typeface="Saira"/>
              <a:ea typeface="Saira"/>
              <a:cs typeface="Saira"/>
              <a:sym typeface="Saira"/>
            </a:endParaRPr>
          </a:p>
        </p:txBody>
      </p:sp>
      <p:pic>
        <p:nvPicPr>
          <p:cNvPr id="180" name="Google Shape;180;g2ddb62af2b6_0_7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81" name="Google Shape;181;g2ddb62af2b6_0_71"/>
          <p:cNvSpPr txBox="1"/>
          <p:nvPr/>
        </p:nvSpPr>
        <p:spPr>
          <a:xfrm>
            <a:off x="1843500" y="2987875"/>
            <a:ext cx="7744800" cy="33864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numeros = [3, 7, 2, 8, 4, 10, 1]</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hay_par = False  # Inicializamos la bandera en False</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for numero in numeros:</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    if numero % 2 == 0:</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        hay_par = True  # Cambiamos la bandera a True si encontramos un número par</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        break  # Podemos salir del ciclo una vez que encontremos un número par</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if hay_par:</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    print("Hay al menos un número par en la lista.")</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else:</a:t>
            </a:r>
            <a:endParaRPr sz="1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600">
                <a:latin typeface="Saira"/>
                <a:ea typeface="Saira"/>
                <a:cs typeface="Saira"/>
                <a:sym typeface="Saira"/>
              </a:rPr>
              <a:t>    print("No hay números pares en la lista.")</a:t>
            </a:r>
            <a:endParaRPr sz="1900">
              <a:latin typeface="Saira"/>
              <a:ea typeface="Saira"/>
              <a:cs typeface="Saira"/>
              <a:sym typeface="Sair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2ddb62af2b6_0_8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187" name="Google Shape;187;g2ddb62af2b6_0_81"/>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188" name="Google Shape;188;g2ddb62af2b6_0_8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89" name="Google Shape;189;g2ddb62af2b6_0_81"/>
          <p:cNvSpPr txBox="1"/>
          <p:nvPr/>
        </p:nvSpPr>
        <p:spPr>
          <a:xfrm>
            <a:off x="438450" y="1989050"/>
            <a:ext cx="1055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Imaginemos que tenemos una matriz (lista de listas) y queremos sumar todos los elementos de la matriz.</a:t>
            </a:r>
            <a:endParaRPr b="0" i="0" sz="2000" u="none" cap="none" strike="noStrike">
              <a:solidFill>
                <a:srgbClr val="000000"/>
              </a:solidFill>
              <a:latin typeface="Saira"/>
              <a:ea typeface="Saira"/>
              <a:cs typeface="Saira"/>
              <a:sym typeface="Saira"/>
            </a:endParaRPr>
          </a:p>
        </p:txBody>
      </p:sp>
      <p:pic>
        <p:nvPicPr>
          <p:cNvPr id="190" name="Google Shape;190;g2ddb62af2b6_0_8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91" name="Google Shape;191;g2ddb62af2b6_0_81"/>
          <p:cNvSpPr txBox="1"/>
          <p:nvPr/>
        </p:nvSpPr>
        <p:spPr>
          <a:xfrm>
            <a:off x="1739050" y="2915700"/>
            <a:ext cx="7744800" cy="33246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matriz = [</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    [1, 2, 3],</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    [4, 5, 6],</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    [7, 8, 9]</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suma_total = 0  # Inicializamos el acumulador en 0</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for fila in matriz:  # Primer ciclo recorre cada fila de la matriz</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    for elemento in fila:  # Segundo ciclo recorre cada elemento en la fila</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        suma_total += elemento  # Sumamos el elemento al acumulador</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17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1700">
                <a:latin typeface="Saira"/>
                <a:ea typeface="Saira"/>
                <a:cs typeface="Saira"/>
                <a:sym typeface="Saira"/>
              </a:rPr>
              <a:t>print("La suma de todos los elementos en la matriz es:", suma_total)</a:t>
            </a:r>
            <a:endParaRPr sz="1700">
              <a:latin typeface="Saira"/>
              <a:ea typeface="Saira"/>
              <a:cs typeface="Saira"/>
              <a:sym typeface="Sai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ddb62af2b6_0_90"/>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Ciclo while</a:t>
            </a:r>
            <a:endParaRPr b="0" i="0" sz="5400" u="none" cap="none" strike="noStrike">
              <a:solidFill>
                <a:schemeClr val="dk1"/>
              </a:solidFill>
              <a:latin typeface="Saira"/>
              <a:ea typeface="Saira"/>
              <a:cs typeface="Saira"/>
              <a:sym typeface="Saira"/>
            </a:endParaRPr>
          </a:p>
        </p:txBody>
      </p:sp>
      <p:pic>
        <p:nvPicPr>
          <p:cNvPr id="197" name="Google Shape;197;g2ddb62af2b6_0_90"/>
          <p:cNvPicPr preferRelativeResize="0"/>
          <p:nvPr/>
        </p:nvPicPr>
        <p:blipFill rotWithShape="1">
          <a:blip r:embed="rId3">
            <a:alphaModFix/>
          </a:blip>
          <a:srcRect b="30671" l="23552" r="22736" t="29910"/>
          <a:stretch/>
        </p:blipFill>
        <p:spPr>
          <a:xfrm>
            <a:off x="8791460" y="390327"/>
            <a:ext cx="2959467" cy="1085934"/>
          </a:xfrm>
          <a:prstGeom prst="rect">
            <a:avLst/>
          </a:prstGeom>
          <a:noFill/>
          <a:ln>
            <a:noFill/>
          </a:ln>
        </p:spPr>
      </p:pic>
      <p:sp>
        <p:nvSpPr>
          <p:cNvPr id="198" name="Google Shape;198;g2ddb62af2b6_0_90"/>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99" name="Google Shape;199;g2ddb62af2b6_0_90"/>
          <p:cNvSpPr txBox="1"/>
          <p:nvPr/>
        </p:nvSpPr>
        <p:spPr>
          <a:xfrm>
            <a:off x="490000" y="2411875"/>
            <a:ext cx="881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Saira"/>
              <a:ea typeface="Saira"/>
              <a:cs typeface="Saira"/>
              <a:sym typeface="Saira"/>
            </a:endParaRPr>
          </a:p>
        </p:txBody>
      </p:sp>
      <p:sp>
        <p:nvSpPr>
          <p:cNvPr id="200" name="Google Shape;200;g2ddb62af2b6_0_90"/>
          <p:cNvSpPr txBox="1"/>
          <p:nvPr/>
        </p:nvSpPr>
        <p:spPr>
          <a:xfrm>
            <a:off x="319450" y="1747250"/>
            <a:ext cx="10560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1800">
                <a:solidFill>
                  <a:schemeClr val="dk1"/>
                </a:solidFill>
                <a:latin typeface="Saira"/>
                <a:ea typeface="Saira"/>
                <a:cs typeface="Saira"/>
                <a:sym typeface="Saira"/>
              </a:rPr>
              <a:t>Los ciclos while en Python son una estructura de control que permite ejecutar un bloque de código repetidamente mientras una condición específica sea verdadera.</a:t>
            </a:r>
            <a:endParaRPr sz="1800">
              <a:solidFill>
                <a:schemeClr val="dk1"/>
              </a:solidFill>
              <a:latin typeface="Saira"/>
              <a:ea typeface="Saira"/>
              <a:cs typeface="Saira"/>
              <a:sym typeface="Saira"/>
            </a:endParaRPr>
          </a:p>
        </p:txBody>
      </p:sp>
      <p:pic>
        <p:nvPicPr>
          <p:cNvPr id="201" name="Google Shape;201;g2ddb62af2b6_0_90"/>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02" name="Google Shape;202;g2ddb62af2b6_0_90"/>
          <p:cNvSpPr txBox="1"/>
          <p:nvPr/>
        </p:nvSpPr>
        <p:spPr>
          <a:xfrm>
            <a:off x="3046525" y="2904475"/>
            <a:ext cx="4059000" cy="8619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while</a:t>
            </a:r>
            <a:r>
              <a:rPr lang="es-AR" sz="2200">
                <a:latin typeface="Saira"/>
                <a:ea typeface="Saira"/>
                <a:cs typeface="Saira"/>
                <a:sym typeface="Saira"/>
              </a:rPr>
              <a:t> </a:t>
            </a:r>
            <a:r>
              <a:rPr lang="es-AR" sz="2200">
                <a:solidFill>
                  <a:srgbClr val="0000FF"/>
                </a:solidFill>
                <a:latin typeface="Saira"/>
                <a:ea typeface="Saira"/>
                <a:cs typeface="Saira"/>
                <a:sym typeface="Saira"/>
              </a:rPr>
              <a:t>condición</a:t>
            </a:r>
            <a:r>
              <a:rPr lang="es-AR" sz="2200">
                <a:latin typeface="Saira"/>
                <a:ea typeface="Saira"/>
                <a:cs typeface="Saira"/>
                <a:sym typeface="Saira"/>
              </a:rPr>
              <a:t>:</a:t>
            </a:r>
            <a:endParaRPr sz="2200">
              <a:latin typeface="Saira"/>
              <a:ea typeface="Saira"/>
              <a:cs typeface="Saira"/>
              <a:sym typeface="Saira"/>
            </a:endParaRPr>
          </a:p>
          <a:p>
            <a:pPr indent="45720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#cuerpo del ciclo</a:t>
            </a:r>
            <a:endParaRPr sz="2200">
              <a:latin typeface="Saira"/>
              <a:ea typeface="Saira"/>
              <a:cs typeface="Saira"/>
              <a:sym typeface="Sai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2ddb62af2b6_0_103"/>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208" name="Google Shape;208;g2ddb62af2b6_0_103"/>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209" name="Google Shape;209;g2ddb62af2b6_0_10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10" name="Google Shape;210;g2ddb62af2b6_0_103"/>
          <p:cNvSpPr txBox="1"/>
          <p:nvPr/>
        </p:nvSpPr>
        <p:spPr>
          <a:xfrm>
            <a:off x="500325" y="1814513"/>
            <a:ext cx="105549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En este ejemplo, el ciclo while seguirá ejecutándose mientras contador sea menor que 5. En cada iteración, se imprime el valor de contador y luego se incrementa en 1. Cuando contador llega a 5, la condición contador &lt; 5 se vuelve falsa y el ciclo termina.</a:t>
            </a:r>
            <a:endParaRPr b="0" i="0" sz="2000" u="none" cap="none" strike="noStrike">
              <a:solidFill>
                <a:srgbClr val="000000"/>
              </a:solidFill>
              <a:latin typeface="Saira"/>
              <a:ea typeface="Saira"/>
              <a:cs typeface="Saira"/>
              <a:sym typeface="Saira"/>
            </a:endParaRPr>
          </a:p>
        </p:txBody>
      </p:sp>
      <p:pic>
        <p:nvPicPr>
          <p:cNvPr id="211" name="Google Shape;211;g2ddb62af2b6_0_10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12" name="Google Shape;212;g2ddb62af2b6_0_103"/>
          <p:cNvSpPr txBox="1"/>
          <p:nvPr/>
        </p:nvSpPr>
        <p:spPr>
          <a:xfrm>
            <a:off x="3443500" y="3056263"/>
            <a:ext cx="4335900" cy="19548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contador = 0</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while contador &lt; 5:</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print("Contador:", contador)</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contador += 1</a:t>
            </a:r>
            <a:endParaRPr sz="2300">
              <a:latin typeface="Saira"/>
              <a:ea typeface="Saira"/>
              <a:cs typeface="Saira"/>
              <a:sym typeface="Sai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2ddb62af2b6_0_112"/>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Ejemplos</a:t>
            </a:r>
            <a:endParaRPr b="0" i="0" sz="5400" u="none" cap="none" strike="noStrike">
              <a:solidFill>
                <a:schemeClr val="dk1"/>
              </a:solidFill>
              <a:latin typeface="Saira"/>
              <a:ea typeface="Saira"/>
              <a:cs typeface="Saira"/>
              <a:sym typeface="Saira"/>
            </a:endParaRPr>
          </a:p>
        </p:txBody>
      </p:sp>
      <p:pic>
        <p:nvPicPr>
          <p:cNvPr id="218" name="Google Shape;218;g2ddb62af2b6_0_112"/>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219" name="Google Shape;219;g2ddb62af2b6_0_112"/>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20" name="Google Shape;220;g2ddb62af2b6_0_112"/>
          <p:cNvSpPr txBox="1"/>
          <p:nvPr/>
        </p:nvSpPr>
        <p:spPr>
          <a:xfrm>
            <a:off x="500325" y="1814513"/>
            <a:ext cx="105549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En este caso, el ciclo while continuará hasta que el usuario escriba "salir". La función input solicita al usuario que ingrese un texto, y el ciclo se repite hasta que la entrada del usuario, convertida a minúsculas, sea igual a "salir".</a:t>
            </a:r>
            <a:endParaRPr b="0" i="0" sz="2000" u="none" cap="none" strike="noStrike">
              <a:solidFill>
                <a:srgbClr val="000000"/>
              </a:solidFill>
              <a:latin typeface="Saira"/>
              <a:ea typeface="Saira"/>
              <a:cs typeface="Saira"/>
              <a:sym typeface="Saira"/>
            </a:endParaRPr>
          </a:p>
        </p:txBody>
      </p:sp>
      <p:pic>
        <p:nvPicPr>
          <p:cNvPr id="221" name="Google Shape;221;g2ddb62af2b6_0_112"/>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22" name="Google Shape;222;g2ddb62af2b6_0_112"/>
          <p:cNvSpPr txBox="1"/>
          <p:nvPr/>
        </p:nvSpPr>
        <p:spPr>
          <a:xfrm>
            <a:off x="656200" y="3004725"/>
            <a:ext cx="9910500" cy="23088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Ejemplo de un ciclo while con una condición de salida específica</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respuesta = ""</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while respuesta.lower() != "salir":</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respuesta = input("Escribe 'salir' para terminar el programa: ")</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print("Ingresaste:", respuesta)</a:t>
            </a:r>
            <a:endParaRPr sz="2300">
              <a:latin typeface="Saira"/>
              <a:ea typeface="Saira"/>
              <a:cs typeface="Saira"/>
              <a:sym typeface="Sai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2ddb62af2b6_0_12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Casos especiales</a:t>
            </a:r>
            <a:endParaRPr b="0" i="0" sz="5400" u="none" cap="none" strike="noStrike">
              <a:solidFill>
                <a:schemeClr val="dk1"/>
              </a:solidFill>
              <a:latin typeface="Saira"/>
              <a:ea typeface="Saira"/>
              <a:cs typeface="Saira"/>
              <a:sym typeface="Saira"/>
            </a:endParaRPr>
          </a:p>
        </p:txBody>
      </p:sp>
      <p:pic>
        <p:nvPicPr>
          <p:cNvPr id="228" name="Google Shape;228;g2ddb62af2b6_0_121"/>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229" name="Google Shape;229;g2ddb62af2b6_0_12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30" name="Google Shape;230;g2ddb62af2b6_0_121"/>
          <p:cNvSpPr txBox="1"/>
          <p:nvPr/>
        </p:nvSpPr>
        <p:spPr>
          <a:xfrm>
            <a:off x="500325" y="1814513"/>
            <a:ext cx="1055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Break termina el ciclo inmediatamente, independientemente de la condición.</a:t>
            </a:r>
            <a:endParaRPr b="0" i="0" sz="2000" u="none" cap="none" strike="noStrike">
              <a:solidFill>
                <a:srgbClr val="000000"/>
              </a:solidFill>
              <a:latin typeface="Saira"/>
              <a:ea typeface="Saira"/>
              <a:cs typeface="Saira"/>
              <a:sym typeface="Saira"/>
            </a:endParaRPr>
          </a:p>
        </p:txBody>
      </p:sp>
      <p:pic>
        <p:nvPicPr>
          <p:cNvPr id="231" name="Google Shape;231;g2ddb62af2b6_0_12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32" name="Google Shape;232;g2ddb62af2b6_0_121"/>
          <p:cNvSpPr txBox="1"/>
          <p:nvPr/>
        </p:nvSpPr>
        <p:spPr>
          <a:xfrm>
            <a:off x="656200" y="2614500"/>
            <a:ext cx="9910500" cy="26628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contador = 0</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while True:</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print("Contador:", contador)</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contador += 1</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if contador &gt;= 5:</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break  # Sale del ciclo cuando contador es mayor o igual a 5</a:t>
            </a:r>
            <a:endParaRPr sz="2300">
              <a:latin typeface="Saira"/>
              <a:ea typeface="Saira"/>
              <a:cs typeface="Saira"/>
              <a:sym typeface="Sai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2ddb62af2b6_0_130"/>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Casos especiales</a:t>
            </a:r>
            <a:endParaRPr b="0" i="0" sz="5400" u="none" cap="none" strike="noStrike">
              <a:solidFill>
                <a:schemeClr val="dk1"/>
              </a:solidFill>
              <a:latin typeface="Saira"/>
              <a:ea typeface="Saira"/>
              <a:cs typeface="Saira"/>
              <a:sym typeface="Saira"/>
            </a:endParaRPr>
          </a:p>
        </p:txBody>
      </p:sp>
      <p:pic>
        <p:nvPicPr>
          <p:cNvPr id="238" name="Google Shape;238;g2ddb62af2b6_0_130"/>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239" name="Google Shape;239;g2ddb62af2b6_0_130"/>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40" name="Google Shape;240;g2ddb62af2b6_0_130"/>
          <p:cNvSpPr txBox="1"/>
          <p:nvPr/>
        </p:nvSpPr>
        <p:spPr>
          <a:xfrm>
            <a:off x="500325" y="1814513"/>
            <a:ext cx="1055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Continue salta el resto del bloque de código en la iteración actual y pasa a la siguiente iteración del ciclo.</a:t>
            </a:r>
            <a:endParaRPr b="0" i="0" sz="2000" u="none" cap="none" strike="noStrike">
              <a:solidFill>
                <a:srgbClr val="000000"/>
              </a:solidFill>
              <a:latin typeface="Saira"/>
              <a:ea typeface="Saira"/>
              <a:cs typeface="Saira"/>
              <a:sym typeface="Saira"/>
            </a:endParaRPr>
          </a:p>
        </p:txBody>
      </p:sp>
      <p:pic>
        <p:nvPicPr>
          <p:cNvPr id="241" name="Google Shape;241;g2ddb62af2b6_0_130"/>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42" name="Google Shape;242;g2ddb62af2b6_0_130"/>
          <p:cNvSpPr txBox="1"/>
          <p:nvPr/>
        </p:nvSpPr>
        <p:spPr>
          <a:xfrm>
            <a:off x="656200" y="2614500"/>
            <a:ext cx="9910500" cy="26628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contador = 0</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while contador &lt; 5:</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contador += 1</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if contador == 3:</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continue  # Salta el resto del bloque cuando contador es 3</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print("Contador:", contador)</a:t>
            </a:r>
            <a:endParaRPr sz="2300">
              <a:latin typeface="Saira"/>
              <a:ea typeface="Saira"/>
              <a:cs typeface="Saira"/>
              <a:sym typeface="Sai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2ddb62af2b6_0_139"/>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Casos especiales</a:t>
            </a:r>
            <a:endParaRPr b="0" i="0" sz="5400" u="none" cap="none" strike="noStrike">
              <a:solidFill>
                <a:schemeClr val="dk1"/>
              </a:solidFill>
              <a:latin typeface="Saira"/>
              <a:ea typeface="Saira"/>
              <a:cs typeface="Saira"/>
              <a:sym typeface="Saira"/>
            </a:endParaRPr>
          </a:p>
        </p:txBody>
      </p:sp>
      <p:pic>
        <p:nvPicPr>
          <p:cNvPr id="248" name="Google Shape;248;g2ddb62af2b6_0_139"/>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249" name="Google Shape;249;g2ddb62af2b6_0_139"/>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50" name="Google Shape;250;g2ddb62af2b6_0_139"/>
          <p:cNvSpPr txBox="1"/>
          <p:nvPr/>
        </p:nvSpPr>
        <p:spPr>
          <a:xfrm>
            <a:off x="500325" y="1814513"/>
            <a:ext cx="10554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Python permite usar una cláusula else con un ciclo while. El bloque else se ejecuta cuando la condición del while se vuelve falsa, pero no si el ciclo se interrumpe con un break.</a:t>
            </a:r>
            <a:endParaRPr b="0" i="0" sz="2000" u="none" cap="none" strike="noStrike">
              <a:solidFill>
                <a:srgbClr val="000000"/>
              </a:solidFill>
              <a:latin typeface="Saira"/>
              <a:ea typeface="Saira"/>
              <a:cs typeface="Saira"/>
              <a:sym typeface="Saira"/>
            </a:endParaRPr>
          </a:p>
        </p:txBody>
      </p:sp>
      <p:pic>
        <p:nvPicPr>
          <p:cNvPr id="251" name="Google Shape;251;g2ddb62af2b6_0_139"/>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52" name="Google Shape;252;g2ddb62af2b6_0_139"/>
          <p:cNvSpPr txBox="1"/>
          <p:nvPr/>
        </p:nvSpPr>
        <p:spPr>
          <a:xfrm>
            <a:off x="656200" y="2614500"/>
            <a:ext cx="9910500" cy="2662800"/>
          </a:xfrm>
          <a:prstGeom prst="rect">
            <a:avLst/>
          </a:prstGeom>
          <a:solidFill>
            <a:srgbClr val="B6D7A8"/>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contador = 0</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while contador &lt; 5:</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print("Contador:", contador)</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contador += 1</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else:</a:t>
            </a:r>
            <a:endParaRPr sz="23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300">
                <a:latin typeface="Saira"/>
                <a:ea typeface="Saira"/>
                <a:cs typeface="Saira"/>
                <a:sym typeface="Saira"/>
              </a:rPr>
              <a:t>    print("El ciclo ha terminado")</a:t>
            </a:r>
            <a:endParaRPr sz="2300">
              <a:latin typeface="Saira"/>
              <a:ea typeface="Saira"/>
              <a:cs typeface="Saira"/>
              <a:sym typeface="Sair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202c77a19e3_0_6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Range </a:t>
            </a:r>
            <a:endParaRPr b="0" i="0" sz="5400" u="none" cap="none" strike="noStrike">
              <a:solidFill>
                <a:schemeClr val="dk1"/>
              </a:solidFill>
              <a:latin typeface="Saira"/>
              <a:ea typeface="Saira"/>
              <a:cs typeface="Saira"/>
              <a:sym typeface="Saira"/>
            </a:endParaRPr>
          </a:p>
        </p:txBody>
      </p:sp>
      <p:pic>
        <p:nvPicPr>
          <p:cNvPr id="258" name="Google Shape;258;g202c77a19e3_0_61"/>
          <p:cNvPicPr preferRelativeResize="0"/>
          <p:nvPr/>
        </p:nvPicPr>
        <p:blipFill rotWithShape="1">
          <a:blip r:embed="rId3">
            <a:alphaModFix/>
          </a:blip>
          <a:srcRect b="30671" l="23552" r="22735" t="29910"/>
          <a:stretch/>
        </p:blipFill>
        <p:spPr>
          <a:xfrm>
            <a:off x="8791460" y="390327"/>
            <a:ext cx="2959467" cy="1085934"/>
          </a:xfrm>
          <a:prstGeom prst="rect">
            <a:avLst/>
          </a:prstGeom>
          <a:noFill/>
          <a:ln>
            <a:noFill/>
          </a:ln>
        </p:spPr>
      </p:pic>
      <p:sp>
        <p:nvSpPr>
          <p:cNvPr id="259" name="Google Shape;259;g202c77a19e3_0_6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60" name="Google Shape;260;g202c77a19e3_0_61"/>
          <p:cNvSpPr txBox="1"/>
          <p:nvPr/>
        </p:nvSpPr>
        <p:spPr>
          <a:xfrm>
            <a:off x="490000" y="2411875"/>
            <a:ext cx="8812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La función range en Python se utiliza para generar una secuencia de números. Es comúnmente utilizada en ciclos for para iterar un número específico de veces.</a:t>
            </a:r>
            <a:endParaRPr b="0" i="0" sz="1800" u="none" cap="none" strike="noStrike">
              <a:solidFill>
                <a:srgbClr val="0D0D0D"/>
              </a:solidFill>
              <a:highlight>
                <a:srgbClr val="FFFFFF"/>
              </a:highlight>
              <a:latin typeface="Saira"/>
              <a:ea typeface="Saira"/>
              <a:cs typeface="Saira"/>
              <a:sym typeface="Saira"/>
            </a:endParaRPr>
          </a:p>
        </p:txBody>
      </p:sp>
      <p:sp>
        <p:nvSpPr>
          <p:cNvPr id="261" name="Google Shape;261;g202c77a19e3_0_61"/>
          <p:cNvSpPr txBox="1"/>
          <p:nvPr/>
        </p:nvSpPr>
        <p:spPr>
          <a:xfrm>
            <a:off x="319450" y="1747250"/>
            <a:ext cx="30000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AR" sz="3000" u="none" cap="none" strike="noStrike">
                <a:solidFill>
                  <a:schemeClr val="dk1"/>
                </a:solidFill>
                <a:latin typeface="Saira"/>
                <a:ea typeface="Saira"/>
                <a:cs typeface="Saira"/>
                <a:sym typeface="Saira"/>
              </a:rPr>
              <a:t>¿ Qué </a:t>
            </a:r>
            <a:r>
              <a:rPr lang="es-AR" sz="3000">
                <a:solidFill>
                  <a:schemeClr val="dk1"/>
                </a:solidFill>
                <a:latin typeface="Saira"/>
                <a:ea typeface="Saira"/>
                <a:cs typeface="Saira"/>
                <a:sym typeface="Saira"/>
              </a:rPr>
              <a:t>es</a:t>
            </a:r>
            <a:r>
              <a:rPr b="0" i="0" lang="es-AR" sz="3000" u="none" cap="none" strike="noStrike">
                <a:solidFill>
                  <a:schemeClr val="dk1"/>
                </a:solidFill>
                <a:latin typeface="Saira"/>
                <a:ea typeface="Saira"/>
                <a:cs typeface="Saira"/>
                <a:sym typeface="Saira"/>
              </a:rPr>
              <a:t> ?</a:t>
            </a:r>
            <a:endParaRPr b="0" i="0" sz="3000" u="none" cap="none" strike="noStrike">
              <a:solidFill>
                <a:schemeClr val="dk1"/>
              </a:solidFill>
              <a:latin typeface="Saira"/>
              <a:ea typeface="Saira"/>
              <a:cs typeface="Saira"/>
              <a:sym typeface="Saira"/>
            </a:endParaRPr>
          </a:p>
        </p:txBody>
      </p:sp>
      <p:pic>
        <p:nvPicPr>
          <p:cNvPr id="262" name="Google Shape;262;g202c77a19e3_0_6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63" name="Google Shape;263;g202c77a19e3_0_61"/>
          <p:cNvSpPr txBox="1"/>
          <p:nvPr/>
        </p:nvSpPr>
        <p:spPr>
          <a:xfrm>
            <a:off x="3428950" y="3432375"/>
            <a:ext cx="43650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range(</a:t>
            </a:r>
            <a:r>
              <a:rPr lang="es-AR" sz="3000">
                <a:solidFill>
                  <a:srgbClr val="FF0000"/>
                </a:solidFill>
                <a:latin typeface="Saira"/>
                <a:ea typeface="Saira"/>
                <a:cs typeface="Saira"/>
                <a:sym typeface="Saira"/>
              </a:rPr>
              <a:t>inicio</a:t>
            </a:r>
            <a:r>
              <a:rPr lang="es-AR" sz="3000">
                <a:solidFill>
                  <a:schemeClr val="dk1"/>
                </a:solidFill>
                <a:latin typeface="Saira"/>
                <a:ea typeface="Saira"/>
                <a:cs typeface="Saira"/>
                <a:sym typeface="Saira"/>
              </a:rPr>
              <a:t>, </a:t>
            </a:r>
            <a:r>
              <a:rPr lang="es-AR" sz="3000">
                <a:solidFill>
                  <a:srgbClr val="0000FF"/>
                </a:solidFill>
                <a:latin typeface="Saira"/>
                <a:ea typeface="Saira"/>
                <a:cs typeface="Saira"/>
                <a:sym typeface="Saira"/>
              </a:rPr>
              <a:t>fin</a:t>
            </a:r>
            <a:r>
              <a:rPr lang="es-AR" sz="3000">
                <a:solidFill>
                  <a:schemeClr val="dk1"/>
                </a:solidFill>
                <a:latin typeface="Saira"/>
                <a:ea typeface="Saira"/>
                <a:cs typeface="Saira"/>
                <a:sym typeface="Saira"/>
              </a:rPr>
              <a:t>, </a:t>
            </a:r>
            <a:r>
              <a:rPr lang="es-AR" sz="3000">
                <a:solidFill>
                  <a:srgbClr val="38761D"/>
                </a:solidFill>
                <a:latin typeface="Saira"/>
                <a:ea typeface="Saira"/>
                <a:cs typeface="Saira"/>
                <a:sym typeface="Saira"/>
              </a:rPr>
              <a:t>paso</a:t>
            </a:r>
            <a:r>
              <a:rPr lang="es-AR" sz="3000">
                <a:solidFill>
                  <a:schemeClr val="dk1"/>
                </a:solidFill>
                <a:latin typeface="Saira"/>
                <a:ea typeface="Saira"/>
                <a:cs typeface="Saira"/>
                <a:sym typeface="Saira"/>
              </a:rPr>
              <a:t>)</a:t>
            </a:r>
            <a:endParaRPr sz="3000">
              <a:solidFill>
                <a:schemeClr val="dk1"/>
              </a:solidFill>
              <a:latin typeface="Saira"/>
              <a:ea typeface="Saira"/>
              <a:cs typeface="Saira"/>
              <a:sym typeface="Saira"/>
            </a:endParaRPr>
          </a:p>
        </p:txBody>
      </p:sp>
      <p:sp>
        <p:nvSpPr>
          <p:cNvPr id="264" name="Google Shape;264;g202c77a19e3_0_61"/>
          <p:cNvSpPr txBox="1"/>
          <p:nvPr/>
        </p:nvSpPr>
        <p:spPr>
          <a:xfrm>
            <a:off x="3014200" y="5652300"/>
            <a:ext cx="5194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CC0000"/>
                </a:solidFill>
                <a:highlight>
                  <a:srgbClr val="FFFFFF"/>
                </a:highlight>
                <a:latin typeface="Saira"/>
                <a:ea typeface="Saira"/>
                <a:cs typeface="Saira"/>
                <a:sym typeface="Saira"/>
              </a:rPr>
              <a:t>Range solo admite pasos de </a:t>
            </a:r>
            <a:r>
              <a:rPr lang="es-AR" sz="1800">
                <a:solidFill>
                  <a:srgbClr val="CC0000"/>
                </a:solidFill>
                <a:highlight>
                  <a:srgbClr val="FFFFFF"/>
                </a:highlight>
                <a:latin typeface="Saira"/>
                <a:ea typeface="Saira"/>
                <a:cs typeface="Saira"/>
                <a:sym typeface="Saira"/>
              </a:rPr>
              <a:t>números</a:t>
            </a:r>
            <a:r>
              <a:rPr lang="es-AR" sz="1800">
                <a:solidFill>
                  <a:srgbClr val="CC0000"/>
                </a:solidFill>
                <a:highlight>
                  <a:srgbClr val="FFFFFF"/>
                </a:highlight>
                <a:latin typeface="Saira"/>
                <a:ea typeface="Saira"/>
                <a:cs typeface="Saira"/>
                <a:sym typeface="Saira"/>
              </a:rPr>
              <a:t> enteros!</a:t>
            </a:r>
            <a:endParaRPr b="0" i="0" sz="1800" u="none" cap="none" strike="noStrike">
              <a:solidFill>
                <a:srgbClr val="CC0000"/>
              </a:solidFill>
              <a:highlight>
                <a:srgbClr val="FFFFFF"/>
              </a:highlight>
              <a:latin typeface="Saira"/>
              <a:ea typeface="Saira"/>
              <a:cs typeface="Saira"/>
              <a:sym typeface="Saira"/>
            </a:endParaRPr>
          </a:p>
        </p:txBody>
      </p:sp>
      <p:sp>
        <p:nvSpPr>
          <p:cNvPr id="265" name="Google Shape;265;g202c77a19e3_0_61"/>
          <p:cNvSpPr txBox="1"/>
          <p:nvPr/>
        </p:nvSpPr>
        <p:spPr>
          <a:xfrm>
            <a:off x="1274850" y="4290638"/>
            <a:ext cx="9642300" cy="11499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2100"/>
              </a:spcBef>
              <a:spcAft>
                <a:spcPts val="0"/>
              </a:spcAft>
              <a:buClr>
                <a:srgbClr val="0D0D0D"/>
              </a:buClr>
              <a:buSzPts val="1900"/>
              <a:buFont typeface="Roboto"/>
              <a:buChar char="●"/>
            </a:pPr>
            <a:r>
              <a:rPr lang="es-AR" sz="1900">
                <a:solidFill>
                  <a:srgbClr val="FF0000"/>
                </a:solidFill>
                <a:latin typeface="Saira"/>
                <a:ea typeface="Saira"/>
                <a:cs typeface="Saira"/>
                <a:sym typeface="Saira"/>
              </a:rPr>
              <a:t>inicio </a:t>
            </a:r>
            <a:r>
              <a:rPr lang="es-AR" sz="1900">
                <a:solidFill>
                  <a:srgbClr val="0D0D0D"/>
                </a:solidFill>
                <a:highlight>
                  <a:srgbClr val="FFFFFF"/>
                </a:highlight>
                <a:latin typeface="Saira"/>
                <a:ea typeface="Saira"/>
                <a:cs typeface="Saira"/>
                <a:sym typeface="Saira"/>
              </a:rPr>
              <a:t>es el número inicial de la secuencia (inclusive).</a:t>
            </a:r>
            <a:endParaRPr sz="1900">
              <a:solidFill>
                <a:srgbClr val="0D0D0D"/>
              </a:solidFill>
              <a:highlight>
                <a:srgbClr val="FFFFFF"/>
              </a:highlight>
              <a:latin typeface="Saira"/>
              <a:ea typeface="Saira"/>
              <a:cs typeface="Saira"/>
              <a:sym typeface="Saira"/>
            </a:endParaRPr>
          </a:p>
          <a:p>
            <a:pPr indent="-349250" lvl="0" marL="457200" rtl="0" algn="l">
              <a:lnSpc>
                <a:spcPct val="115000"/>
              </a:lnSpc>
              <a:spcBef>
                <a:spcPts val="0"/>
              </a:spcBef>
              <a:spcAft>
                <a:spcPts val="0"/>
              </a:spcAft>
              <a:buClr>
                <a:srgbClr val="0D0D0D"/>
              </a:buClr>
              <a:buSzPts val="1900"/>
              <a:buFont typeface="Roboto"/>
              <a:buChar char="●"/>
            </a:pPr>
            <a:r>
              <a:rPr lang="es-AR" sz="1900">
                <a:solidFill>
                  <a:srgbClr val="0000FF"/>
                </a:solidFill>
                <a:latin typeface="Saira"/>
                <a:ea typeface="Saira"/>
                <a:cs typeface="Saira"/>
                <a:sym typeface="Saira"/>
              </a:rPr>
              <a:t>fin </a:t>
            </a:r>
            <a:r>
              <a:rPr lang="es-AR" sz="1900">
                <a:solidFill>
                  <a:srgbClr val="0D0D0D"/>
                </a:solidFill>
                <a:highlight>
                  <a:srgbClr val="FFFFFF"/>
                </a:highlight>
                <a:latin typeface="Saira"/>
                <a:ea typeface="Saira"/>
                <a:cs typeface="Saira"/>
                <a:sym typeface="Saira"/>
              </a:rPr>
              <a:t>es el número en el que la secuencia se detiene (exclusivo).</a:t>
            </a:r>
            <a:endParaRPr sz="1900">
              <a:solidFill>
                <a:srgbClr val="0D0D0D"/>
              </a:solidFill>
              <a:highlight>
                <a:srgbClr val="FFFFFF"/>
              </a:highlight>
              <a:latin typeface="Saira"/>
              <a:ea typeface="Saira"/>
              <a:cs typeface="Saira"/>
              <a:sym typeface="Saira"/>
            </a:endParaRPr>
          </a:p>
          <a:p>
            <a:pPr indent="-349250" lvl="0" marL="457200" rtl="0" algn="l">
              <a:lnSpc>
                <a:spcPct val="115000"/>
              </a:lnSpc>
              <a:spcBef>
                <a:spcPts val="0"/>
              </a:spcBef>
              <a:spcAft>
                <a:spcPts val="0"/>
              </a:spcAft>
              <a:buClr>
                <a:srgbClr val="0D0D0D"/>
              </a:buClr>
              <a:buSzPts val="1900"/>
              <a:buFont typeface="Roboto"/>
              <a:buChar char="●"/>
            </a:pPr>
            <a:r>
              <a:rPr lang="es-AR" sz="1900">
                <a:solidFill>
                  <a:srgbClr val="38761D"/>
                </a:solidFill>
                <a:latin typeface="Saira"/>
                <a:ea typeface="Saira"/>
                <a:cs typeface="Saira"/>
                <a:sym typeface="Saira"/>
              </a:rPr>
              <a:t>paso </a:t>
            </a:r>
            <a:r>
              <a:rPr lang="es-AR" sz="1900">
                <a:solidFill>
                  <a:srgbClr val="0D0D0D"/>
                </a:solidFill>
                <a:highlight>
                  <a:srgbClr val="FFFFFF"/>
                </a:highlight>
                <a:latin typeface="Saira"/>
                <a:ea typeface="Saira"/>
                <a:cs typeface="Saira"/>
                <a:sym typeface="Saira"/>
              </a:rPr>
              <a:t>es la diferencia entre cada par de números consecutivos en la secuencia.</a:t>
            </a:r>
            <a:endParaRPr sz="1900">
              <a:solidFill>
                <a:srgbClr val="0D0D0D"/>
              </a:solidFill>
              <a:highlight>
                <a:srgbClr val="FFFFFF"/>
              </a:highlight>
              <a:latin typeface="Saira"/>
              <a:ea typeface="Saira"/>
              <a:cs typeface="Saira"/>
              <a:sym typeface="Sai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202c77a19e3_0_73"/>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Range </a:t>
            </a:r>
            <a:endParaRPr b="0" i="0" sz="5400" u="none" cap="none" strike="noStrike">
              <a:solidFill>
                <a:schemeClr val="dk1"/>
              </a:solidFill>
              <a:latin typeface="Saira"/>
              <a:ea typeface="Saira"/>
              <a:cs typeface="Saira"/>
              <a:sym typeface="Saira"/>
            </a:endParaRPr>
          </a:p>
        </p:txBody>
      </p:sp>
      <p:pic>
        <p:nvPicPr>
          <p:cNvPr id="271" name="Google Shape;271;g202c77a19e3_0_73"/>
          <p:cNvPicPr preferRelativeResize="0"/>
          <p:nvPr/>
        </p:nvPicPr>
        <p:blipFill rotWithShape="1">
          <a:blip r:embed="rId3">
            <a:alphaModFix/>
          </a:blip>
          <a:srcRect b="30671" l="23552" r="22735" t="29910"/>
          <a:stretch/>
        </p:blipFill>
        <p:spPr>
          <a:xfrm>
            <a:off x="8791460" y="390327"/>
            <a:ext cx="2959467" cy="1085934"/>
          </a:xfrm>
          <a:prstGeom prst="rect">
            <a:avLst/>
          </a:prstGeom>
          <a:noFill/>
          <a:ln>
            <a:noFill/>
          </a:ln>
        </p:spPr>
      </p:pic>
      <p:sp>
        <p:nvSpPr>
          <p:cNvPr id="272" name="Google Shape;272;g202c77a19e3_0_7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73" name="Google Shape;273;g202c77a19e3_0_73"/>
          <p:cNvSpPr txBox="1"/>
          <p:nvPr/>
        </p:nvSpPr>
        <p:spPr>
          <a:xfrm>
            <a:off x="319450" y="1916850"/>
            <a:ext cx="8812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Cuando se pasa un solo argumento, range genera números desde 0 hasta fin- 1.</a:t>
            </a:r>
            <a:endParaRPr b="0" i="0" sz="1800" u="none" cap="none" strike="noStrike">
              <a:solidFill>
                <a:srgbClr val="0D0D0D"/>
              </a:solidFill>
              <a:highlight>
                <a:srgbClr val="FFFFFF"/>
              </a:highlight>
              <a:latin typeface="Saira"/>
              <a:ea typeface="Saira"/>
              <a:cs typeface="Saira"/>
              <a:sym typeface="Saira"/>
            </a:endParaRPr>
          </a:p>
        </p:txBody>
      </p:sp>
      <p:pic>
        <p:nvPicPr>
          <p:cNvPr id="274" name="Google Shape;274;g202c77a19e3_0_7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75" name="Google Shape;275;g202c77a19e3_0_73"/>
          <p:cNvSpPr txBox="1"/>
          <p:nvPr/>
        </p:nvSpPr>
        <p:spPr>
          <a:xfrm>
            <a:off x="1795750" y="2566275"/>
            <a:ext cx="7631400" cy="1200600"/>
          </a:xfrm>
          <a:prstGeom prst="rect">
            <a:avLst/>
          </a:prstGeom>
          <a:solidFill>
            <a:srgbClr val="F4CCC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i in range(5):</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print(i)</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#en este caso, la secuencia generada es [0, 1, 2, 3, 4].</a:t>
            </a:r>
            <a:endParaRPr sz="2200">
              <a:latin typeface="Saira"/>
              <a:ea typeface="Saira"/>
              <a:cs typeface="Saira"/>
              <a:sym typeface="Saira"/>
            </a:endParaRPr>
          </a:p>
        </p:txBody>
      </p:sp>
      <p:sp>
        <p:nvSpPr>
          <p:cNvPr id="276" name="Google Shape;276;g202c77a19e3_0_73"/>
          <p:cNvSpPr txBox="1"/>
          <p:nvPr/>
        </p:nvSpPr>
        <p:spPr>
          <a:xfrm>
            <a:off x="3249750" y="4942713"/>
            <a:ext cx="5692500" cy="861900"/>
          </a:xfrm>
          <a:prstGeom prst="rect">
            <a:avLst/>
          </a:prstGeom>
          <a:solidFill>
            <a:srgbClr val="F4CCC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for i in range(2, 5):</a:t>
            </a:r>
            <a:endParaRPr sz="22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200">
                <a:latin typeface="Saira"/>
                <a:ea typeface="Saira"/>
                <a:cs typeface="Saira"/>
                <a:sym typeface="Saira"/>
              </a:rPr>
              <a:t>    print(i)</a:t>
            </a:r>
            <a:endParaRPr sz="2200">
              <a:latin typeface="Saira"/>
              <a:ea typeface="Saira"/>
              <a:cs typeface="Saira"/>
              <a:sym typeface="Saira"/>
            </a:endParaRPr>
          </a:p>
        </p:txBody>
      </p:sp>
      <p:sp>
        <p:nvSpPr>
          <p:cNvPr id="277" name="Google Shape;277;g202c77a19e3_0_73"/>
          <p:cNvSpPr txBox="1"/>
          <p:nvPr/>
        </p:nvSpPr>
        <p:spPr>
          <a:xfrm>
            <a:off x="319450" y="4175350"/>
            <a:ext cx="9250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Cuando se pasan dos argumentos, range genera números desde inicio hasta fin- 1.</a:t>
            </a:r>
            <a:endParaRPr b="0" i="0" sz="1800" u="none" cap="none" strike="noStrike">
              <a:solidFill>
                <a:srgbClr val="0D0D0D"/>
              </a:solidFill>
              <a:highlight>
                <a:srgbClr val="FFFFFF"/>
              </a:highlight>
              <a:latin typeface="Saira"/>
              <a:ea typeface="Saira"/>
              <a:cs typeface="Saira"/>
              <a:sym typeface="Sai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2ddb62af2b6_0_15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Range </a:t>
            </a:r>
            <a:endParaRPr b="0" i="0" sz="5400" u="none" cap="none" strike="noStrike">
              <a:solidFill>
                <a:schemeClr val="dk1"/>
              </a:solidFill>
              <a:latin typeface="Saira"/>
              <a:ea typeface="Saira"/>
              <a:cs typeface="Saira"/>
              <a:sym typeface="Saira"/>
            </a:endParaRPr>
          </a:p>
        </p:txBody>
      </p:sp>
      <p:pic>
        <p:nvPicPr>
          <p:cNvPr id="283" name="Google Shape;283;g2ddb62af2b6_0_155"/>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284" name="Google Shape;284;g2ddb62af2b6_0_15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85" name="Google Shape;285;g2ddb62af2b6_0_155"/>
          <p:cNvSpPr txBox="1"/>
          <p:nvPr/>
        </p:nvSpPr>
        <p:spPr>
          <a:xfrm>
            <a:off x="319450" y="1916850"/>
            <a:ext cx="10199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Cuando se pasan tres argumentos, range genera números desde inicio hasta fin- 1, incrementando por paso.</a:t>
            </a:r>
            <a:endParaRPr b="0" i="0" sz="1800" u="none" cap="none" strike="noStrike">
              <a:solidFill>
                <a:srgbClr val="0D0D0D"/>
              </a:solidFill>
              <a:highlight>
                <a:srgbClr val="FFFFFF"/>
              </a:highlight>
              <a:latin typeface="Saira"/>
              <a:ea typeface="Saira"/>
              <a:cs typeface="Saira"/>
              <a:sym typeface="Saira"/>
            </a:endParaRPr>
          </a:p>
        </p:txBody>
      </p:sp>
      <p:pic>
        <p:nvPicPr>
          <p:cNvPr id="286" name="Google Shape;286;g2ddb62af2b6_0_15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87" name="Google Shape;287;g2ddb62af2b6_0_155"/>
          <p:cNvSpPr txBox="1"/>
          <p:nvPr/>
        </p:nvSpPr>
        <p:spPr>
          <a:xfrm>
            <a:off x="4097700" y="2936400"/>
            <a:ext cx="3996600" cy="985200"/>
          </a:xfrm>
          <a:prstGeom prst="rect">
            <a:avLst/>
          </a:prstGeom>
          <a:solidFill>
            <a:srgbClr val="F4CCC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for i in range(1, 10, 2):</a:t>
            </a:r>
            <a:endParaRPr sz="2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    print(i)</a:t>
            </a:r>
            <a:endParaRPr sz="2600">
              <a:latin typeface="Saira"/>
              <a:ea typeface="Saira"/>
              <a:cs typeface="Saira"/>
              <a:sym typeface="Saira"/>
            </a:endParaRPr>
          </a:p>
        </p:txBody>
      </p:sp>
      <p:sp>
        <p:nvSpPr>
          <p:cNvPr id="288" name="Google Shape;288;g2ddb62af2b6_0_155"/>
          <p:cNvSpPr txBox="1"/>
          <p:nvPr/>
        </p:nvSpPr>
        <p:spPr>
          <a:xfrm>
            <a:off x="2335600" y="4266125"/>
            <a:ext cx="6167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En este caso, la secuencia generada es [1, 3, 5, 7, 9].</a:t>
            </a:r>
            <a:endParaRPr b="0" i="0" sz="1800" u="none" cap="none" strike="noStrike">
              <a:solidFill>
                <a:srgbClr val="0D0D0D"/>
              </a:solidFill>
              <a:highlight>
                <a:srgbClr val="FFFFFF"/>
              </a:highlight>
              <a:latin typeface="Saira"/>
              <a:ea typeface="Saira"/>
              <a:cs typeface="Saira"/>
              <a:sym typeface="Sair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2ddb62af2b6_0_166"/>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Range </a:t>
            </a:r>
            <a:endParaRPr b="0" i="0" sz="5400" u="none" cap="none" strike="noStrike">
              <a:solidFill>
                <a:schemeClr val="dk1"/>
              </a:solidFill>
              <a:latin typeface="Saira"/>
              <a:ea typeface="Saira"/>
              <a:cs typeface="Saira"/>
              <a:sym typeface="Saira"/>
            </a:endParaRPr>
          </a:p>
        </p:txBody>
      </p:sp>
      <p:pic>
        <p:nvPicPr>
          <p:cNvPr id="294" name="Google Shape;294;g2ddb62af2b6_0_166"/>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295" name="Google Shape;295;g2ddb62af2b6_0_166"/>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96" name="Google Shape;296;g2ddb62af2b6_0_166"/>
          <p:cNvSpPr txBox="1"/>
          <p:nvPr/>
        </p:nvSpPr>
        <p:spPr>
          <a:xfrm>
            <a:off x="319450" y="1916850"/>
            <a:ext cx="1019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También puede trabajar con valores negativos para inicio, fin y paso.</a:t>
            </a:r>
            <a:endParaRPr b="0" i="0" sz="1800" u="none" cap="none" strike="noStrike">
              <a:solidFill>
                <a:srgbClr val="0D0D0D"/>
              </a:solidFill>
              <a:highlight>
                <a:srgbClr val="FFFFFF"/>
              </a:highlight>
              <a:latin typeface="Saira"/>
              <a:ea typeface="Saira"/>
              <a:cs typeface="Saira"/>
              <a:sym typeface="Saira"/>
            </a:endParaRPr>
          </a:p>
        </p:txBody>
      </p:sp>
      <p:pic>
        <p:nvPicPr>
          <p:cNvPr id="297" name="Google Shape;297;g2ddb62af2b6_0_166"/>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98" name="Google Shape;298;g2ddb62af2b6_0_166"/>
          <p:cNvSpPr txBox="1"/>
          <p:nvPr/>
        </p:nvSpPr>
        <p:spPr>
          <a:xfrm>
            <a:off x="4097700" y="2936400"/>
            <a:ext cx="3996600" cy="985200"/>
          </a:xfrm>
          <a:prstGeom prst="rect">
            <a:avLst/>
          </a:prstGeom>
          <a:solidFill>
            <a:srgbClr val="F4CCC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for i in range(10, 0, -2):</a:t>
            </a:r>
            <a:endParaRPr sz="2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    print(i)</a:t>
            </a:r>
            <a:endParaRPr sz="2600">
              <a:latin typeface="Saira"/>
              <a:ea typeface="Saira"/>
              <a:cs typeface="Saira"/>
              <a:sym typeface="Saira"/>
            </a:endParaRPr>
          </a:p>
        </p:txBody>
      </p:sp>
      <p:sp>
        <p:nvSpPr>
          <p:cNvPr id="299" name="Google Shape;299;g2ddb62af2b6_0_166"/>
          <p:cNvSpPr txBox="1"/>
          <p:nvPr/>
        </p:nvSpPr>
        <p:spPr>
          <a:xfrm>
            <a:off x="2335600" y="4266125"/>
            <a:ext cx="6167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En este caso, la secuencia generada es [10, 8, 6, 4, 2].</a:t>
            </a:r>
            <a:endParaRPr b="0" i="0" sz="1800" u="none" cap="none" strike="noStrike">
              <a:solidFill>
                <a:srgbClr val="0D0D0D"/>
              </a:solidFill>
              <a:highlight>
                <a:srgbClr val="FFFFFF"/>
              </a:highlight>
              <a:latin typeface="Saira"/>
              <a:ea typeface="Saira"/>
              <a:cs typeface="Saira"/>
              <a:sym typeface="Sair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ddb62af2b6_0_176"/>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Range </a:t>
            </a:r>
            <a:endParaRPr b="0" i="0" sz="5400" u="none" cap="none" strike="noStrike">
              <a:solidFill>
                <a:schemeClr val="dk1"/>
              </a:solidFill>
              <a:latin typeface="Saira"/>
              <a:ea typeface="Saira"/>
              <a:cs typeface="Saira"/>
              <a:sym typeface="Saira"/>
            </a:endParaRPr>
          </a:p>
        </p:txBody>
      </p:sp>
      <p:pic>
        <p:nvPicPr>
          <p:cNvPr id="305" name="Google Shape;305;g2ddb62af2b6_0_176"/>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306" name="Google Shape;306;g2ddb62af2b6_0_176"/>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307" name="Google Shape;307;g2ddb62af2b6_0_176"/>
          <p:cNvSpPr txBox="1"/>
          <p:nvPr/>
        </p:nvSpPr>
        <p:spPr>
          <a:xfrm>
            <a:off x="319450" y="1916850"/>
            <a:ext cx="10199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Pueden convertir un objeto range en una lista usando la función list.</a:t>
            </a:r>
            <a:endParaRPr b="0" i="0" sz="1800" u="none" cap="none" strike="noStrike">
              <a:solidFill>
                <a:srgbClr val="0D0D0D"/>
              </a:solidFill>
              <a:highlight>
                <a:srgbClr val="FFFFFF"/>
              </a:highlight>
              <a:latin typeface="Saira"/>
              <a:ea typeface="Saira"/>
              <a:cs typeface="Saira"/>
              <a:sym typeface="Saira"/>
            </a:endParaRPr>
          </a:p>
        </p:txBody>
      </p:sp>
      <p:pic>
        <p:nvPicPr>
          <p:cNvPr id="308" name="Google Shape;308;g2ddb62af2b6_0_176"/>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09" name="Google Shape;309;g2ddb62af2b6_0_176"/>
          <p:cNvSpPr txBox="1"/>
          <p:nvPr/>
        </p:nvSpPr>
        <p:spPr>
          <a:xfrm>
            <a:off x="3087750" y="2927225"/>
            <a:ext cx="6016500" cy="1385400"/>
          </a:xfrm>
          <a:prstGeom prst="rect">
            <a:avLst/>
          </a:prstGeom>
          <a:solidFill>
            <a:srgbClr val="F4CCC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lista = list(range(5))</a:t>
            </a:r>
            <a:endParaRPr sz="2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print(lista)#obtenemos [0, 1, 2, 3, 4]</a:t>
            </a:r>
            <a:endParaRPr sz="2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 </a:t>
            </a:r>
            <a:endParaRPr sz="2600">
              <a:latin typeface="Saira"/>
              <a:ea typeface="Saira"/>
              <a:cs typeface="Saira"/>
              <a:sym typeface="Saira"/>
            </a:endParaRPr>
          </a:p>
        </p:txBody>
      </p:sp>
      <p:sp>
        <p:nvSpPr>
          <p:cNvPr id="310" name="Google Shape;310;g2ddb62af2b6_0_176"/>
          <p:cNvSpPr txBox="1"/>
          <p:nvPr/>
        </p:nvSpPr>
        <p:spPr>
          <a:xfrm>
            <a:off x="4682500" y="3739200"/>
            <a:ext cx="1473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D0D0D"/>
              </a:solidFill>
              <a:highlight>
                <a:srgbClr val="FFFFFF"/>
              </a:highlight>
              <a:latin typeface="Saira"/>
              <a:ea typeface="Saira"/>
              <a:cs typeface="Saira"/>
              <a:sym typeface="Sair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2ddb62af2b6_0_186"/>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Range </a:t>
            </a:r>
            <a:endParaRPr b="0" i="0" sz="5400" u="none" cap="none" strike="noStrike">
              <a:solidFill>
                <a:schemeClr val="dk1"/>
              </a:solidFill>
              <a:latin typeface="Saira"/>
              <a:ea typeface="Saira"/>
              <a:cs typeface="Saira"/>
              <a:sym typeface="Saira"/>
            </a:endParaRPr>
          </a:p>
        </p:txBody>
      </p:sp>
      <p:pic>
        <p:nvPicPr>
          <p:cNvPr id="316" name="Google Shape;316;g2ddb62af2b6_0_186"/>
          <p:cNvPicPr preferRelativeResize="0"/>
          <p:nvPr/>
        </p:nvPicPr>
        <p:blipFill rotWithShape="1">
          <a:blip r:embed="rId3">
            <a:alphaModFix/>
          </a:blip>
          <a:srcRect b="30668" l="23552" r="22736" t="29911"/>
          <a:stretch/>
        </p:blipFill>
        <p:spPr>
          <a:xfrm>
            <a:off x="8791460" y="390327"/>
            <a:ext cx="2959467" cy="1085934"/>
          </a:xfrm>
          <a:prstGeom prst="rect">
            <a:avLst/>
          </a:prstGeom>
          <a:noFill/>
          <a:ln>
            <a:noFill/>
          </a:ln>
        </p:spPr>
      </p:pic>
      <p:sp>
        <p:nvSpPr>
          <p:cNvPr id="317" name="Google Shape;317;g2ddb62af2b6_0_186"/>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318" name="Google Shape;318;g2ddb62af2b6_0_186"/>
          <p:cNvSpPr txBox="1"/>
          <p:nvPr/>
        </p:nvSpPr>
        <p:spPr>
          <a:xfrm>
            <a:off x="319450" y="1916850"/>
            <a:ext cx="3754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Iterar sobre índices de una lista</a:t>
            </a:r>
            <a:endParaRPr b="0" i="0" sz="1800" u="none" cap="none" strike="noStrike">
              <a:solidFill>
                <a:srgbClr val="0D0D0D"/>
              </a:solidFill>
              <a:highlight>
                <a:srgbClr val="FFFFFF"/>
              </a:highlight>
              <a:latin typeface="Saira"/>
              <a:ea typeface="Saira"/>
              <a:cs typeface="Saira"/>
              <a:sym typeface="Saira"/>
            </a:endParaRPr>
          </a:p>
        </p:txBody>
      </p:sp>
      <p:pic>
        <p:nvPicPr>
          <p:cNvPr id="319" name="Google Shape;319;g2ddb62af2b6_0_186"/>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20" name="Google Shape;320;g2ddb62af2b6_0_186"/>
          <p:cNvSpPr txBox="1"/>
          <p:nvPr/>
        </p:nvSpPr>
        <p:spPr>
          <a:xfrm>
            <a:off x="1967950" y="2947850"/>
            <a:ext cx="7287000" cy="1785600"/>
          </a:xfrm>
          <a:prstGeom prst="rect">
            <a:avLst/>
          </a:prstGeom>
          <a:solidFill>
            <a:srgbClr val="F4CCC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mi_lista = ['a', 'b', 'c', 'd']</a:t>
            </a:r>
            <a:endParaRPr sz="2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t/>
            </a:r>
            <a:endParaRPr sz="2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for i in range(len(mi_lista)):</a:t>
            </a:r>
            <a:endParaRPr sz="2600">
              <a:latin typeface="Saira"/>
              <a:ea typeface="Saira"/>
              <a:cs typeface="Saira"/>
              <a:sym typeface="Saira"/>
            </a:endParaRPr>
          </a:p>
          <a:p>
            <a:pPr indent="0" lvl="0" marL="0" marR="0" rtl="0" algn="l">
              <a:lnSpc>
                <a:spcPct val="100000"/>
              </a:lnSpc>
              <a:spcBef>
                <a:spcPts val="0"/>
              </a:spcBef>
              <a:spcAft>
                <a:spcPts val="0"/>
              </a:spcAft>
              <a:buClr>
                <a:srgbClr val="000000"/>
              </a:buClr>
              <a:buSzPts val="2200"/>
              <a:buFont typeface="Arial"/>
              <a:buNone/>
            </a:pPr>
            <a:r>
              <a:rPr lang="es-AR" sz="2600">
                <a:latin typeface="Saira"/>
                <a:ea typeface="Saira"/>
                <a:cs typeface="Saira"/>
                <a:sym typeface="Saira"/>
              </a:rPr>
              <a:t>    print(f"Índice {i} tiene el valor {mi_lista[i]}")</a:t>
            </a:r>
            <a:endParaRPr sz="2600">
              <a:latin typeface="Saira"/>
              <a:ea typeface="Saira"/>
              <a:cs typeface="Saira"/>
              <a:sym typeface="Saira"/>
            </a:endParaRPr>
          </a:p>
        </p:txBody>
      </p:sp>
      <p:sp>
        <p:nvSpPr>
          <p:cNvPr id="321" name="Google Shape;321;g2ddb62af2b6_0_186"/>
          <p:cNvSpPr txBox="1"/>
          <p:nvPr/>
        </p:nvSpPr>
        <p:spPr>
          <a:xfrm>
            <a:off x="4682500" y="3739200"/>
            <a:ext cx="1473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D0D0D"/>
              </a:solidFill>
              <a:highlight>
                <a:srgbClr val="FFFFFF"/>
              </a:highlight>
              <a:latin typeface="Saira"/>
              <a:ea typeface="Saira"/>
              <a:cs typeface="Saira"/>
              <a:sym typeface="Sair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202c77a19e3_0_52"/>
          <p:cNvSpPr txBox="1"/>
          <p:nvPr/>
        </p:nvSpPr>
        <p:spPr>
          <a:xfrm>
            <a:off x="319439" y="990221"/>
            <a:ext cx="84720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3000">
                <a:solidFill>
                  <a:srgbClr val="0000FF"/>
                </a:solidFill>
                <a:latin typeface="Saira"/>
                <a:ea typeface="Saira"/>
                <a:cs typeface="Saira"/>
                <a:sym typeface="Saira"/>
              </a:rPr>
              <a:t>Ejercicio integrador</a:t>
            </a:r>
            <a:endParaRPr b="0" i="0" sz="3000" u="none" cap="none" strike="noStrike">
              <a:solidFill>
                <a:srgbClr val="0000FF"/>
              </a:solidFill>
              <a:latin typeface="Saira"/>
              <a:ea typeface="Saira"/>
              <a:cs typeface="Saira"/>
              <a:sym typeface="Saira"/>
            </a:endParaRPr>
          </a:p>
        </p:txBody>
      </p:sp>
      <p:pic>
        <p:nvPicPr>
          <p:cNvPr id="327" name="Google Shape;327;g202c77a19e3_0_52"/>
          <p:cNvPicPr preferRelativeResize="0"/>
          <p:nvPr/>
        </p:nvPicPr>
        <p:blipFill rotWithShape="1">
          <a:blip r:embed="rId3">
            <a:alphaModFix/>
          </a:blip>
          <a:srcRect b="30671" l="23552" r="22735" t="29910"/>
          <a:stretch/>
        </p:blipFill>
        <p:spPr>
          <a:xfrm>
            <a:off x="8791460" y="390327"/>
            <a:ext cx="2959467" cy="1085934"/>
          </a:xfrm>
          <a:prstGeom prst="rect">
            <a:avLst/>
          </a:prstGeom>
          <a:noFill/>
          <a:ln>
            <a:noFill/>
          </a:ln>
        </p:spPr>
      </p:pic>
      <p:sp>
        <p:nvSpPr>
          <p:cNvPr id="328" name="Google Shape;328;g202c77a19e3_0_52"/>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329" name="Google Shape;329;g202c77a19e3_0_52"/>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30" name="Google Shape;330;g202c77a19e3_0_52"/>
          <p:cNvSpPr txBox="1"/>
          <p:nvPr/>
        </p:nvSpPr>
        <p:spPr>
          <a:xfrm>
            <a:off x="515375" y="1610450"/>
            <a:ext cx="9849000" cy="427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s-AR">
                <a:solidFill>
                  <a:srgbClr val="0D0D0D"/>
                </a:solidFill>
                <a:latin typeface="Saira"/>
                <a:ea typeface="Saira"/>
                <a:cs typeface="Saira"/>
                <a:sym typeface="Saira"/>
              </a:rPr>
              <a:t>Crear un programa que cumpla con los siguientes requisitos:</a:t>
            </a:r>
            <a:endParaRPr b="1">
              <a:solidFill>
                <a:srgbClr val="0D0D0D"/>
              </a:solidFill>
              <a:latin typeface="Saira"/>
              <a:ea typeface="Saira"/>
              <a:cs typeface="Saira"/>
              <a:sym typeface="Saira"/>
            </a:endParaRPr>
          </a:p>
          <a:p>
            <a:pPr indent="0" lvl="0" marL="0" marR="0" rtl="0" algn="l">
              <a:lnSpc>
                <a:spcPct val="100000"/>
              </a:lnSpc>
              <a:spcBef>
                <a:spcPts val="0"/>
              </a:spcBef>
              <a:spcAft>
                <a:spcPts val="0"/>
              </a:spcAft>
              <a:buNone/>
            </a:pPr>
            <a:r>
              <a:t/>
            </a:r>
            <a:endParaRPr b="1">
              <a:solidFill>
                <a:srgbClr val="0D0D0D"/>
              </a:solidFill>
              <a:latin typeface="Saira"/>
              <a:ea typeface="Saira"/>
              <a:cs typeface="Saira"/>
              <a:sym typeface="Saira"/>
            </a:endParaRPr>
          </a:p>
          <a:p>
            <a:pPr indent="-317500" lvl="0" marL="457200" marR="0" rtl="0" algn="l">
              <a:lnSpc>
                <a:spcPct val="100000"/>
              </a:lnSpc>
              <a:spcBef>
                <a:spcPts val="0"/>
              </a:spcBef>
              <a:spcAft>
                <a:spcPts val="0"/>
              </a:spcAft>
              <a:buClr>
                <a:srgbClr val="0D0D0D"/>
              </a:buClr>
              <a:buSzPts val="1400"/>
              <a:buFont typeface="Saira"/>
              <a:buChar char="●"/>
            </a:pPr>
            <a:r>
              <a:rPr lang="es-AR">
                <a:solidFill>
                  <a:srgbClr val="0D0D0D"/>
                </a:solidFill>
                <a:latin typeface="Saira"/>
                <a:ea typeface="Saira"/>
                <a:cs typeface="Saira"/>
                <a:sym typeface="Saira"/>
              </a:rPr>
              <a:t>Entrada de Datos:</a:t>
            </a:r>
            <a:endParaRPr>
              <a:solidFill>
                <a:srgbClr val="0D0D0D"/>
              </a:solidFill>
              <a:latin typeface="Saira"/>
              <a:ea typeface="Saira"/>
              <a:cs typeface="Saira"/>
              <a:sym typeface="Saira"/>
            </a:endParaRPr>
          </a:p>
          <a:p>
            <a:pPr indent="457200" lvl="0" marL="457200" marR="0" rtl="0" algn="l">
              <a:lnSpc>
                <a:spcPct val="100000"/>
              </a:lnSpc>
              <a:spcBef>
                <a:spcPts val="0"/>
              </a:spcBef>
              <a:spcAft>
                <a:spcPts val="0"/>
              </a:spcAft>
              <a:buNone/>
            </a:pPr>
            <a:r>
              <a:rPr lang="es-AR">
                <a:solidFill>
                  <a:srgbClr val="0D0D0D"/>
                </a:solidFill>
                <a:latin typeface="Saira"/>
                <a:ea typeface="Saira"/>
                <a:cs typeface="Saira"/>
                <a:sym typeface="Saira"/>
              </a:rPr>
              <a:t>Crea una lista llamada temperaturas que contenga las temperaturas diarias (en grados Celsius) de un mes (30 días). Los datos serán ingresados manualmente por el usuario.</a:t>
            </a:r>
            <a:endParaRPr>
              <a:solidFill>
                <a:srgbClr val="0D0D0D"/>
              </a:solidFill>
              <a:latin typeface="Saira"/>
              <a:ea typeface="Saira"/>
              <a:cs typeface="Saira"/>
              <a:sym typeface="Saira"/>
            </a:endParaRPr>
          </a:p>
          <a:p>
            <a:pPr indent="-317500" lvl="0" marL="457200" marR="0" rtl="0" algn="l">
              <a:lnSpc>
                <a:spcPct val="100000"/>
              </a:lnSpc>
              <a:spcBef>
                <a:spcPts val="0"/>
              </a:spcBef>
              <a:spcAft>
                <a:spcPts val="0"/>
              </a:spcAft>
              <a:buClr>
                <a:srgbClr val="0D0D0D"/>
              </a:buClr>
              <a:buSzPts val="1400"/>
              <a:buFont typeface="Saira"/>
              <a:buChar char="●"/>
            </a:pPr>
            <a:r>
              <a:rPr lang="es-AR">
                <a:solidFill>
                  <a:srgbClr val="0D0D0D"/>
                </a:solidFill>
                <a:latin typeface="Saira"/>
                <a:ea typeface="Saira"/>
                <a:cs typeface="Saira"/>
                <a:sym typeface="Saira"/>
              </a:rPr>
              <a:t>Cálculo de Promedios:</a:t>
            </a:r>
            <a:endParaRPr>
              <a:solidFill>
                <a:srgbClr val="0D0D0D"/>
              </a:solidFill>
              <a:latin typeface="Saira"/>
              <a:ea typeface="Saira"/>
              <a:cs typeface="Saira"/>
              <a:sym typeface="Saira"/>
            </a:endParaRPr>
          </a:p>
          <a:p>
            <a:pPr indent="457200" lvl="0" marL="457200" marR="0" rtl="0" algn="l">
              <a:lnSpc>
                <a:spcPct val="100000"/>
              </a:lnSpc>
              <a:spcBef>
                <a:spcPts val="0"/>
              </a:spcBef>
              <a:spcAft>
                <a:spcPts val="0"/>
              </a:spcAft>
              <a:buNone/>
            </a:pPr>
            <a:r>
              <a:rPr lang="es-AR">
                <a:solidFill>
                  <a:srgbClr val="0D0D0D"/>
                </a:solidFill>
                <a:latin typeface="Saira"/>
                <a:ea typeface="Saira"/>
                <a:cs typeface="Saira"/>
                <a:sym typeface="Saira"/>
              </a:rPr>
              <a:t>Utilizando un bucle for, calcula la temperatura media del mes y almacénala en una variable llamada promedio_mensual.</a:t>
            </a:r>
            <a:endParaRPr>
              <a:solidFill>
                <a:srgbClr val="0D0D0D"/>
              </a:solidFill>
              <a:latin typeface="Saira"/>
              <a:ea typeface="Saira"/>
              <a:cs typeface="Saira"/>
              <a:sym typeface="Saira"/>
            </a:endParaRPr>
          </a:p>
          <a:p>
            <a:pPr indent="-317500" lvl="0" marL="457200" marR="0" rtl="0" algn="l">
              <a:lnSpc>
                <a:spcPct val="100000"/>
              </a:lnSpc>
              <a:spcBef>
                <a:spcPts val="0"/>
              </a:spcBef>
              <a:spcAft>
                <a:spcPts val="0"/>
              </a:spcAft>
              <a:buClr>
                <a:srgbClr val="0D0D0D"/>
              </a:buClr>
              <a:buSzPts val="1400"/>
              <a:buFont typeface="Saira"/>
              <a:buChar char="●"/>
            </a:pPr>
            <a:r>
              <a:rPr lang="es-AR">
                <a:solidFill>
                  <a:srgbClr val="0D0D0D"/>
                </a:solidFill>
                <a:latin typeface="Saira"/>
                <a:ea typeface="Saira"/>
                <a:cs typeface="Saira"/>
                <a:sym typeface="Saira"/>
              </a:rPr>
              <a:t>D</a:t>
            </a:r>
            <a:r>
              <a:rPr lang="es-AR">
                <a:solidFill>
                  <a:srgbClr val="0D0D0D"/>
                </a:solidFill>
                <a:latin typeface="Saira"/>
                <a:ea typeface="Saira"/>
                <a:cs typeface="Saira"/>
                <a:sym typeface="Saira"/>
              </a:rPr>
              <a:t>etección de Días Fríos y Cálidos:</a:t>
            </a:r>
            <a:endParaRPr>
              <a:solidFill>
                <a:srgbClr val="0D0D0D"/>
              </a:solidFill>
              <a:latin typeface="Saira"/>
              <a:ea typeface="Saira"/>
              <a:cs typeface="Saira"/>
              <a:sym typeface="Saira"/>
            </a:endParaRPr>
          </a:p>
          <a:p>
            <a:pPr indent="457200" lvl="0" marL="457200" marR="0" rtl="0" algn="l">
              <a:lnSpc>
                <a:spcPct val="100000"/>
              </a:lnSpc>
              <a:spcBef>
                <a:spcPts val="0"/>
              </a:spcBef>
              <a:spcAft>
                <a:spcPts val="0"/>
              </a:spcAft>
              <a:buNone/>
            </a:pPr>
            <a:r>
              <a:rPr lang="es-AR">
                <a:solidFill>
                  <a:srgbClr val="0D0D0D"/>
                </a:solidFill>
                <a:latin typeface="Saira"/>
                <a:ea typeface="Saira"/>
                <a:cs typeface="Saira"/>
                <a:sym typeface="Saira"/>
              </a:rPr>
              <a:t>Utilizando un bucle while, recorre la lista temperaturas y cuenta cuántos días tuvieron una temperatura por debajo de 20 grados (días fríos) y cuántos días tuvieron una temperatura por encima de 30 grados (días cálidos). Almacena estos contadores en variables llamadas dias_frios y dias_calidos respectivamente.</a:t>
            </a:r>
            <a:endParaRPr>
              <a:solidFill>
                <a:srgbClr val="0D0D0D"/>
              </a:solidFill>
              <a:latin typeface="Saira"/>
              <a:ea typeface="Saira"/>
              <a:cs typeface="Saira"/>
              <a:sym typeface="Saira"/>
            </a:endParaRPr>
          </a:p>
          <a:p>
            <a:pPr indent="-317500" lvl="0" marL="457200" marR="0" rtl="0" algn="l">
              <a:lnSpc>
                <a:spcPct val="100000"/>
              </a:lnSpc>
              <a:spcBef>
                <a:spcPts val="0"/>
              </a:spcBef>
              <a:spcAft>
                <a:spcPts val="0"/>
              </a:spcAft>
              <a:buClr>
                <a:srgbClr val="0D0D0D"/>
              </a:buClr>
              <a:buSzPts val="1400"/>
              <a:buFont typeface="Saira"/>
              <a:buChar char="●"/>
            </a:pPr>
            <a:r>
              <a:rPr lang="es-AR">
                <a:solidFill>
                  <a:srgbClr val="0D0D0D"/>
                </a:solidFill>
                <a:latin typeface="Saira"/>
                <a:ea typeface="Saira"/>
                <a:cs typeface="Saira"/>
                <a:sym typeface="Saira"/>
              </a:rPr>
              <a:t>Generación de un Informe Semanal:</a:t>
            </a:r>
            <a:endParaRPr>
              <a:solidFill>
                <a:srgbClr val="0D0D0D"/>
              </a:solidFill>
              <a:latin typeface="Saira"/>
              <a:ea typeface="Saira"/>
              <a:cs typeface="Saira"/>
              <a:sym typeface="Saira"/>
            </a:endParaRPr>
          </a:p>
          <a:p>
            <a:pPr indent="457200" lvl="0" marL="457200" marR="0" rtl="0" algn="l">
              <a:lnSpc>
                <a:spcPct val="100000"/>
              </a:lnSpc>
              <a:spcBef>
                <a:spcPts val="0"/>
              </a:spcBef>
              <a:spcAft>
                <a:spcPts val="0"/>
              </a:spcAft>
              <a:buNone/>
            </a:pPr>
            <a:r>
              <a:rPr lang="es-AR">
                <a:solidFill>
                  <a:srgbClr val="0D0D0D"/>
                </a:solidFill>
                <a:latin typeface="Saira"/>
                <a:ea typeface="Saira"/>
                <a:cs typeface="Saira"/>
                <a:sym typeface="Saira"/>
              </a:rPr>
              <a:t>Divide los datos en semanas (cada semana tiene 7 días) y calcula la temperatura media de cada semana utilizando un bucle for y la función range. Almacena estos promedios semanales en una lista llamada promedios_semanales.</a:t>
            </a:r>
            <a:endParaRPr>
              <a:solidFill>
                <a:srgbClr val="0D0D0D"/>
              </a:solidFill>
              <a:latin typeface="Saira"/>
              <a:ea typeface="Saira"/>
              <a:cs typeface="Saira"/>
              <a:sym typeface="Saira"/>
            </a:endParaRPr>
          </a:p>
          <a:p>
            <a:pPr indent="-317500" lvl="0" marL="457200" marR="0" rtl="0" algn="l">
              <a:lnSpc>
                <a:spcPct val="100000"/>
              </a:lnSpc>
              <a:spcBef>
                <a:spcPts val="0"/>
              </a:spcBef>
              <a:spcAft>
                <a:spcPts val="0"/>
              </a:spcAft>
              <a:buClr>
                <a:srgbClr val="0D0D0D"/>
              </a:buClr>
              <a:buSzPts val="1400"/>
              <a:buFont typeface="Saira"/>
              <a:buChar char="●"/>
            </a:pPr>
            <a:r>
              <a:rPr lang="es-AR">
                <a:solidFill>
                  <a:srgbClr val="0D0D0D"/>
                </a:solidFill>
                <a:latin typeface="Saira"/>
                <a:ea typeface="Saira"/>
                <a:cs typeface="Saira"/>
                <a:sym typeface="Saira"/>
              </a:rPr>
              <a:t>Visualización de Resultados:</a:t>
            </a:r>
            <a:endParaRPr>
              <a:solidFill>
                <a:srgbClr val="0D0D0D"/>
              </a:solidFill>
              <a:latin typeface="Saira"/>
              <a:ea typeface="Saira"/>
              <a:cs typeface="Saira"/>
              <a:sym typeface="Saira"/>
            </a:endParaRPr>
          </a:p>
          <a:p>
            <a:pPr indent="0" lvl="0" marL="914400" marR="0" rtl="0" algn="l">
              <a:lnSpc>
                <a:spcPct val="100000"/>
              </a:lnSpc>
              <a:spcBef>
                <a:spcPts val="0"/>
              </a:spcBef>
              <a:spcAft>
                <a:spcPts val="0"/>
              </a:spcAft>
              <a:buNone/>
            </a:pPr>
            <a:r>
              <a:rPr lang="es-AR">
                <a:solidFill>
                  <a:srgbClr val="0D0D0D"/>
                </a:solidFill>
                <a:latin typeface="Saira"/>
                <a:ea typeface="Saira"/>
                <a:cs typeface="Saira"/>
                <a:sym typeface="Saira"/>
              </a:rPr>
              <a:t>Imprime el promedio_mensual, los valores de dias_frios y dias_calidos, y los valores de promedios_semanales.</a:t>
            </a:r>
            <a:endParaRPr>
              <a:solidFill>
                <a:srgbClr val="0D0D0D"/>
              </a:solidFill>
              <a:latin typeface="Saira"/>
              <a:ea typeface="Saira"/>
              <a:cs typeface="Saira"/>
              <a:sym typeface="Sair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g1f3006538ad_0_205"/>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336" name="Google Shape;336;g1f3006538ad_0_205"/>
          <p:cNvSpPr txBox="1"/>
          <p:nvPr>
            <p:ph idx="11" type="ftr"/>
          </p:nvPr>
        </p:nvSpPr>
        <p:spPr>
          <a:xfrm>
            <a:off x="2846238" y="2374225"/>
            <a:ext cx="6499500" cy="1003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AR" sz="2000">
                <a:latin typeface="Saira"/>
                <a:ea typeface="Saira"/>
                <a:cs typeface="Saira"/>
                <a:sym typeface="Saira"/>
              </a:rPr>
              <a:t>Próxima unidad: Diccionarios, Tuplas y Funciones.</a:t>
            </a:r>
            <a:endParaRPr sz="2000"/>
          </a:p>
        </p:txBody>
      </p:sp>
      <p:sp>
        <p:nvSpPr>
          <p:cNvPr id="337" name="Google Shape;337;g1f3006538ad_0_205"/>
          <p:cNvSpPr txBox="1"/>
          <p:nvPr>
            <p:ph idx="10" type="dt"/>
          </p:nvPr>
        </p:nvSpPr>
        <p:spPr>
          <a:xfrm>
            <a:off x="4439400" y="6313325"/>
            <a:ext cx="331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r>
              <a:rPr lang="es-AR">
                <a:latin typeface="Saira"/>
                <a:ea typeface="Saira"/>
                <a:cs typeface="Saira"/>
                <a:sym typeface="Saira"/>
              </a:rPr>
              <a:t>Laboratorio de computación II  2024</a:t>
            </a:r>
            <a:endParaRPr>
              <a:latin typeface="Saira"/>
              <a:ea typeface="Saira"/>
              <a:cs typeface="Saira"/>
              <a:sym typeface="Saira"/>
            </a:endParaRPr>
          </a:p>
        </p:txBody>
      </p:sp>
      <p:pic>
        <p:nvPicPr>
          <p:cNvPr id="338" name="Google Shape;338;g1f3006538ad_0_205"/>
          <p:cNvPicPr preferRelativeResize="0"/>
          <p:nvPr/>
        </p:nvPicPr>
        <p:blipFill rotWithShape="1">
          <a:blip r:embed="rId4">
            <a:alphaModFix/>
          </a:blip>
          <a:srcRect b="0" l="0" r="0" t="0"/>
          <a:stretch/>
        </p:blipFill>
        <p:spPr>
          <a:xfrm>
            <a:off x="4964432" y="3311318"/>
            <a:ext cx="2263150" cy="22928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2023-03-07T21:33:27Z</dcterms:created>
  <dc:creator>Carlos Sebastián Pedraza</dc:creator>
</cp:coreProperties>
</file>