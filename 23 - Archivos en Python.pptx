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y="6858000" cx="12192000"/>
  <p:notesSz cx="6858000" cy="9144000"/>
  <p:embeddedFontLst>
    <p:embeddedFont>
      <p:font typeface="Saira"/>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2" roundtripDataSignature="AMtx7mizQW2ARgzYvZin6cHVOZmIqBx8u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font" Target="fonts/Saira-regular.fntdata"/><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Saira-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Saira-boldItalic.fntdata"/><Relationship Id="rId30" Type="http://schemas.openxmlformats.org/officeDocument/2006/relationships/font" Target="fonts/Saira-italic.fntdata"/><Relationship Id="rId11" Type="http://schemas.openxmlformats.org/officeDocument/2006/relationships/slide" Target="slides/slide7.xml"/><Relationship Id="rId10" Type="http://schemas.openxmlformats.org/officeDocument/2006/relationships/slide" Target="slides/slide6.xml"/><Relationship Id="rId32" Type="http://customschemas.google.com/relationships/presentationmetadata" Target="meta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0c34938e9c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g30c34938e9c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e0920f1d41_0_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 name="Google Shape;103;g2e0920f1d41_0_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0c34938e9c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5" name="Google Shape;115;g30c34938e9c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0c34938e9c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6" name="Google Shape;126;g30c34938e9c_0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d535835f33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 name="Google Shape;137;g2d535835f33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d535835f33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g2d535835f33_0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2d535835f33_0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0" name="Google Shape;160;g2d535835f33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d535835f33_0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0" name="Google Shape;170;g2d535835f33_0_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d535835f33_0_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0" name="Google Shape;180;g2d535835f33_0_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2d535835f33_0_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0" name="Google Shape;190;g2d535835f33_0_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d535835f33_0_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0" name="Google Shape;200;g2d535835f33_0_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2d535835f33_0_1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0" name="Google Shape;210;g2d535835f33_0_1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0c34938e9c_0_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0" name="Google Shape;220;g30c34938e9c_0_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d535835f33_0_1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6" name="Google Shape;236;g2d535835f33_0_1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d535835f33_0_1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5" name="Google Shape;245;g2d535835f33_0_1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2d535835f33_0_1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6" name="Google Shape;256;g2d535835f33_0_1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2d535835f33_0_1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7" name="Google Shape;267;g2d535835f33_0_1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2d535835f33_0_1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8" name="Google Shape;278;g2d535835f33_0_1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2d535835f33_0_2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8" name="Google Shape;288;g2d535835f33_0_20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d535835f33_0_2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8" name="Google Shape;298;g2d535835f33_0_2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2d535835f33_0_2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8" name="Google Shape;308;g2d535835f33_0_2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1f3006538ad_0_20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8" name="Google Shape;318;g1f3006538ad_0_2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5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5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5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5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5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5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5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5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6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6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6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6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6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6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6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6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6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6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6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6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6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6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6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6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6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65"/>
          <p:cNvSpPr/>
          <p:nvPr>
            <p:ph idx="2" type="pic"/>
          </p:nvPr>
        </p:nvSpPr>
        <p:spPr>
          <a:xfrm>
            <a:off x="5183188" y="987425"/>
            <a:ext cx="6172200" cy="4873625"/>
          </a:xfrm>
          <a:prstGeom prst="rect">
            <a:avLst/>
          </a:prstGeom>
          <a:noFill/>
          <a:ln>
            <a:noFill/>
          </a:ln>
        </p:spPr>
      </p:sp>
      <p:sp>
        <p:nvSpPr>
          <p:cNvPr id="64" name="Google Shape;64;p6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6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6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6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6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6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6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6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6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6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6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6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6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6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5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jpg"/><Relationship Id="rId4" Type="http://schemas.openxmlformats.org/officeDocument/2006/relationships/image" Target="../media/image1.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jpg"/><Relationship Id="rId4" Type="http://schemas.openxmlformats.org/officeDocument/2006/relationships/image" Target="../media/image1.png"/><Relationship Id="rId5" Type="http://schemas.openxmlformats.org/officeDocument/2006/relationships/image" Target="../media/image2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jpg"/><Relationship Id="rId4" Type="http://schemas.openxmlformats.org/officeDocument/2006/relationships/image" Target="../media/image1.png"/><Relationship Id="rId5"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jpg"/><Relationship Id="rId4" Type="http://schemas.openxmlformats.org/officeDocument/2006/relationships/image" Target="../media/image1.png"/><Relationship Id="rId5"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jpg"/><Relationship Id="rId4" Type="http://schemas.openxmlformats.org/officeDocument/2006/relationships/image" Target="../media/image1.png"/><Relationship Id="rId5"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jpg"/><Relationship Id="rId4" Type="http://schemas.openxmlformats.org/officeDocument/2006/relationships/image" Target="../media/image1.png"/><Relationship Id="rId5" Type="http://schemas.openxmlformats.org/officeDocument/2006/relationships/image" Target="../media/image6.png"/><Relationship Id="rId6"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jpg"/><Relationship Id="rId4" Type="http://schemas.openxmlformats.org/officeDocument/2006/relationships/image" Target="../media/image1.png"/><Relationship Id="rId5"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jpg"/><Relationship Id="rId4" Type="http://schemas.openxmlformats.org/officeDocument/2006/relationships/image" Target="../media/image1.png"/><Relationship Id="rId5"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jpg"/><Relationship Id="rId4" Type="http://schemas.openxmlformats.org/officeDocument/2006/relationships/image" Target="../media/image1.png"/><Relationship Id="rId5"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jpg"/><Relationship Id="rId4" Type="http://schemas.openxmlformats.org/officeDocument/2006/relationships/image" Target="../media/image1.png"/><Relationship Id="rId5"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jpg"/><Relationship Id="rId4" Type="http://schemas.openxmlformats.org/officeDocument/2006/relationships/image" Target="../media/image1.png"/><Relationship Id="rId5"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jpg"/><Relationship Id="rId4" Type="http://schemas.openxmlformats.org/officeDocument/2006/relationships/image" Target="../media/image1.png"/><Relationship Id="rId5"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jpg"/><Relationship Id="rId4" Type="http://schemas.openxmlformats.org/officeDocument/2006/relationships/image" Target="../media/image1.png"/><Relationship Id="rId5"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9.jpg"/><Relationship Id="rId4" Type="http://schemas.openxmlformats.org/officeDocument/2006/relationships/image" Target="../media/image1.png"/><Relationship Id="rId5" Type="http://schemas.openxmlformats.org/officeDocument/2006/relationships/image" Target="../media/image21.png"/><Relationship Id="rId6" Type="http://schemas.openxmlformats.org/officeDocument/2006/relationships/image" Target="../media/image17.png"/><Relationship Id="rId7"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jp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9.jpg"/><Relationship Id="rId4" Type="http://schemas.openxmlformats.org/officeDocument/2006/relationships/image" Target="../media/image1.png"/><Relationship Id="rId5"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9.jpg"/><Relationship Id="rId4" Type="http://schemas.openxmlformats.org/officeDocument/2006/relationships/image" Target="../media/image1.png"/><Relationship Id="rId5"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9.jpg"/><Relationship Id="rId4" Type="http://schemas.openxmlformats.org/officeDocument/2006/relationships/image" Target="../media/image1.png"/><Relationship Id="rId5"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9.jpg"/><Relationship Id="rId4" Type="http://schemas.openxmlformats.org/officeDocument/2006/relationships/image" Target="../media/image1.png"/><Relationship Id="rId5"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9.jpg"/><Relationship Id="rId4" Type="http://schemas.openxmlformats.org/officeDocument/2006/relationships/image" Target="../media/image1.png"/><Relationship Id="rId5"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9.jpg"/><Relationship Id="rId4" Type="http://schemas.openxmlformats.org/officeDocument/2006/relationships/image" Target="../media/image1.png"/><Relationship Id="rId5" Type="http://schemas.openxmlformats.org/officeDocument/2006/relationships/image" Target="../media/image2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9.jpg"/><Relationship Id="rId4" Type="http://schemas.openxmlformats.org/officeDocument/2006/relationships/image" Target="../media/image1.png"/><Relationship Id="rId5" Type="http://schemas.openxmlformats.org/officeDocument/2006/relationships/image" Target="../media/image29.png"/><Relationship Id="rId6" Type="http://schemas.openxmlformats.org/officeDocument/2006/relationships/image" Target="../media/image2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9.jp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nvSpPr>
        <p:spPr>
          <a:xfrm>
            <a:off x="252814" y="1014596"/>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b="0" i="0" lang="es-AR" sz="4200" u="none" cap="none" strike="noStrike">
                <a:solidFill>
                  <a:schemeClr val="dk1"/>
                </a:solidFill>
                <a:latin typeface="Saira"/>
                <a:ea typeface="Saira"/>
                <a:cs typeface="Saira"/>
                <a:sym typeface="Saira"/>
              </a:rPr>
              <a:t>Laboratorio de computación II</a:t>
            </a:r>
            <a:endParaRPr b="0" i="0" sz="5400" u="none" cap="none" strike="noStrike">
              <a:solidFill>
                <a:schemeClr val="dk1"/>
              </a:solidFill>
              <a:latin typeface="Saira"/>
              <a:ea typeface="Saira"/>
              <a:cs typeface="Saira"/>
              <a:sym typeface="Saira"/>
            </a:endParaRPr>
          </a:p>
        </p:txBody>
      </p:sp>
      <p:pic>
        <p:nvPicPr>
          <p:cNvPr id="85" name="Google Shape;85;p1"/>
          <p:cNvPicPr preferRelativeResize="0"/>
          <p:nvPr/>
        </p:nvPicPr>
        <p:blipFill rotWithShape="1">
          <a:blip r:embed="rId3">
            <a:alphaModFix/>
          </a:blip>
          <a:srcRect b="30673" l="23551" r="22738" t="29909"/>
          <a:stretch/>
        </p:blipFill>
        <p:spPr>
          <a:xfrm>
            <a:off x="8791460" y="390327"/>
            <a:ext cx="2959466" cy="1085934"/>
          </a:xfrm>
          <a:prstGeom prst="rect">
            <a:avLst/>
          </a:prstGeom>
          <a:noFill/>
          <a:ln>
            <a:noFill/>
          </a:ln>
        </p:spPr>
      </p:pic>
      <p:sp>
        <p:nvSpPr>
          <p:cNvPr id="86" name="Google Shape;86;p1"/>
          <p:cNvSpPr txBox="1"/>
          <p:nvPr/>
        </p:nvSpPr>
        <p:spPr>
          <a:xfrm>
            <a:off x="2034525" y="2295350"/>
            <a:ext cx="8122800" cy="954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0" i="0" lang="es-AR" sz="2800" u="none" cap="none" strike="noStrike">
                <a:solidFill>
                  <a:schemeClr val="dk1"/>
                </a:solidFill>
                <a:latin typeface="Saira"/>
                <a:ea typeface="Saira"/>
                <a:cs typeface="Saira"/>
                <a:sym typeface="Saira"/>
              </a:rPr>
              <a:t>Unidad 2</a:t>
            </a:r>
            <a:r>
              <a:rPr lang="es-AR" sz="2800">
                <a:solidFill>
                  <a:schemeClr val="dk1"/>
                </a:solidFill>
                <a:latin typeface="Saira"/>
                <a:ea typeface="Saira"/>
                <a:cs typeface="Saira"/>
                <a:sym typeface="Saira"/>
              </a:rPr>
              <a:t>2</a:t>
            </a:r>
            <a:r>
              <a:rPr b="0" i="0" lang="es-AR" sz="2800" u="none" cap="none" strike="noStrike">
                <a:solidFill>
                  <a:schemeClr val="dk1"/>
                </a:solidFill>
                <a:latin typeface="Saira"/>
                <a:ea typeface="Saira"/>
                <a:cs typeface="Saira"/>
                <a:sym typeface="Saira"/>
              </a:rPr>
              <a:t>- </a:t>
            </a:r>
            <a:r>
              <a:rPr lang="es-AR" sz="2800">
                <a:solidFill>
                  <a:schemeClr val="dk1"/>
                </a:solidFill>
                <a:latin typeface="Saira"/>
                <a:ea typeface="Saira"/>
                <a:cs typeface="Saira"/>
                <a:sym typeface="Saira"/>
              </a:rPr>
              <a:t>Archivos en Python y Excepciones</a:t>
            </a:r>
            <a:r>
              <a:rPr b="0" i="0" lang="es-AR" sz="2800" u="none" cap="none" strike="noStrike">
                <a:solidFill>
                  <a:schemeClr val="dk1"/>
                </a:solidFill>
                <a:latin typeface="Saira"/>
                <a:ea typeface="Saira"/>
                <a:cs typeface="Saira"/>
                <a:sym typeface="Saira"/>
              </a:rPr>
              <a:t>.</a:t>
            </a:r>
            <a:endParaRPr b="0" i="0" sz="2800" u="none" cap="none" strike="noStrike">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Saira"/>
              <a:ea typeface="Saira"/>
              <a:cs typeface="Saira"/>
              <a:sym typeface="Saira"/>
            </a:endParaRPr>
          </a:p>
        </p:txBody>
      </p:sp>
      <p:sp>
        <p:nvSpPr>
          <p:cNvPr id="87" name="Google Shape;87;p1"/>
          <p:cNvSpPr txBox="1"/>
          <p:nvPr/>
        </p:nvSpPr>
        <p:spPr>
          <a:xfrm>
            <a:off x="4439325"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Calibri"/>
              <a:ea typeface="Calibri"/>
              <a:cs typeface="Calibri"/>
              <a:sym typeface="Calibri"/>
            </a:endParaRPr>
          </a:p>
        </p:txBody>
      </p:sp>
      <p:pic>
        <p:nvPicPr>
          <p:cNvPr id="88" name="Google Shape;88;p1"/>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pic>
        <p:nvPicPr>
          <p:cNvPr id="89" name="Google Shape;89;p1"/>
          <p:cNvPicPr preferRelativeResize="0"/>
          <p:nvPr/>
        </p:nvPicPr>
        <p:blipFill>
          <a:blip r:embed="rId5">
            <a:alphaModFix/>
          </a:blip>
          <a:stretch>
            <a:fillRect/>
          </a:stretch>
        </p:blipFill>
        <p:spPr>
          <a:xfrm>
            <a:off x="4795375" y="2876075"/>
            <a:ext cx="2601100" cy="26011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g30c34938e9c_0_13"/>
          <p:cNvSpPr txBox="1"/>
          <p:nvPr/>
        </p:nvSpPr>
        <p:spPr>
          <a:xfrm>
            <a:off x="319439" y="990221"/>
            <a:ext cx="8472000" cy="600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300">
                <a:solidFill>
                  <a:schemeClr val="dk1"/>
                </a:solidFill>
                <a:latin typeface="Saira"/>
                <a:ea typeface="Saira"/>
                <a:cs typeface="Saira"/>
                <a:sym typeface="Saira"/>
              </a:rPr>
              <a:t>¿Qué es un archivo?</a:t>
            </a:r>
            <a:endParaRPr b="0" i="0" sz="4500" u="none" cap="none" strike="noStrike">
              <a:solidFill>
                <a:schemeClr val="dk1"/>
              </a:solidFill>
              <a:latin typeface="Saira"/>
              <a:ea typeface="Saira"/>
              <a:cs typeface="Saira"/>
              <a:sym typeface="Saira"/>
            </a:endParaRPr>
          </a:p>
        </p:txBody>
      </p:sp>
      <p:pic>
        <p:nvPicPr>
          <p:cNvPr id="95" name="Google Shape;95;g30c34938e9c_0_13"/>
          <p:cNvPicPr preferRelativeResize="0"/>
          <p:nvPr/>
        </p:nvPicPr>
        <p:blipFill rotWithShape="1">
          <a:blip r:embed="rId3">
            <a:alphaModFix/>
          </a:blip>
          <a:srcRect b="30668" l="23553" r="22731" t="29911"/>
          <a:stretch/>
        </p:blipFill>
        <p:spPr>
          <a:xfrm>
            <a:off x="8791460" y="390327"/>
            <a:ext cx="2959467" cy="1085934"/>
          </a:xfrm>
          <a:prstGeom prst="rect">
            <a:avLst/>
          </a:prstGeom>
          <a:noFill/>
          <a:ln>
            <a:noFill/>
          </a:ln>
        </p:spPr>
      </p:pic>
      <p:sp>
        <p:nvSpPr>
          <p:cNvPr id="96" name="Google Shape;96;g30c34938e9c_0_13"/>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97" name="Google Shape;97;g30c34938e9c_0_13"/>
          <p:cNvSpPr txBox="1"/>
          <p:nvPr/>
        </p:nvSpPr>
        <p:spPr>
          <a:xfrm>
            <a:off x="490000" y="2411875"/>
            <a:ext cx="8812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2000" u="none" cap="none" strike="noStrike">
              <a:solidFill>
                <a:srgbClr val="000000"/>
              </a:solidFill>
              <a:latin typeface="Saira"/>
              <a:ea typeface="Saira"/>
              <a:cs typeface="Saira"/>
              <a:sym typeface="Saira"/>
            </a:endParaRPr>
          </a:p>
        </p:txBody>
      </p:sp>
      <p:pic>
        <p:nvPicPr>
          <p:cNvPr id="98" name="Google Shape;98;g30c34938e9c_0_13"/>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99" name="Google Shape;99;g30c34938e9c_0_13"/>
          <p:cNvSpPr txBox="1"/>
          <p:nvPr/>
        </p:nvSpPr>
        <p:spPr>
          <a:xfrm>
            <a:off x="327550" y="1900225"/>
            <a:ext cx="9137100" cy="1708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1200"/>
              </a:spcBef>
              <a:spcAft>
                <a:spcPts val="200"/>
              </a:spcAft>
              <a:buClr>
                <a:srgbClr val="000000"/>
              </a:buClr>
              <a:buSzPts val="1800"/>
              <a:buFont typeface="Arial"/>
              <a:buNone/>
            </a:pPr>
            <a:r>
              <a:rPr lang="es-AR" sz="1800">
                <a:solidFill>
                  <a:srgbClr val="0D0D0D"/>
                </a:solidFill>
                <a:highlight>
                  <a:srgbClr val="FFFFFF"/>
                </a:highlight>
                <a:latin typeface="Saira"/>
                <a:ea typeface="Saira"/>
                <a:cs typeface="Saira"/>
                <a:sym typeface="Saira"/>
              </a:rPr>
              <a:t>Un archivo es una colección de datos almacenados en un medio de almacenamiento (como un disco duro). Estos datos pueden ser de distintos tipos: texto, binarios, imágenes, videos, entre otros. En Python, existen funciones y métodos que nos permiten interactuar con archivos, manipulando su contenido de diversas maneras.</a:t>
            </a:r>
            <a:endParaRPr b="0" i="0" sz="1800" u="none" cap="none" strike="noStrike">
              <a:solidFill>
                <a:srgbClr val="0D0D0D"/>
              </a:solidFill>
              <a:highlight>
                <a:srgbClr val="FFFFFF"/>
              </a:highlight>
              <a:latin typeface="Saira"/>
              <a:ea typeface="Saira"/>
              <a:cs typeface="Saira"/>
              <a:sym typeface="Saira"/>
            </a:endParaRPr>
          </a:p>
        </p:txBody>
      </p:sp>
      <p:pic>
        <p:nvPicPr>
          <p:cNvPr id="100" name="Google Shape;100;g30c34938e9c_0_13"/>
          <p:cNvPicPr preferRelativeResize="0"/>
          <p:nvPr/>
        </p:nvPicPr>
        <p:blipFill>
          <a:blip r:embed="rId5">
            <a:alphaModFix/>
          </a:blip>
          <a:stretch>
            <a:fillRect/>
          </a:stretch>
        </p:blipFill>
        <p:spPr>
          <a:xfrm>
            <a:off x="4548088" y="3792075"/>
            <a:ext cx="2126725" cy="21267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g2e0920f1d41_0_73"/>
          <p:cNvSpPr txBox="1"/>
          <p:nvPr/>
        </p:nvSpPr>
        <p:spPr>
          <a:xfrm>
            <a:off x="327539" y="79427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Abrir un archivo</a:t>
            </a:r>
            <a:endParaRPr b="0" i="0" sz="5400" u="none" cap="none" strike="noStrike">
              <a:solidFill>
                <a:schemeClr val="dk1"/>
              </a:solidFill>
              <a:latin typeface="Saira"/>
              <a:ea typeface="Saira"/>
              <a:cs typeface="Saira"/>
              <a:sym typeface="Saira"/>
            </a:endParaRPr>
          </a:p>
        </p:txBody>
      </p:sp>
      <p:pic>
        <p:nvPicPr>
          <p:cNvPr id="106" name="Google Shape;106;g2e0920f1d41_0_73"/>
          <p:cNvPicPr preferRelativeResize="0"/>
          <p:nvPr/>
        </p:nvPicPr>
        <p:blipFill rotWithShape="1">
          <a:blip r:embed="rId3">
            <a:alphaModFix/>
          </a:blip>
          <a:srcRect b="30671" l="23552" r="22734" t="29910"/>
          <a:stretch/>
        </p:blipFill>
        <p:spPr>
          <a:xfrm>
            <a:off x="8791460" y="390327"/>
            <a:ext cx="2959467" cy="1085934"/>
          </a:xfrm>
          <a:prstGeom prst="rect">
            <a:avLst/>
          </a:prstGeom>
          <a:noFill/>
          <a:ln>
            <a:noFill/>
          </a:ln>
        </p:spPr>
      </p:pic>
      <p:sp>
        <p:nvSpPr>
          <p:cNvPr id="107" name="Google Shape;107;g2e0920f1d41_0_73"/>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108" name="Google Shape;108;g2e0920f1d41_0_73"/>
          <p:cNvSpPr txBox="1"/>
          <p:nvPr/>
        </p:nvSpPr>
        <p:spPr>
          <a:xfrm>
            <a:off x="490000" y="2411875"/>
            <a:ext cx="8812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2000" u="none" cap="none" strike="noStrike">
              <a:solidFill>
                <a:srgbClr val="000000"/>
              </a:solidFill>
              <a:latin typeface="Saira"/>
              <a:ea typeface="Saira"/>
              <a:cs typeface="Saira"/>
              <a:sym typeface="Saira"/>
            </a:endParaRPr>
          </a:p>
        </p:txBody>
      </p:sp>
      <p:pic>
        <p:nvPicPr>
          <p:cNvPr id="109" name="Google Shape;109;g2e0920f1d41_0_73"/>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110" name="Google Shape;110;g2e0920f1d41_0_73"/>
          <p:cNvSpPr txBox="1"/>
          <p:nvPr/>
        </p:nvSpPr>
        <p:spPr>
          <a:xfrm>
            <a:off x="327550" y="1584500"/>
            <a:ext cx="9137100" cy="12930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1200"/>
              </a:spcBef>
              <a:spcAft>
                <a:spcPts val="200"/>
              </a:spcAft>
              <a:buClr>
                <a:srgbClr val="000000"/>
              </a:buClr>
              <a:buSzPts val="1800"/>
              <a:buFont typeface="Arial"/>
              <a:buNone/>
            </a:pPr>
            <a:r>
              <a:rPr lang="es-AR" sz="1800">
                <a:solidFill>
                  <a:srgbClr val="0D0D0D"/>
                </a:solidFill>
                <a:highlight>
                  <a:srgbClr val="FFFFFF"/>
                </a:highlight>
                <a:latin typeface="Saira"/>
                <a:ea typeface="Saira"/>
                <a:cs typeface="Saira"/>
                <a:sym typeface="Saira"/>
              </a:rPr>
              <a:t>Para trabajar con archivos en Python, primero tenemos que abrir el archivo usando la función</a:t>
            </a:r>
            <a:r>
              <a:rPr lang="es-AR" sz="1800">
                <a:solidFill>
                  <a:srgbClr val="FF0000"/>
                </a:solidFill>
                <a:highlight>
                  <a:srgbClr val="FFFFFF"/>
                </a:highlight>
                <a:latin typeface="Saira"/>
                <a:ea typeface="Saira"/>
                <a:cs typeface="Saira"/>
                <a:sym typeface="Saira"/>
              </a:rPr>
              <a:t> open</a:t>
            </a:r>
            <a:r>
              <a:rPr lang="es-AR" sz="1800">
                <a:solidFill>
                  <a:srgbClr val="0D0D0D"/>
                </a:solidFill>
                <a:highlight>
                  <a:srgbClr val="FFFFFF"/>
                </a:highlight>
                <a:latin typeface="Saira"/>
                <a:ea typeface="Saira"/>
                <a:cs typeface="Saira"/>
                <a:sym typeface="Saira"/>
              </a:rPr>
              <a:t>(). Al abrir un archivo, Python crea una conexión entre el programa y el archivo en el disco.</a:t>
            </a:r>
            <a:endParaRPr b="0" i="0" sz="1800" u="none" cap="none" strike="noStrike">
              <a:solidFill>
                <a:srgbClr val="0D0D0D"/>
              </a:solidFill>
              <a:highlight>
                <a:srgbClr val="FFFFFF"/>
              </a:highlight>
              <a:latin typeface="Saira"/>
              <a:ea typeface="Saira"/>
              <a:cs typeface="Saira"/>
              <a:sym typeface="Saira"/>
            </a:endParaRPr>
          </a:p>
        </p:txBody>
      </p:sp>
      <p:pic>
        <p:nvPicPr>
          <p:cNvPr id="111" name="Google Shape;111;g2e0920f1d41_0_73"/>
          <p:cNvPicPr preferRelativeResize="0"/>
          <p:nvPr/>
        </p:nvPicPr>
        <p:blipFill>
          <a:blip r:embed="rId5">
            <a:alphaModFix/>
          </a:blip>
          <a:stretch>
            <a:fillRect/>
          </a:stretch>
        </p:blipFill>
        <p:spPr>
          <a:xfrm>
            <a:off x="3538658" y="2803588"/>
            <a:ext cx="4145576" cy="1250825"/>
          </a:xfrm>
          <a:prstGeom prst="rect">
            <a:avLst/>
          </a:prstGeom>
          <a:noFill/>
          <a:ln>
            <a:noFill/>
          </a:ln>
        </p:spPr>
      </p:pic>
      <p:sp>
        <p:nvSpPr>
          <p:cNvPr id="112" name="Google Shape;112;g2e0920f1d41_0_73"/>
          <p:cNvSpPr txBox="1"/>
          <p:nvPr/>
        </p:nvSpPr>
        <p:spPr>
          <a:xfrm>
            <a:off x="603675" y="4108850"/>
            <a:ext cx="9379200" cy="2062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1200"/>
              </a:spcBef>
              <a:spcAft>
                <a:spcPts val="0"/>
              </a:spcAft>
              <a:buClr>
                <a:srgbClr val="000000"/>
              </a:buClr>
              <a:buSzPts val="1800"/>
              <a:buFont typeface="Arial"/>
              <a:buNone/>
            </a:pPr>
            <a:r>
              <a:rPr lang="es-AR" sz="1200">
                <a:solidFill>
                  <a:srgbClr val="9900FF"/>
                </a:solidFill>
                <a:highlight>
                  <a:srgbClr val="FFFFFF"/>
                </a:highlight>
                <a:latin typeface="Saira"/>
                <a:ea typeface="Saira"/>
                <a:cs typeface="Saira"/>
                <a:sym typeface="Saira"/>
              </a:rPr>
              <a:t>nombre_archivo</a:t>
            </a:r>
            <a:r>
              <a:rPr lang="es-AR" sz="1200">
                <a:solidFill>
                  <a:srgbClr val="0D0D0D"/>
                </a:solidFill>
                <a:highlight>
                  <a:srgbClr val="FFFFFF"/>
                </a:highlight>
                <a:latin typeface="Saira"/>
                <a:ea typeface="Saira"/>
                <a:cs typeface="Saira"/>
                <a:sym typeface="Saira"/>
              </a:rPr>
              <a:t>: es el nombre del archivo que queremos abrir (incluyendo su ruta si no está en el mismo directorio).</a:t>
            </a:r>
            <a:endParaRPr sz="1200">
              <a:solidFill>
                <a:srgbClr val="0D0D0D"/>
              </a:solidFill>
              <a:highlight>
                <a:srgbClr val="FFFFFF"/>
              </a:highlight>
              <a:latin typeface="Saira"/>
              <a:ea typeface="Saira"/>
              <a:cs typeface="Saira"/>
              <a:sym typeface="Saira"/>
            </a:endParaRPr>
          </a:p>
          <a:p>
            <a:pPr indent="0" lvl="0" marL="0" marR="0" rtl="0" algn="l">
              <a:lnSpc>
                <a:spcPct val="150000"/>
              </a:lnSpc>
              <a:spcBef>
                <a:spcPts val="1200"/>
              </a:spcBef>
              <a:spcAft>
                <a:spcPts val="0"/>
              </a:spcAft>
              <a:buClr>
                <a:srgbClr val="000000"/>
              </a:buClr>
              <a:buSzPts val="1800"/>
              <a:buFont typeface="Arial"/>
              <a:buNone/>
            </a:pPr>
            <a:r>
              <a:rPr lang="es-AR" sz="1200">
                <a:solidFill>
                  <a:srgbClr val="0000FF"/>
                </a:solidFill>
                <a:highlight>
                  <a:srgbClr val="FFFFFF"/>
                </a:highlight>
                <a:latin typeface="Saira"/>
                <a:ea typeface="Saira"/>
                <a:cs typeface="Saira"/>
                <a:sym typeface="Saira"/>
              </a:rPr>
              <a:t>modo</a:t>
            </a:r>
            <a:r>
              <a:rPr lang="es-AR" sz="1200">
                <a:solidFill>
                  <a:srgbClr val="0D0D0D"/>
                </a:solidFill>
                <a:highlight>
                  <a:srgbClr val="FFFFFF"/>
                </a:highlight>
                <a:latin typeface="Saira"/>
                <a:ea typeface="Saira"/>
                <a:cs typeface="Saira"/>
                <a:sym typeface="Saira"/>
              </a:rPr>
              <a:t>: es una cadena de texto que especifica cómo queremos abrir el archivo. Los modos más comunes son:</a:t>
            </a:r>
            <a:endParaRPr sz="1200">
              <a:solidFill>
                <a:srgbClr val="0D0D0D"/>
              </a:solidFill>
              <a:highlight>
                <a:srgbClr val="FFFFFF"/>
              </a:highlight>
              <a:latin typeface="Saira"/>
              <a:ea typeface="Saira"/>
              <a:cs typeface="Saira"/>
              <a:sym typeface="Saira"/>
            </a:endParaRPr>
          </a:p>
          <a:p>
            <a:pPr indent="-304800" lvl="0" marL="457200" marR="0" rtl="0" algn="l">
              <a:lnSpc>
                <a:spcPct val="150000"/>
              </a:lnSpc>
              <a:spcBef>
                <a:spcPts val="1200"/>
              </a:spcBef>
              <a:spcAft>
                <a:spcPts val="0"/>
              </a:spcAft>
              <a:buClr>
                <a:srgbClr val="0D0D0D"/>
              </a:buClr>
              <a:buSzPts val="1200"/>
              <a:buFont typeface="Saira"/>
              <a:buChar char="●"/>
            </a:pPr>
            <a:r>
              <a:rPr lang="es-AR" sz="1200">
                <a:solidFill>
                  <a:srgbClr val="0D0D0D"/>
                </a:solidFill>
                <a:highlight>
                  <a:srgbClr val="FFFFFF"/>
                </a:highlight>
                <a:latin typeface="Saira"/>
                <a:ea typeface="Saira"/>
                <a:cs typeface="Saira"/>
                <a:sym typeface="Saira"/>
              </a:rPr>
              <a:t>'</a:t>
            </a:r>
            <a:r>
              <a:rPr lang="es-AR" sz="1200">
                <a:solidFill>
                  <a:srgbClr val="0D0D0D"/>
                </a:solidFill>
                <a:highlight>
                  <a:srgbClr val="FFFFFF"/>
                </a:highlight>
                <a:latin typeface="Saira"/>
                <a:ea typeface="Saira"/>
                <a:cs typeface="Saira"/>
                <a:sym typeface="Saira"/>
              </a:rPr>
              <a:t>r': lectura (modo por defecto).</a:t>
            </a:r>
            <a:endParaRPr sz="1200">
              <a:solidFill>
                <a:srgbClr val="0D0D0D"/>
              </a:solidFill>
              <a:highlight>
                <a:srgbClr val="FFFFFF"/>
              </a:highlight>
              <a:latin typeface="Saira"/>
              <a:ea typeface="Saira"/>
              <a:cs typeface="Saira"/>
              <a:sym typeface="Saira"/>
            </a:endParaRPr>
          </a:p>
          <a:p>
            <a:pPr indent="-304800" lvl="0" marL="457200" marR="0" rtl="0" algn="l">
              <a:lnSpc>
                <a:spcPct val="150000"/>
              </a:lnSpc>
              <a:spcBef>
                <a:spcPts val="0"/>
              </a:spcBef>
              <a:spcAft>
                <a:spcPts val="0"/>
              </a:spcAft>
              <a:buClr>
                <a:srgbClr val="0D0D0D"/>
              </a:buClr>
              <a:buSzPts val="1200"/>
              <a:buFont typeface="Saira"/>
              <a:buChar char="●"/>
            </a:pPr>
            <a:r>
              <a:rPr lang="es-AR" sz="1200">
                <a:solidFill>
                  <a:srgbClr val="0D0D0D"/>
                </a:solidFill>
                <a:highlight>
                  <a:srgbClr val="FFFFFF"/>
                </a:highlight>
                <a:latin typeface="Saira"/>
                <a:ea typeface="Saira"/>
                <a:cs typeface="Saira"/>
                <a:sym typeface="Saira"/>
              </a:rPr>
              <a:t>'w': escritura, sobreescribiendo el archivo si ya existe o creándolo si no.</a:t>
            </a:r>
            <a:endParaRPr sz="1200">
              <a:solidFill>
                <a:srgbClr val="0D0D0D"/>
              </a:solidFill>
              <a:highlight>
                <a:srgbClr val="FFFFFF"/>
              </a:highlight>
              <a:latin typeface="Saira"/>
              <a:ea typeface="Saira"/>
              <a:cs typeface="Saira"/>
              <a:sym typeface="Saira"/>
            </a:endParaRPr>
          </a:p>
          <a:p>
            <a:pPr indent="-304800" lvl="0" marL="457200" marR="0" rtl="0" algn="l">
              <a:lnSpc>
                <a:spcPct val="150000"/>
              </a:lnSpc>
              <a:spcBef>
                <a:spcPts val="0"/>
              </a:spcBef>
              <a:spcAft>
                <a:spcPts val="0"/>
              </a:spcAft>
              <a:buClr>
                <a:srgbClr val="0D0D0D"/>
              </a:buClr>
              <a:buSzPts val="1200"/>
              <a:buFont typeface="Saira"/>
              <a:buChar char="●"/>
            </a:pPr>
            <a:r>
              <a:rPr lang="es-AR" sz="1200">
                <a:solidFill>
                  <a:srgbClr val="0D0D0D"/>
                </a:solidFill>
                <a:highlight>
                  <a:srgbClr val="FFFFFF"/>
                </a:highlight>
                <a:latin typeface="Saira"/>
                <a:ea typeface="Saira"/>
                <a:cs typeface="Saira"/>
                <a:sym typeface="Saira"/>
              </a:rPr>
              <a:t>'a': anexar, para agregar datos al final del archivo sin borrar su contenido.</a:t>
            </a:r>
            <a:endParaRPr sz="1200">
              <a:solidFill>
                <a:srgbClr val="0D0D0D"/>
              </a:solidFill>
              <a:highlight>
                <a:srgbClr val="FFFFFF"/>
              </a:highlight>
              <a:latin typeface="Saira"/>
              <a:ea typeface="Saira"/>
              <a:cs typeface="Saira"/>
              <a:sym typeface="Saira"/>
            </a:endParaRPr>
          </a:p>
          <a:p>
            <a:pPr indent="-304800" lvl="0" marL="457200" marR="0" rtl="0" algn="l">
              <a:lnSpc>
                <a:spcPct val="150000"/>
              </a:lnSpc>
              <a:spcBef>
                <a:spcPts val="0"/>
              </a:spcBef>
              <a:spcAft>
                <a:spcPts val="0"/>
              </a:spcAft>
              <a:buClr>
                <a:srgbClr val="0D0D0D"/>
              </a:buClr>
              <a:buSzPts val="1200"/>
              <a:buFont typeface="Saira"/>
              <a:buChar char="●"/>
            </a:pPr>
            <a:r>
              <a:rPr lang="es-AR" sz="1200">
                <a:solidFill>
                  <a:srgbClr val="0D0D0D"/>
                </a:solidFill>
                <a:highlight>
                  <a:srgbClr val="FFFFFF"/>
                </a:highlight>
                <a:latin typeface="Saira"/>
                <a:ea typeface="Saira"/>
                <a:cs typeface="Saira"/>
                <a:sym typeface="Saira"/>
              </a:rPr>
              <a:t>'b': modo binario, que se usa en conjunto con otros modos (por ejemplo, 'rb' para lectura en modo binario).</a:t>
            </a:r>
            <a:endParaRPr sz="1200">
              <a:solidFill>
                <a:srgbClr val="0D0D0D"/>
              </a:solidFill>
              <a:highlight>
                <a:srgbClr val="FFFFFF"/>
              </a:highlight>
              <a:latin typeface="Saira"/>
              <a:ea typeface="Saira"/>
              <a:cs typeface="Saira"/>
              <a:sym typeface="Sair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30c34938e9c_0_2"/>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Ejemplo</a:t>
            </a:r>
            <a:endParaRPr b="0" i="0" sz="4200" u="none" cap="none" strike="noStrike">
              <a:solidFill>
                <a:schemeClr val="dk1"/>
              </a:solidFill>
              <a:latin typeface="Saira"/>
              <a:ea typeface="Saira"/>
              <a:cs typeface="Saira"/>
              <a:sym typeface="Saira"/>
            </a:endParaRPr>
          </a:p>
        </p:txBody>
      </p:sp>
      <p:pic>
        <p:nvPicPr>
          <p:cNvPr id="118" name="Google Shape;118;g30c34938e9c_0_2"/>
          <p:cNvPicPr preferRelativeResize="0"/>
          <p:nvPr/>
        </p:nvPicPr>
        <p:blipFill rotWithShape="1">
          <a:blip r:embed="rId3">
            <a:alphaModFix/>
          </a:blip>
          <a:srcRect b="30668" l="23553" r="22731" t="29911"/>
          <a:stretch/>
        </p:blipFill>
        <p:spPr>
          <a:xfrm>
            <a:off x="8791460" y="390327"/>
            <a:ext cx="2959467" cy="1085934"/>
          </a:xfrm>
          <a:prstGeom prst="rect">
            <a:avLst/>
          </a:prstGeom>
          <a:noFill/>
          <a:ln>
            <a:noFill/>
          </a:ln>
        </p:spPr>
      </p:pic>
      <p:sp>
        <p:nvSpPr>
          <p:cNvPr id="119" name="Google Shape;119;g30c34938e9c_0_2"/>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120" name="Google Shape;120;g30c34938e9c_0_2"/>
          <p:cNvSpPr txBox="1"/>
          <p:nvPr/>
        </p:nvSpPr>
        <p:spPr>
          <a:xfrm>
            <a:off x="490000" y="2411875"/>
            <a:ext cx="8812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2000" u="none" cap="none" strike="noStrike">
              <a:solidFill>
                <a:srgbClr val="000000"/>
              </a:solidFill>
              <a:latin typeface="Saira"/>
              <a:ea typeface="Saira"/>
              <a:cs typeface="Saira"/>
              <a:sym typeface="Saira"/>
            </a:endParaRPr>
          </a:p>
        </p:txBody>
      </p:sp>
      <p:pic>
        <p:nvPicPr>
          <p:cNvPr id="121" name="Google Shape;121;g30c34938e9c_0_2"/>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122" name="Google Shape;122;g30c34938e9c_0_2"/>
          <p:cNvSpPr txBox="1"/>
          <p:nvPr/>
        </p:nvSpPr>
        <p:spPr>
          <a:xfrm>
            <a:off x="888200" y="3840088"/>
            <a:ext cx="9137100" cy="877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1200"/>
              </a:spcBef>
              <a:spcAft>
                <a:spcPts val="200"/>
              </a:spcAft>
              <a:buClr>
                <a:schemeClr val="dk1"/>
              </a:buClr>
              <a:buSzPts val="1800"/>
              <a:buFont typeface="Arial"/>
              <a:buNone/>
            </a:pPr>
            <a:r>
              <a:rPr lang="es-AR" sz="1800">
                <a:solidFill>
                  <a:srgbClr val="FF0000"/>
                </a:solidFill>
                <a:highlight>
                  <a:schemeClr val="lt1"/>
                </a:highlight>
                <a:latin typeface="Saira"/>
                <a:ea typeface="Saira"/>
                <a:cs typeface="Saira"/>
                <a:sym typeface="Saira"/>
              </a:rPr>
              <a:t>Nota</a:t>
            </a:r>
            <a:r>
              <a:rPr lang="es-AR" sz="1800">
                <a:solidFill>
                  <a:srgbClr val="0D0D0D"/>
                </a:solidFill>
                <a:highlight>
                  <a:schemeClr val="lt1"/>
                </a:highlight>
                <a:latin typeface="Saira"/>
                <a:ea typeface="Saira"/>
                <a:cs typeface="Saira"/>
                <a:sym typeface="Saira"/>
              </a:rPr>
              <a:t>: Cuando trabajamos con archivos en Python, es importante cerrarlos al terminar para liberar recursos del sistema. Esto se hace con </a:t>
            </a:r>
            <a:r>
              <a:rPr lang="es-AR" sz="1800">
                <a:solidFill>
                  <a:srgbClr val="FF0000"/>
                </a:solidFill>
                <a:highlight>
                  <a:schemeClr val="lt1"/>
                </a:highlight>
                <a:latin typeface="Saira"/>
                <a:ea typeface="Saira"/>
                <a:cs typeface="Saira"/>
                <a:sym typeface="Saira"/>
              </a:rPr>
              <a:t>archivo.close</a:t>
            </a:r>
            <a:r>
              <a:rPr lang="es-AR" sz="1800">
                <a:solidFill>
                  <a:srgbClr val="0D0D0D"/>
                </a:solidFill>
                <a:highlight>
                  <a:schemeClr val="lt1"/>
                </a:highlight>
                <a:latin typeface="Saira"/>
                <a:ea typeface="Saira"/>
                <a:cs typeface="Saira"/>
                <a:sym typeface="Saira"/>
              </a:rPr>
              <a:t>().</a:t>
            </a:r>
            <a:endParaRPr b="0" i="0" sz="1800" u="none" cap="none" strike="noStrike">
              <a:solidFill>
                <a:srgbClr val="0D0D0D"/>
              </a:solidFill>
              <a:highlight>
                <a:schemeClr val="lt1"/>
              </a:highlight>
              <a:latin typeface="Saira"/>
              <a:ea typeface="Saira"/>
              <a:cs typeface="Saira"/>
              <a:sym typeface="Saira"/>
            </a:endParaRPr>
          </a:p>
        </p:txBody>
      </p:sp>
      <p:pic>
        <p:nvPicPr>
          <p:cNvPr id="123" name="Google Shape;123;g30c34938e9c_0_2"/>
          <p:cNvPicPr preferRelativeResize="0"/>
          <p:nvPr/>
        </p:nvPicPr>
        <p:blipFill>
          <a:blip r:embed="rId5">
            <a:alphaModFix/>
          </a:blip>
          <a:stretch>
            <a:fillRect/>
          </a:stretch>
        </p:blipFill>
        <p:spPr>
          <a:xfrm>
            <a:off x="1224513" y="2023950"/>
            <a:ext cx="8464467" cy="16690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30c34938e9c_0_28"/>
          <p:cNvSpPr txBox="1"/>
          <p:nvPr/>
        </p:nvSpPr>
        <p:spPr>
          <a:xfrm>
            <a:off x="319439" y="990221"/>
            <a:ext cx="8472000" cy="677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800">
                <a:solidFill>
                  <a:schemeClr val="dk1"/>
                </a:solidFill>
                <a:latin typeface="Saira"/>
                <a:ea typeface="Saira"/>
                <a:cs typeface="Saira"/>
                <a:sym typeface="Saira"/>
              </a:rPr>
              <a:t>Leer archivos</a:t>
            </a:r>
            <a:endParaRPr b="0" i="0" sz="3400" u="none" cap="none" strike="noStrike">
              <a:solidFill>
                <a:schemeClr val="dk1"/>
              </a:solidFill>
              <a:latin typeface="Saira"/>
              <a:ea typeface="Saira"/>
              <a:cs typeface="Saira"/>
              <a:sym typeface="Saira"/>
            </a:endParaRPr>
          </a:p>
        </p:txBody>
      </p:sp>
      <p:pic>
        <p:nvPicPr>
          <p:cNvPr id="129" name="Google Shape;129;g30c34938e9c_0_28"/>
          <p:cNvPicPr preferRelativeResize="0"/>
          <p:nvPr/>
        </p:nvPicPr>
        <p:blipFill rotWithShape="1">
          <a:blip r:embed="rId3">
            <a:alphaModFix/>
          </a:blip>
          <a:srcRect b="30668" l="23553" r="22731" t="29911"/>
          <a:stretch/>
        </p:blipFill>
        <p:spPr>
          <a:xfrm>
            <a:off x="8791460" y="390327"/>
            <a:ext cx="2959467" cy="1085934"/>
          </a:xfrm>
          <a:prstGeom prst="rect">
            <a:avLst/>
          </a:prstGeom>
          <a:noFill/>
          <a:ln>
            <a:noFill/>
          </a:ln>
        </p:spPr>
      </p:pic>
      <p:sp>
        <p:nvSpPr>
          <p:cNvPr id="130" name="Google Shape;130;g30c34938e9c_0_28"/>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131" name="Google Shape;131;g30c34938e9c_0_28"/>
          <p:cNvSpPr txBox="1"/>
          <p:nvPr/>
        </p:nvSpPr>
        <p:spPr>
          <a:xfrm>
            <a:off x="490000" y="2411875"/>
            <a:ext cx="8812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2000" u="none" cap="none" strike="noStrike">
              <a:solidFill>
                <a:srgbClr val="000000"/>
              </a:solidFill>
              <a:latin typeface="Saira"/>
              <a:ea typeface="Saira"/>
              <a:cs typeface="Saira"/>
              <a:sym typeface="Saira"/>
            </a:endParaRPr>
          </a:p>
        </p:txBody>
      </p:sp>
      <p:pic>
        <p:nvPicPr>
          <p:cNvPr id="132" name="Google Shape;132;g30c34938e9c_0_28"/>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133" name="Google Shape;133;g30c34938e9c_0_28"/>
          <p:cNvSpPr txBox="1"/>
          <p:nvPr/>
        </p:nvSpPr>
        <p:spPr>
          <a:xfrm>
            <a:off x="327550" y="1774175"/>
            <a:ext cx="9137100" cy="18009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None/>
            </a:pPr>
            <a:r>
              <a:rPr lang="es-AR" sz="1500">
                <a:solidFill>
                  <a:srgbClr val="0D0D0D"/>
                </a:solidFill>
                <a:highlight>
                  <a:schemeClr val="lt1"/>
                </a:highlight>
                <a:latin typeface="Saira"/>
                <a:ea typeface="Saira"/>
                <a:cs typeface="Saira"/>
                <a:sym typeface="Saira"/>
              </a:rPr>
              <a:t>Para leer el contenido de un archivo, existen tres métodos principales:</a:t>
            </a:r>
            <a:endParaRPr sz="1500">
              <a:solidFill>
                <a:srgbClr val="0D0D0D"/>
              </a:solidFill>
              <a:highlight>
                <a:schemeClr val="lt1"/>
              </a:highlight>
              <a:latin typeface="Saira"/>
              <a:ea typeface="Saira"/>
              <a:cs typeface="Saira"/>
              <a:sym typeface="Saira"/>
            </a:endParaRPr>
          </a:p>
          <a:p>
            <a:pPr indent="-323850" lvl="0" marL="457200" marR="0" rtl="0" algn="l">
              <a:lnSpc>
                <a:spcPct val="150000"/>
              </a:lnSpc>
              <a:spcBef>
                <a:spcPts val="0"/>
              </a:spcBef>
              <a:spcAft>
                <a:spcPts val="0"/>
              </a:spcAft>
              <a:buClr>
                <a:srgbClr val="0D0D0D"/>
              </a:buClr>
              <a:buSzPts val="1500"/>
              <a:buFont typeface="Saira"/>
              <a:buChar char="●"/>
            </a:pPr>
            <a:r>
              <a:rPr lang="es-AR" sz="1500">
                <a:solidFill>
                  <a:srgbClr val="0D0D0D"/>
                </a:solidFill>
                <a:highlight>
                  <a:schemeClr val="lt1"/>
                </a:highlight>
                <a:latin typeface="Saira"/>
                <a:ea typeface="Saira"/>
                <a:cs typeface="Saira"/>
                <a:sym typeface="Saira"/>
              </a:rPr>
              <a:t>read(): Lee todo el contenido del archivo y lo devuelve como una cadena.</a:t>
            </a:r>
            <a:endParaRPr sz="1500">
              <a:solidFill>
                <a:srgbClr val="0D0D0D"/>
              </a:solidFill>
              <a:highlight>
                <a:schemeClr val="lt1"/>
              </a:highlight>
              <a:latin typeface="Saira"/>
              <a:ea typeface="Saira"/>
              <a:cs typeface="Saira"/>
              <a:sym typeface="Saira"/>
            </a:endParaRPr>
          </a:p>
          <a:p>
            <a:pPr indent="-323850" lvl="0" marL="457200" marR="0" rtl="0" algn="l">
              <a:lnSpc>
                <a:spcPct val="150000"/>
              </a:lnSpc>
              <a:spcBef>
                <a:spcPts val="0"/>
              </a:spcBef>
              <a:spcAft>
                <a:spcPts val="0"/>
              </a:spcAft>
              <a:buClr>
                <a:srgbClr val="0D0D0D"/>
              </a:buClr>
              <a:buSzPts val="1500"/>
              <a:buFont typeface="Saira"/>
              <a:buChar char="●"/>
            </a:pPr>
            <a:r>
              <a:rPr lang="es-AR" sz="1500">
                <a:solidFill>
                  <a:srgbClr val="0D0D0D"/>
                </a:solidFill>
                <a:highlight>
                  <a:schemeClr val="lt1"/>
                </a:highlight>
                <a:latin typeface="Saira"/>
                <a:ea typeface="Saira"/>
                <a:cs typeface="Saira"/>
                <a:sym typeface="Saira"/>
              </a:rPr>
              <a:t>readline(): Lee una línea del archivo.</a:t>
            </a:r>
            <a:endParaRPr sz="1500">
              <a:solidFill>
                <a:srgbClr val="0D0D0D"/>
              </a:solidFill>
              <a:highlight>
                <a:schemeClr val="lt1"/>
              </a:highlight>
              <a:latin typeface="Saira"/>
              <a:ea typeface="Saira"/>
              <a:cs typeface="Saira"/>
              <a:sym typeface="Saira"/>
            </a:endParaRPr>
          </a:p>
          <a:p>
            <a:pPr indent="-323850" lvl="0" marL="457200" marR="0" rtl="0" algn="l">
              <a:lnSpc>
                <a:spcPct val="150000"/>
              </a:lnSpc>
              <a:spcBef>
                <a:spcPts val="0"/>
              </a:spcBef>
              <a:spcAft>
                <a:spcPts val="0"/>
              </a:spcAft>
              <a:buClr>
                <a:srgbClr val="0D0D0D"/>
              </a:buClr>
              <a:buSzPts val="1500"/>
              <a:buFont typeface="Saira"/>
              <a:buChar char="●"/>
            </a:pPr>
            <a:r>
              <a:rPr lang="es-AR" sz="1500">
                <a:solidFill>
                  <a:srgbClr val="0D0D0D"/>
                </a:solidFill>
                <a:highlight>
                  <a:schemeClr val="lt1"/>
                </a:highlight>
                <a:latin typeface="Saira"/>
                <a:ea typeface="Saira"/>
                <a:cs typeface="Saira"/>
                <a:sym typeface="Saira"/>
              </a:rPr>
              <a:t>readlines(): Lee todas las líneas y devuelve una lista de cadenas, cada una representando una línea del archivo.</a:t>
            </a:r>
            <a:endParaRPr sz="1500">
              <a:solidFill>
                <a:srgbClr val="0D0D0D"/>
              </a:solidFill>
              <a:highlight>
                <a:schemeClr val="lt1"/>
              </a:highlight>
              <a:latin typeface="Saira"/>
              <a:ea typeface="Saira"/>
              <a:cs typeface="Saira"/>
              <a:sym typeface="Saira"/>
            </a:endParaRPr>
          </a:p>
        </p:txBody>
      </p:sp>
      <p:pic>
        <p:nvPicPr>
          <p:cNvPr id="134" name="Google Shape;134;g30c34938e9c_0_28"/>
          <p:cNvPicPr preferRelativeResize="0"/>
          <p:nvPr/>
        </p:nvPicPr>
        <p:blipFill>
          <a:blip r:embed="rId5">
            <a:alphaModFix/>
          </a:blip>
          <a:stretch>
            <a:fillRect/>
          </a:stretch>
        </p:blipFill>
        <p:spPr>
          <a:xfrm>
            <a:off x="1552350" y="3521200"/>
            <a:ext cx="8118190" cy="24583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2d535835f33_0_19"/>
          <p:cNvSpPr txBox="1"/>
          <p:nvPr/>
        </p:nvSpPr>
        <p:spPr>
          <a:xfrm>
            <a:off x="319439" y="990221"/>
            <a:ext cx="8472000" cy="677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800">
                <a:solidFill>
                  <a:schemeClr val="dk1"/>
                </a:solidFill>
                <a:latin typeface="Saira"/>
                <a:ea typeface="Saira"/>
                <a:cs typeface="Saira"/>
                <a:sym typeface="Saira"/>
              </a:rPr>
              <a:t>Leer archivos</a:t>
            </a:r>
            <a:endParaRPr b="0" i="0" sz="3400" u="none" cap="none" strike="noStrike">
              <a:solidFill>
                <a:schemeClr val="dk1"/>
              </a:solidFill>
              <a:latin typeface="Saira"/>
              <a:ea typeface="Saira"/>
              <a:cs typeface="Saira"/>
              <a:sym typeface="Saira"/>
            </a:endParaRPr>
          </a:p>
        </p:txBody>
      </p:sp>
      <p:pic>
        <p:nvPicPr>
          <p:cNvPr id="140" name="Google Shape;140;g2d535835f33_0_19"/>
          <p:cNvPicPr preferRelativeResize="0"/>
          <p:nvPr/>
        </p:nvPicPr>
        <p:blipFill rotWithShape="1">
          <a:blip r:embed="rId3">
            <a:alphaModFix/>
          </a:blip>
          <a:srcRect b="30665" l="23555" r="22727" t="29912"/>
          <a:stretch/>
        </p:blipFill>
        <p:spPr>
          <a:xfrm>
            <a:off x="8791460" y="390327"/>
            <a:ext cx="2959467" cy="1085934"/>
          </a:xfrm>
          <a:prstGeom prst="rect">
            <a:avLst/>
          </a:prstGeom>
          <a:noFill/>
          <a:ln>
            <a:noFill/>
          </a:ln>
        </p:spPr>
      </p:pic>
      <p:sp>
        <p:nvSpPr>
          <p:cNvPr id="141" name="Google Shape;141;g2d535835f33_0_19"/>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142" name="Google Shape;142;g2d535835f33_0_19"/>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143" name="Google Shape;143;g2d535835f33_0_19"/>
          <p:cNvSpPr txBox="1"/>
          <p:nvPr/>
        </p:nvSpPr>
        <p:spPr>
          <a:xfrm>
            <a:off x="327550" y="1774175"/>
            <a:ext cx="91371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None/>
            </a:pPr>
            <a:r>
              <a:rPr lang="es-AR" sz="1500">
                <a:solidFill>
                  <a:srgbClr val="0D0D0D"/>
                </a:solidFill>
                <a:highlight>
                  <a:schemeClr val="lt1"/>
                </a:highlight>
                <a:latin typeface="Saira"/>
                <a:ea typeface="Saira"/>
                <a:cs typeface="Saira"/>
                <a:sym typeface="Saira"/>
              </a:rPr>
              <a:t>Supongamos que tenemos un archivo datos.txt con el siguiente contenido:</a:t>
            </a:r>
            <a:endParaRPr sz="1500">
              <a:solidFill>
                <a:srgbClr val="0D0D0D"/>
              </a:solidFill>
              <a:highlight>
                <a:schemeClr val="lt1"/>
              </a:highlight>
              <a:latin typeface="Saira"/>
              <a:ea typeface="Saira"/>
              <a:cs typeface="Saira"/>
              <a:sym typeface="Saira"/>
            </a:endParaRPr>
          </a:p>
        </p:txBody>
      </p:sp>
      <p:pic>
        <p:nvPicPr>
          <p:cNvPr id="144" name="Google Shape;144;g2d535835f33_0_19"/>
          <p:cNvPicPr preferRelativeResize="0"/>
          <p:nvPr/>
        </p:nvPicPr>
        <p:blipFill>
          <a:blip r:embed="rId5">
            <a:alphaModFix/>
          </a:blip>
          <a:stretch>
            <a:fillRect/>
          </a:stretch>
        </p:blipFill>
        <p:spPr>
          <a:xfrm>
            <a:off x="3456163" y="2189675"/>
            <a:ext cx="4310575" cy="1784851"/>
          </a:xfrm>
          <a:prstGeom prst="rect">
            <a:avLst/>
          </a:prstGeom>
          <a:noFill/>
          <a:ln>
            <a:noFill/>
          </a:ln>
        </p:spPr>
      </p:pic>
      <p:sp>
        <p:nvSpPr>
          <p:cNvPr id="145" name="Google Shape;145;g2d535835f33_0_19"/>
          <p:cNvSpPr txBox="1"/>
          <p:nvPr/>
        </p:nvSpPr>
        <p:spPr>
          <a:xfrm>
            <a:off x="327550" y="3886000"/>
            <a:ext cx="91371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None/>
            </a:pPr>
            <a:r>
              <a:rPr lang="es-AR" sz="1500">
                <a:solidFill>
                  <a:srgbClr val="0D0D0D"/>
                </a:solidFill>
                <a:highlight>
                  <a:schemeClr val="lt1"/>
                </a:highlight>
                <a:latin typeface="Saira"/>
                <a:ea typeface="Saira"/>
                <a:cs typeface="Saira"/>
                <a:sym typeface="Saira"/>
              </a:rPr>
              <a:t>Para leer cada línea de este archivo:</a:t>
            </a:r>
            <a:endParaRPr sz="1500">
              <a:solidFill>
                <a:srgbClr val="0D0D0D"/>
              </a:solidFill>
              <a:highlight>
                <a:schemeClr val="lt1"/>
              </a:highlight>
              <a:latin typeface="Saira"/>
              <a:ea typeface="Saira"/>
              <a:cs typeface="Saira"/>
              <a:sym typeface="Saira"/>
            </a:endParaRPr>
          </a:p>
        </p:txBody>
      </p:sp>
      <p:pic>
        <p:nvPicPr>
          <p:cNvPr id="146" name="Google Shape;146;g2d535835f33_0_19"/>
          <p:cNvPicPr preferRelativeResize="0"/>
          <p:nvPr/>
        </p:nvPicPr>
        <p:blipFill>
          <a:blip r:embed="rId6">
            <a:alphaModFix/>
          </a:blip>
          <a:stretch>
            <a:fillRect/>
          </a:stretch>
        </p:blipFill>
        <p:spPr>
          <a:xfrm>
            <a:off x="2792450" y="4453900"/>
            <a:ext cx="5734710" cy="1731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2d535835f33_0_34"/>
          <p:cNvSpPr txBox="1"/>
          <p:nvPr/>
        </p:nvSpPr>
        <p:spPr>
          <a:xfrm>
            <a:off x="319439" y="990221"/>
            <a:ext cx="8472000" cy="677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800">
                <a:solidFill>
                  <a:schemeClr val="dk1"/>
                </a:solidFill>
                <a:latin typeface="Saira"/>
                <a:ea typeface="Saira"/>
                <a:cs typeface="Saira"/>
                <a:sym typeface="Saira"/>
              </a:rPr>
              <a:t>Escribir en archivos</a:t>
            </a:r>
            <a:endParaRPr b="0" i="0" sz="3400" u="none" cap="none" strike="noStrike">
              <a:solidFill>
                <a:schemeClr val="dk1"/>
              </a:solidFill>
              <a:latin typeface="Saira"/>
              <a:ea typeface="Saira"/>
              <a:cs typeface="Saira"/>
              <a:sym typeface="Saira"/>
            </a:endParaRPr>
          </a:p>
        </p:txBody>
      </p:sp>
      <p:pic>
        <p:nvPicPr>
          <p:cNvPr id="152" name="Google Shape;152;g2d535835f33_0_34"/>
          <p:cNvPicPr preferRelativeResize="0"/>
          <p:nvPr/>
        </p:nvPicPr>
        <p:blipFill rotWithShape="1">
          <a:blip r:embed="rId3">
            <a:alphaModFix/>
          </a:blip>
          <a:srcRect b="30665" l="23555" r="22727" t="29912"/>
          <a:stretch/>
        </p:blipFill>
        <p:spPr>
          <a:xfrm>
            <a:off x="8791460" y="390327"/>
            <a:ext cx="2959467" cy="1085934"/>
          </a:xfrm>
          <a:prstGeom prst="rect">
            <a:avLst/>
          </a:prstGeom>
          <a:noFill/>
          <a:ln>
            <a:noFill/>
          </a:ln>
        </p:spPr>
      </p:pic>
      <p:sp>
        <p:nvSpPr>
          <p:cNvPr id="153" name="Google Shape;153;g2d535835f33_0_34"/>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154" name="Google Shape;154;g2d535835f33_0_34"/>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155" name="Google Shape;155;g2d535835f33_0_34"/>
          <p:cNvSpPr txBox="1"/>
          <p:nvPr/>
        </p:nvSpPr>
        <p:spPr>
          <a:xfrm>
            <a:off x="327550" y="1774175"/>
            <a:ext cx="9137100" cy="1454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None/>
            </a:pPr>
            <a:r>
              <a:rPr lang="es-AR" sz="1500">
                <a:solidFill>
                  <a:srgbClr val="0D0D0D"/>
                </a:solidFill>
                <a:highlight>
                  <a:schemeClr val="lt1"/>
                </a:highlight>
                <a:latin typeface="Saira"/>
                <a:ea typeface="Saira"/>
                <a:cs typeface="Saira"/>
                <a:sym typeface="Saira"/>
              </a:rPr>
              <a:t>Al escribir en archivos, tenemos dos opciones principales:</a:t>
            </a:r>
            <a:endParaRPr sz="1500">
              <a:solidFill>
                <a:srgbClr val="0D0D0D"/>
              </a:solidFill>
              <a:highlight>
                <a:schemeClr val="lt1"/>
              </a:highlight>
              <a:latin typeface="Saira"/>
              <a:ea typeface="Saira"/>
              <a:cs typeface="Saira"/>
              <a:sym typeface="Saira"/>
            </a:endParaRPr>
          </a:p>
          <a:p>
            <a:pPr indent="-323850" lvl="0" marL="457200" marR="0" rtl="0" algn="l">
              <a:lnSpc>
                <a:spcPct val="150000"/>
              </a:lnSpc>
              <a:spcBef>
                <a:spcPts val="0"/>
              </a:spcBef>
              <a:spcAft>
                <a:spcPts val="0"/>
              </a:spcAft>
              <a:buClr>
                <a:srgbClr val="0D0D0D"/>
              </a:buClr>
              <a:buSzPts val="1500"/>
              <a:buFont typeface="Saira"/>
              <a:buChar char="●"/>
            </a:pPr>
            <a:r>
              <a:rPr lang="es-AR" sz="1500">
                <a:solidFill>
                  <a:srgbClr val="0D0D0D"/>
                </a:solidFill>
                <a:highlight>
                  <a:schemeClr val="lt1"/>
                </a:highlight>
                <a:latin typeface="Saira"/>
                <a:ea typeface="Saira"/>
                <a:cs typeface="Saira"/>
                <a:sym typeface="Saira"/>
              </a:rPr>
              <a:t>Modo 'w': Escribe sobre el archivo. Si el archivo ya existe, borra el contenido.</a:t>
            </a:r>
            <a:endParaRPr sz="1500">
              <a:solidFill>
                <a:srgbClr val="0D0D0D"/>
              </a:solidFill>
              <a:highlight>
                <a:schemeClr val="lt1"/>
              </a:highlight>
              <a:latin typeface="Saira"/>
              <a:ea typeface="Saira"/>
              <a:cs typeface="Saira"/>
              <a:sym typeface="Saira"/>
            </a:endParaRPr>
          </a:p>
          <a:p>
            <a:pPr indent="-323850" lvl="0" marL="457200" marR="0" rtl="0" algn="l">
              <a:lnSpc>
                <a:spcPct val="150000"/>
              </a:lnSpc>
              <a:spcBef>
                <a:spcPts val="0"/>
              </a:spcBef>
              <a:spcAft>
                <a:spcPts val="0"/>
              </a:spcAft>
              <a:buClr>
                <a:srgbClr val="0D0D0D"/>
              </a:buClr>
              <a:buSzPts val="1500"/>
              <a:buFont typeface="Saira"/>
              <a:buChar char="●"/>
            </a:pPr>
            <a:r>
              <a:rPr lang="es-AR" sz="1500">
                <a:solidFill>
                  <a:srgbClr val="0D0D0D"/>
                </a:solidFill>
                <a:highlight>
                  <a:schemeClr val="lt1"/>
                </a:highlight>
                <a:latin typeface="Saira"/>
                <a:ea typeface="Saira"/>
                <a:cs typeface="Saira"/>
                <a:sym typeface="Saira"/>
              </a:rPr>
              <a:t>Modo 'a': Escribe al final del archivo, sin borrar el contenido existente.</a:t>
            </a:r>
            <a:endParaRPr sz="1500">
              <a:solidFill>
                <a:srgbClr val="0D0D0D"/>
              </a:solidFill>
              <a:highlight>
                <a:schemeClr val="lt1"/>
              </a:highlight>
              <a:latin typeface="Saira"/>
              <a:ea typeface="Saira"/>
              <a:cs typeface="Saira"/>
              <a:sym typeface="Saira"/>
            </a:endParaRPr>
          </a:p>
          <a:p>
            <a:pPr indent="0" lvl="0" marL="0" marR="0" rtl="0" algn="l">
              <a:lnSpc>
                <a:spcPct val="150000"/>
              </a:lnSpc>
              <a:spcBef>
                <a:spcPts val="0"/>
              </a:spcBef>
              <a:spcAft>
                <a:spcPts val="0"/>
              </a:spcAft>
              <a:buNone/>
            </a:pPr>
            <a:r>
              <a:rPr lang="es-AR" sz="1500">
                <a:solidFill>
                  <a:srgbClr val="0D0D0D"/>
                </a:solidFill>
                <a:highlight>
                  <a:schemeClr val="lt1"/>
                </a:highlight>
                <a:latin typeface="Saira"/>
                <a:ea typeface="Saira"/>
                <a:cs typeface="Saira"/>
                <a:sym typeface="Saira"/>
              </a:rPr>
              <a:t>Para escribir en un archivo, se utiliza el método </a:t>
            </a:r>
            <a:r>
              <a:rPr lang="es-AR" sz="1500">
                <a:solidFill>
                  <a:srgbClr val="FF0000"/>
                </a:solidFill>
                <a:highlight>
                  <a:schemeClr val="lt1"/>
                </a:highlight>
                <a:latin typeface="Saira"/>
                <a:ea typeface="Saira"/>
                <a:cs typeface="Saira"/>
                <a:sym typeface="Saira"/>
              </a:rPr>
              <a:t>write</a:t>
            </a:r>
            <a:r>
              <a:rPr lang="es-AR" sz="1500">
                <a:solidFill>
                  <a:srgbClr val="0D0D0D"/>
                </a:solidFill>
                <a:highlight>
                  <a:schemeClr val="lt1"/>
                </a:highlight>
                <a:latin typeface="Saira"/>
                <a:ea typeface="Saira"/>
                <a:cs typeface="Saira"/>
                <a:sym typeface="Saira"/>
              </a:rPr>
              <a:t>().</a:t>
            </a:r>
            <a:endParaRPr sz="1500">
              <a:solidFill>
                <a:srgbClr val="0D0D0D"/>
              </a:solidFill>
              <a:highlight>
                <a:schemeClr val="lt1"/>
              </a:highlight>
              <a:latin typeface="Saira"/>
              <a:ea typeface="Saira"/>
              <a:cs typeface="Saira"/>
              <a:sym typeface="Saira"/>
            </a:endParaRPr>
          </a:p>
        </p:txBody>
      </p:sp>
      <p:sp>
        <p:nvSpPr>
          <p:cNvPr id="156" name="Google Shape;156;g2d535835f33_0_34"/>
          <p:cNvSpPr txBox="1"/>
          <p:nvPr/>
        </p:nvSpPr>
        <p:spPr>
          <a:xfrm>
            <a:off x="1042900" y="5474150"/>
            <a:ext cx="91371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None/>
            </a:pPr>
            <a:r>
              <a:rPr lang="es-AR" sz="1500">
                <a:solidFill>
                  <a:srgbClr val="0D0D0D"/>
                </a:solidFill>
                <a:highlight>
                  <a:schemeClr val="lt1"/>
                </a:highlight>
                <a:latin typeface="Saira"/>
                <a:ea typeface="Saira"/>
                <a:cs typeface="Saira"/>
                <a:sym typeface="Saira"/>
              </a:rPr>
              <a:t>Importante: En modo 'w', si el archivo no existe, Python lo crea automáticamente.</a:t>
            </a:r>
            <a:endParaRPr sz="1500">
              <a:solidFill>
                <a:srgbClr val="0D0D0D"/>
              </a:solidFill>
              <a:highlight>
                <a:schemeClr val="lt1"/>
              </a:highlight>
              <a:latin typeface="Saira"/>
              <a:ea typeface="Saira"/>
              <a:cs typeface="Saira"/>
              <a:sym typeface="Saira"/>
            </a:endParaRPr>
          </a:p>
        </p:txBody>
      </p:sp>
      <p:pic>
        <p:nvPicPr>
          <p:cNvPr id="157" name="Google Shape;157;g2d535835f33_0_34"/>
          <p:cNvPicPr preferRelativeResize="0"/>
          <p:nvPr/>
        </p:nvPicPr>
        <p:blipFill>
          <a:blip r:embed="rId5">
            <a:alphaModFix/>
          </a:blip>
          <a:stretch>
            <a:fillRect/>
          </a:stretch>
        </p:blipFill>
        <p:spPr>
          <a:xfrm>
            <a:off x="2172561" y="3228875"/>
            <a:ext cx="7846876" cy="21097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2d535835f33_0_48"/>
          <p:cNvSpPr txBox="1"/>
          <p:nvPr/>
        </p:nvSpPr>
        <p:spPr>
          <a:xfrm>
            <a:off x="319439" y="990221"/>
            <a:ext cx="8472000" cy="677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800">
                <a:solidFill>
                  <a:schemeClr val="dk1"/>
                </a:solidFill>
                <a:latin typeface="Saira"/>
                <a:ea typeface="Saira"/>
                <a:cs typeface="Saira"/>
                <a:sym typeface="Saira"/>
              </a:rPr>
              <a:t>Usando el bloque with</a:t>
            </a:r>
            <a:endParaRPr b="0" i="0" sz="3400" u="none" cap="none" strike="noStrike">
              <a:solidFill>
                <a:schemeClr val="dk1"/>
              </a:solidFill>
              <a:latin typeface="Saira"/>
              <a:ea typeface="Saira"/>
              <a:cs typeface="Saira"/>
              <a:sym typeface="Saira"/>
            </a:endParaRPr>
          </a:p>
        </p:txBody>
      </p:sp>
      <p:pic>
        <p:nvPicPr>
          <p:cNvPr id="163" name="Google Shape;163;g2d535835f33_0_48"/>
          <p:cNvPicPr preferRelativeResize="0"/>
          <p:nvPr/>
        </p:nvPicPr>
        <p:blipFill rotWithShape="1">
          <a:blip r:embed="rId3">
            <a:alphaModFix/>
          </a:blip>
          <a:srcRect b="30665" l="23555" r="22727" t="29912"/>
          <a:stretch/>
        </p:blipFill>
        <p:spPr>
          <a:xfrm>
            <a:off x="8791460" y="390327"/>
            <a:ext cx="2959467" cy="1085934"/>
          </a:xfrm>
          <a:prstGeom prst="rect">
            <a:avLst/>
          </a:prstGeom>
          <a:noFill/>
          <a:ln>
            <a:noFill/>
          </a:ln>
        </p:spPr>
      </p:pic>
      <p:sp>
        <p:nvSpPr>
          <p:cNvPr id="164" name="Google Shape;164;g2d535835f33_0_48"/>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165" name="Google Shape;165;g2d535835f33_0_48"/>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166" name="Google Shape;166;g2d535835f33_0_48"/>
          <p:cNvSpPr txBox="1"/>
          <p:nvPr/>
        </p:nvSpPr>
        <p:spPr>
          <a:xfrm>
            <a:off x="327550" y="1774175"/>
            <a:ext cx="9137100" cy="7620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None/>
            </a:pPr>
            <a:r>
              <a:rPr lang="es-AR" sz="1500">
                <a:solidFill>
                  <a:srgbClr val="0D0D0D"/>
                </a:solidFill>
                <a:highlight>
                  <a:schemeClr val="lt1"/>
                </a:highlight>
                <a:latin typeface="Saira"/>
                <a:ea typeface="Saira"/>
                <a:cs typeface="Saira"/>
                <a:sym typeface="Saira"/>
              </a:rPr>
              <a:t>El bloque with es la forma recomendada de trabajar con archivos en Python, ya que asegura que el archivo se cierre automáticamente, incluso si ocurre un error. Esto se conoce como context manager.</a:t>
            </a:r>
            <a:endParaRPr sz="1500">
              <a:solidFill>
                <a:srgbClr val="0D0D0D"/>
              </a:solidFill>
              <a:highlight>
                <a:schemeClr val="lt1"/>
              </a:highlight>
              <a:latin typeface="Saira"/>
              <a:ea typeface="Saira"/>
              <a:cs typeface="Saira"/>
              <a:sym typeface="Saira"/>
            </a:endParaRPr>
          </a:p>
        </p:txBody>
      </p:sp>
      <p:pic>
        <p:nvPicPr>
          <p:cNvPr id="167" name="Google Shape;167;g2d535835f33_0_48"/>
          <p:cNvPicPr preferRelativeResize="0"/>
          <p:nvPr/>
        </p:nvPicPr>
        <p:blipFill>
          <a:blip r:embed="rId5">
            <a:alphaModFix/>
          </a:blip>
          <a:stretch>
            <a:fillRect/>
          </a:stretch>
        </p:blipFill>
        <p:spPr>
          <a:xfrm>
            <a:off x="1328000" y="2643025"/>
            <a:ext cx="7775550" cy="20905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g2d535835f33_0_60"/>
          <p:cNvSpPr txBox="1"/>
          <p:nvPr/>
        </p:nvSpPr>
        <p:spPr>
          <a:xfrm>
            <a:off x="319439" y="990221"/>
            <a:ext cx="8472000" cy="677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800">
                <a:solidFill>
                  <a:schemeClr val="dk1"/>
                </a:solidFill>
                <a:latin typeface="Saira"/>
                <a:ea typeface="Saira"/>
                <a:cs typeface="Saira"/>
                <a:sym typeface="Saira"/>
              </a:rPr>
              <a:t>Modos de apertura combinados</a:t>
            </a:r>
            <a:endParaRPr b="0" i="0" sz="3400" u="none" cap="none" strike="noStrike">
              <a:solidFill>
                <a:schemeClr val="dk1"/>
              </a:solidFill>
              <a:latin typeface="Saira"/>
              <a:ea typeface="Saira"/>
              <a:cs typeface="Saira"/>
              <a:sym typeface="Saira"/>
            </a:endParaRPr>
          </a:p>
        </p:txBody>
      </p:sp>
      <p:pic>
        <p:nvPicPr>
          <p:cNvPr id="173" name="Google Shape;173;g2d535835f33_0_60"/>
          <p:cNvPicPr preferRelativeResize="0"/>
          <p:nvPr/>
        </p:nvPicPr>
        <p:blipFill rotWithShape="1">
          <a:blip r:embed="rId3">
            <a:alphaModFix/>
          </a:blip>
          <a:srcRect b="30665" l="23555" r="22727" t="29912"/>
          <a:stretch/>
        </p:blipFill>
        <p:spPr>
          <a:xfrm>
            <a:off x="8791460" y="390327"/>
            <a:ext cx="2959467" cy="1085934"/>
          </a:xfrm>
          <a:prstGeom prst="rect">
            <a:avLst/>
          </a:prstGeom>
          <a:noFill/>
          <a:ln>
            <a:noFill/>
          </a:ln>
        </p:spPr>
      </p:pic>
      <p:sp>
        <p:nvSpPr>
          <p:cNvPr id="174" name="Google Shape;174;g2d535835f33_0_60"/>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175" name="Google Shape;175;g2d535835f33_0_60"/>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176" name="Google Shape;176;g2d535835f33_0_60"/>
          <p:cNvSpPr txBox="1"/>
          <p:nvPr/>
        </p:nvSpPr>
        <p:spPr>
          <a:xfrm>
            <a:off x="327550" y="1774175"/>
            <a:ext cx="9137100" cy="1454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None/>
            </a:pPr>
            <a:r>
              <a:rPr lang="es-AR" sz="1500">
                <a:solidFill>
                  <a:srgbClr val="0D0D0D"/>
                </a:solidFill>
                <a:highlight>
                  <a:schemeClr val="lt1"/>
                </a:highlight>
                <a:latin typeface="Saira"/>
                <a:ea typeface="Saira"/>
                <a:cs typeface="Saira"/>
                <a:sym typeface="Saira"/>
              </a:rPr>
              <a:t>Además de los modos básicos, podemos combinarlos con 'b' para trabajar con archivos binarios.</a:t>
            </a:r>
            <a:endParaRPr sz="1500">
              <a:solidFill>
                <a:srgbClr val="0D0D0D"/>
              </a:solidFill>
              <a:highlight>
                <a:schemeClr val="lt1"/>
              </a:highlight>
              <a:latin typeface="Saira"/>
              <a:ea typeface="Saira"/>
              <a:cs typeface="Saira"/>
              <a:sym typeface="Saira"/>
            </a:endParaRPr>
          </a:p>
          <a:p>
            <a:pPr indent="-323850" lvl="0" marL="457200" marR="0" rtl="0" algn="l">
              <a:lnSpc>
                <a:spcPct val="150000"/>
              </a:lnSpc>
              <a:spcBef>
                <a:spcPts val="0"/>
              </a:spcBef>
              <a:spcAft>
                <a:spcPts val="0"/>
              </a:spcAft>
              <a:buClr>
                <a:srgbClr val="0D0D0D"/>
              </a:buClr>
              <a:buSzPts val="1500"/>
              <a:buFont typeface="Saira"/>
              <a:buChar char="●"/>
            </a:pPr>
            <a:r>
              <a:rPr lang="es-AR" sz="1500">
                <a:solidFill>
                  <a:srgbClr val="0D0D0D"/>
                </a:solidFill>
                <a:highlight>
                  <a:schemeClr val="lt1"/>
                </a:highlight>
                <a:latin typeface="Saira"/>
                <a:ea typeface="Saira"/>
                <a:cs typeface="Saira"/>
                <a:sym typeface="Saira"/>
              </a:rPr>
              <a:t>'rb': Lectura en modo binario.</a:t>
            </a:r>
            <a:endParaRPr sz="1500">
              <a:solidFill>
                <a:srgbClr val="0D0D0D"/>
              </a:solidFill>
              <a:highlight>
                <a:schemeClr val="lt1"/>
              </a:highlight>
              <a:latin typeface="Saira"/>
              <a:ea typeface="Saira"/>
              <a:cs typeface="Saira"/>
              <a:sym typeface="Saira"/>
            </a:endParaRPr>
          </a:p>
          <a:p>
            <a:pPr indent="-323850" lvl="0" marL="457200" marR="0" rtl="0" algn="l">
              <a:lnSpc>
                <a:spcPct val="150000"/>
              </a:lnSpc>
              <a:spcBef>
                <a:spcPts val="0"/>
              </a:spcBef>
              <a:spcAft>
                <a:spcPts val="0"/>
              </a:spcAft>
              <a:buClr>
                <a:srgbClr val="0D0D0D"/>
              </a:buClr>
              <a:buSzPts val="1500"/>
              <a:buFont typeface="Saira"/>
              <a:buChar char="●"/>
            </a:pPr>
            <a:r>
              <a:rPr lang="es-AR" sz="1500">
                <a:solidFill>
                  <a:srgbClr val="0D0D0D"/>
                </a:solidFill>
                <a:highlight>
                  <a:schemeClr val="lt1"/>
                </a:highlight>
                <a:latin typeface="Saira"/>
                <a:ea typeface="Saira"/>
                <a:cs typeface="Saira"/>
                <a:sym typeface="Saira"/>
              </a:rPr>
              <a:t>'wb': Escritura en modo binario.</a:t>
            </a:r>
            <a:endParaRPr sz="1500">
              <a:solidFill>
                <a:srgbClr val="0D0D0D"/>
              </a:solidFill>
              <a:highlight>
                <a:schemeClr val="lt1"/>
              </a:highlight>
              <a:latin typeface="Saira"/>
              <a:ea typeface="Saira"/>
              <a:cs typeface="Saira"/>
              <a:sym typeface="Saira"/>
            </a:endParaRPr>
          </a:p>
          <a:p>
            <a:pPr indent="-323850" lvl="0" marL="457200" marR="0" rtl="0" algn="l">
              <a:lnSpc>
                <a:spcPct val="150000"/>
              </a:lnSpc>
              <a:spcBef>
                <a:spcPts val="0"/>
              </a:spcBef>
              <a:spcAft>
                <a:spcPts val="0"/>
              </a:spcAft>
              <a:buClr>
                <a:srgbClr val="0D0D0D"/>
              </a:buClr>
              <a:buSzPts val="1500"/>
              <a:buFont typeface="Saira"/>
              <a:buChar char="●"/>
            </a:pPr>
            <a:r>
              <a:rPr lang="es-AR" sz="1500">
                <a:solidFill>
                  <a:srgbClr val="0D0D0D"/>
                </a:solidFill>
                <a:highlight>
                  <a:schemeClr val="lt1"/>
                </a:highlight>
                <a:latin typeface="Saira"/>
                <a:ea typeface="Saira"/>
                <a:cs typeface="Saira"/>
                <a:sym typeface="Saira"/>
              </a:rPr>
              <a:t>'ab': Anexar en modo binario.</a:t>
            </a:r>
            <a:endParaRPr sz="1500">
              <a:solidFill>
                <a:srgbClr val="0D0D0D"/>
              </a:solidFill>
              <a:highlight>
                <a:schemeClr val="lt1"/>
              </a:highlight>
              <a:latin typeface="Saira"/>
              <a:ea typeface="Saira"/>
              <a:cs typeface="Saira"/>
              <a:sym typeface="Saira"/>
            </a:endParaRPr>
          </a:p>
        </p:txBody>
      </p:sp>
      <p:pic>
        <p:nvPicPr>
          <p:cNvPr id="177" name="Google Shape;177;g2d535835f33_0_60"/>
          <p:cNvPicPr preferRelativeResize="0"/>
          <p:nvPr/>
        </p:nvPicPr>
        <p:blipFill>
          <a:blip r:embed="rId5">
            <a:alphaModFix/>
          </a:blip>
          <a:stretch>
            <a:fillRect/>
          </a:stretch>
        </p:blipFill>
        <p:spPr>
          <a:xfrm>
            <a:off x="2122388" y="3381275"/>
            <a:ext cx="7947226" cy="19404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g2d535835f33_0_72"/>
          <p:cNvSpPr txBox="1"/>
          <p:nvPr/>
        </p:nvSpPr>
        <p:spPr>
          <a:xfrm>
            <a:off x="319439" y="990221"/>
            <a:ext cx="8472000" cy="677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800">
                <a:solidFill>
                  <a:schemeClr val="dk1"/>
                </a:solidFill>
                <a:latin typeface="Saira"/>
                <a:ea typeface="Saira"/>
                <a:cs typeface="Saira"/>
                <a:sym typeface="Saira"/>
              </a:rPr>
              <a:t>Trabajando con archivos JSON</a:t>
            </a:r>
            <a:endParaRPr b="0" i="0" sz="3400" u="none" cap="none" strike="noStrike">
              <a:solidFill>
                <a:schemeClr val="dk1"/>
              </a:solidFill>
              <a:latin typeface="Saira"/>
              <a:ea typeface="Saira"/>
              <a:cs typeface="Saira"/>
              <a:sym typeface="Saira"/>
            </a:endParaRPr>
          </a:p>
        </p:txBody>
      </p:sp>
      <p:pic>
        <p:nvPicPr>
          <p:cNvPr id="183" name="Google Shape;183;g2d535835f33_0_72"/>
          <p:cNvPicPr preferRelativeResize="0"/>
          <p:nvPr/>
        </p:nvPicPr>
        <p:blipFill rotWithShape="1">
          <a:blip r:embed="rId3">
            <a:alphaModFix/>
          </a:blip>
          <a:srcRect b="30665" l="23555" r="22727" t="29912"/>
          <a:stretch/>
        </p:blipFill>
        <p:spPr>
          <a:xfrm>
            <a:off x="8791460" y="390327"/>
            <a:ext cx="2959467" cy="1085934"/>
          </a:xfrm>
          <a:prstGeom prst="rect">
            <a:avLst/>
          </a:prstGeom>
          <a:noFill/>
          <a:ln>
            <a:noFill/>
          </a:ln>
        </p:spPr>
      </p:pic>
      <p:sp>
        <p:nvSpPr>
          <p:cNvPr id="184" name="Google Shape;184;g2d535835f33_0_72"/>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185" name="Google Shape;185;g2d535835f33_0_72"/>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186" name="Google Shape;186;g2d535835f33_0_72"/>
          <p:cNvSpPr txBox="1"/>
          <p:nvPr/>
        </p:nvSpPr>
        <p:spPr>
          <a:xfrm>
            <a:off x="327550" y="1774175"/>
            <a:ext cx="9137100" cy="7620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None/>
            </a:pPr>
            <a:r>
              <a:rPr lang="es-AR" sz="1500">
                <a:solidFill>
                  <a:srgbClr val="0D0D0D"/>
                </a:solidFill>
                <a:highlight>
                  <a:schemeClr val="lt1"/>
                </a:highlight>
                <a:latin typeface="Saira"/>
                <a:ea typeface="Saira"/>
                <a:cs typeface="Saira"/>
                <a:sym typeface="Saira"/>
              </a:rPr>
              <a:t>Los archivos JSON son comunes para almacenar datos estructurados. Python ofrece el módulo json para leer y escribir en formato JSON.</a:t>
            </a:r>
            <a:endParaRPr sz="1500">
              <a:solidFill>
                <a:srgbClr val="0D0D0D"/>
              </a:solidFill>
              <a:highlight>
                <a:schemeClr val="lt1"/>
              </a:highlight>
              <a:latin typeface="Saira"/>
              <a:ea typeface="Saira"/>
              <a:cs typeface="Saira"/>
              <a:sym typeface="Saira"/>
            </a:endParaRPr>
          </a:p>
        </p:txBody>
      </p:sp>
      <p:pic>
        <p:nvPicPr>
          <p:cNvPr id="187" name="Google Shape;187;g2d535835f33_0_72"/>
          <p:cNvPicPr preferRelativeResize="0"/>
          <p:nvPr/>
        </p:nvPicPr>
        <p:blipFill>
          <a:blip r:embed="rId5">
            <a:alphaModFix/>
          </a:blip>
          <a:stretch>
            <a:fillRect/>
          </a:stretch>
        </p:blipFill>
        <p:spPr>
          <a:xfrm>
            <a:off x="1472688" y="2536175"/>
            <a:ext cx="8277522" cy="34972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2d535835f33_0_83"/>
          <p:cNvSpPr txBox="1"/>
          <p:nvPr/>
        </p:nvSpPr>
        <p:spPr>
          <a:xfrm>
            <a:off x="319439" y="990221"/>
            <a:ext cx="8472000" cy="677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800">
                <a:solidFill>
                  <a:schemeClr val="dk1"/>
                </a:solidFill>
                <a:latin typeface="Saira"/>
                <a:ea typeface="Saira"/>
                <a:cs typeface="Saira"/>
                <a:sym typeface="Saira"/>
              </a:rPr>
              <a:t>Trabajando con archivos JSON</a:t>
            </a:r>
            <a:endParaRPr b="0" i="0" sz="3400" u="none" cap="none" strike="noStrike">
              <a:solidFill>
                <a:schemeClr val="dk1"/>
              </a:solidFill>
              <a:latin typeface="Saira"/>
              <a:ea typeface="Saira"/>
              <a:cs typeface="Saira"/>
              <a:sym typeface="Saira"/>
            </a:endParaRPr>
          </a:p>
        </p:txBody>
      </p:sp>
      <p:pic>
        <p:nvPicPr>
          <p:cNvPr id="193" name="Google Shape;193;g2d535835f33_0_83"/>
          <p:cNvPicPr preferRelativeResize="0"/>
          <p:nvPr/>
        </p:nvPicPr>
        <p:blipFill rotWithShape="1">
          <a:blip r:embed="rId3">
            <a:alphaModFix/>
          </a:blip>
          <a:srcRect b="30665" l="23555" r="22727" t="29912"/>
          <a:stretch/>
        </p:blipFill>
        <p:spPr>
          <a:xfrm>
            <a:off x="8791460" y="390327"/>
            <a:ext cx="2959467" cy="1085934"/>
          </a:xfrm>
          <a:prstGeom prst="rect">
            <a:avLst/>
          </a:prstGeom>
          <a:noFill/>
          <a:ln>
            <a:noFill/>
          </a:ln>
        </p:spPr>
      </p:pic>
      <p:sp>
        <p:nvSpPr>
          <p:cNvPr id="194" name="Google Shape;194;g2d535835f33_0_83"/>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195" name="Google Shape;195;g2d535835f33_0_83"/>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196" name="Google Shape;196;g2d535835f33_0_83"/>
          <p:cNvSpPr txBox="1"/>
          <p:nvPr/>
        </p:nvSpPr>
        <p:spPr>
          <a:xfrm>
            <a:off x="327550" y="1774175"/>
            <a:ext cx="91371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None/>
            </a:pPr>
            <a:r>
              <a:rPr lang="es-AR" sz="1500">
                <a:solidFill>
                  <a:srgbClr val="0D0D0D"/>
                </a:solidFill>
                <a:highlight>
                  <a:schemeClr val="lt1"/>
                </a:highlight>
                <a:latin typeface="Saira"/>
                <a:ea typeface="Saira"/>
                <a:cs typeface="Saira"/>
                <a:sym typeface="Saira"/>
              </a:rPr>
              <a:t>Para poder leer un archivo json lo haremos de la siguiente manera.</a:t>
            </a:r>
            <a:endParaRPr sz="1500">
              <a:solidFill>
                <a:srgbClr val="0D0D0D"/>
              </a:solidFill>
              <a:highlight>
                <a:schemeClr val="lt1"/>
              </a:highlight>
              <a:latin typeface="Saira"/>
              <a:ea typeface="Saira"/>
              <a:cs typeface="Saira"/>
              <a:sym typeface="Saira"/>
            </a:endParaRPr>
          </a:p>
        </p:txBody>
      </p:sp>
      <p:pic>
        <p:nvPicPr>
          <p:cNvPr id="197" name="Google Shape;197;g2d535835f33_0_83"/>
          <p:cNvPicPr preferRelativeResize="0"/>
          <p:nvPr/>
        </p:nvPicPr>
        <p:blipFill>
          <a:blip r:embed="rId5">
            <a:alphaModFix/>
          </a:blip>
          <a:stretch>
            <a:fillRect/>
          </a:stretch>
        </p:blipFill>
        <p:spPr>
          <a:xfrm>
            <a:off x="1439875" y="2760750"/>
            <a:ext cx="9312250" cy="274641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2d535835f33_0_97"/>
          <p:cNvSpPr txBox="1"/>
          <p:nvPr/>
        </p:nvSpPr>
        <p:spPr>
          <a:xfrm>
            <a:off x="319439" y="990221"/>
            <a:ext cx="8472000" cy="677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800">
                <a:solidFill>
                  <a:schemeClr val="dk1"/>
                </a:solidFill>
                <a:latin typeface="Saira"/>
                <a:ea typeface="Saira"/>
                <a:cs typeface="Saira"/>
                <a:sym typeface="Saira"/>
              </a:rPr>
              <a:t>Trabajando con archivos CSV</a:t>
            </a:r>
            <a:endParaRPr b="0" i="0" sz="3400" u="none" cap="none" strike="noStrike">
              <a:solidFill>
                <a:schemeClr val="dk1"/>
              </a:solidFill>
              <a:latin typeface="Saira"/>
              <a:ea typeface="Saira"/>
              <a:cs typeface="Saira"/>
              <a:sym typeface="Saira"/>
            </a:endParaRPr>
          </a:p>
        </p:txBody>
      </p:sp>
      <p:pic>
        <p:nvPicPr>
          <p:cNvPr id="203" name="Google Shape;203;g2d535835f33_0_97"/>
          <p:cNvPicPr preferRelativeResize="0"/>
          <p:nvPr/>
        </p:nvPicPr>
        <p:blipFill rotWithShape="1">
          <a:blip r:embed="rId3">
            <a:alphaModFix/>
          </a:blip>
          <a:srcRect b="30665" l="23555" r="22727" t="29912"/>
          <a:stretch/>
        </p:blipFill>
        <p:spPr>
          <a:xfrm>
            <a:off x="8791460" y="390327"/>
            <a:ext cx="2959467" cy="1085934"/>
          </a:xfrm>
          <a:prstGeom prst="rect">
            <a:avLst/>
          </a:prstGeom>
          <a:noFill/>
          <a:ln>
            <a:noFill/>
          </a:ln>
        </p:spPr>
      </p:pic>
      <p:sp>
        <p:nvSpPr>
          <p:cNvPr id="204" name="Google Shape;204;g2d535835f33_0_97"/>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205" name="Google Shape;205;g2d535835f33_0_97"/>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206" name="Google Shape;206;g2d535835f33_0_97"/>
          <p:cNvSpPr txBox="1"/>
          <p:nvPr/>
        </p:nvSpPr>
        <p:spPr>
          <a:xfrm>
            <a:off x="327550" y="1774175"/>
            <a:ext cx="9137100" cy="7620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None/>
            </a:pPr>
            <a:r>
              <a:rPr lang="es-AR" sz="1500">
                <a:solidFill>
                  <a:srgbClr val="0D0D0D"/>
                </a:solidFill>
                <a:highlight>
                  <a:schemeClr val="lt1"/>
                </a:highlight>
                <a:latin typeface="Saira"/>
                <a:ea typeface="Saira"/>
                <a:cs typeface="Saira"/>
                <a:sym typeface="Saira"/>
              </a:rPr>
              <a:t>Los archivos CSV son un formato de texto estructurado que se usa mucho en hojas de cálculo. Python incluye el módulo csv para trabajar con archivos CSV.</a:t>
            </a:r>
            <a:endParaRPr sz="1500">
              <a:solidFill>
                <a:srgbClr val="0D0D0D"/>
              </a:solidFill>
              <a:highlight>
                <a:schemeClr val="lt1"/>
              </a:highlight>
              <a:latin typeface="Saira"/>
              <a:ea typeface="Saira"/>
              <a:cs typeface="Saira"/>
              <a:sym typeface="Saira"/>
            </a:endParaRPr>
          </a:p>
        </p:txBody>
      </p:sp>
      <p:pic>
        <p:nvPicPr>
          <p:cNvPr id="207" name="Google Shape;207;g2d535835f33_0_97"/>
          <p:cNvPicPr preferRelativeResize="0"/>
          <p:nvPr/>
        </p:nvPicPr>
        <p:blipFill>
          <a:blip r:embed="rId5">
            <a:alphaModFix/>
          </a:blip>
          <a:stretch>
            <a:fillRect/>
          </a:stretch>
        </p:blipFill>
        <p:spPr>
          <a:xfrm>
            <a:off x="1713163" y="2643025"/>
            <a:ext cx="7796568" cy="34972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2d535835f33_0_110"/>
          <p:cNvSpPr txBox="1"/>
          <p:nvPr/>
        </p:nvSpPr>
        <p:spPr>
          <a:xfrm>
            <a:off x="319439" y="990221"/>
            <a:ext cx="8472000" cy="677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800">
                <a:solidFill>
                  <a:schemeClr val="dk1"/>
                </a:solidFill>
                <a:latin typeface="Saira"/>
                <a:ea typeface="Saira"/>
                <a:cs typeface="Saira"/>
                <a:sym typeface="Saira"/>
              </a:rPr>
              <a:t>Trabajando con archivos CSV</a:t>
            </a:r>
            <a:endParaRPr b="0" i="0" sz="3400" u="none" cap="none" strike="noStrike">
              <a:solidFill>
                <a:schemeClr val="dk1"/>
              </a:solidFill>
              <a:latin typeface="Saira"/>
              <a:ea typeface="Saira"/>
              <a:cs typeface="Saira"/>
              <a:sym typeface="Saira"/>
            </a:endParaRPr>
          </a:p>
        </p:txBody>
      </p:sp>
      <p:pic>
        <p:nvPicPr>
          <p:cNvPr id="213" name="Google Shape;213;g2d535835f33_0_110"/>
          <p:cNvPicPr preferRelativeResize="0"/>
          <p:nvPr/>
        </p:nvPicPr>
        <p:blipFill rotWithShape="1">
          <a:blip r:embed="rId3">
            <a:alphaModFix/>
          </a:blip>
          <a:srcRect b="30665" l="23555" r="22727" t="29912"/>
          <a:stretch/>
        </p:blipFill>
        <p:spPr>
          <a:xfrm>
            <a:off x="8791460" y="390327"/>
            <a:ext cx="2959467" cy="1085934"/>
          </a:xfrm>
          <a:prstGeom prst="rect">
            <a:avLst/>
          </a:prstGeom>
          <a:noFill/>
          <a:ln>
            <a:noFill/>
          </a:ln>
        </p:spPr>
      </p:pic>
      <p:sp>
        <p:nvSpPr>
          <p:cNvPr id="214" name="Google Shape;214;g2d535835f33_0_110"/>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215" name="Google Shape;215;g2d535835f33_0_110"/>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216" name="Google Shape;216;g2d535835f33_0_110"/>
          <p:cNvSpPr txBox="1"/>
          <p:nvPr/>
        </p:nvSpPr>
        <p:spPr>
          <a:xfrm>
            <a:off x="327550" y="1774175"/>
            <a:ext cx="91371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None/>
            </a:pPr>
            <a:r>
              <a:rPr lang="es-AR" sz="1500">
                <a:solidFill>
                  <a:srgbClr val="0D0D0D"/>
                </a:solidFill>
                <a:highlight>
                  <a:schemeClr val="lt1"/>
                </a:highlight>
                <a:latin typeface="Saira"/>
                <a:ea typeface="Saira"/>
                <a:cs typeface="Saira"/>
                <a:sym typeface="Saira"/>
              </a:rPr>
              <a:t>Para leer los archivos csv podemos hacerlo de la siguiente manera:</a:t>
            </a:r>
            <a:endParaRPr sz="1500">
              <a:solidFill>
                <a:srgbClr val="0D0D0D"/>
              </a:solidFill>
              <a:highlight>
                <a:schemeClr val="lt1"/>
              </a:highlight>
              <a:latin typeface="Saira"/>
              <a:ea typeface="Saira"/>
              <a:cs typeface="Saira"/>
              <a:sym typeface="Saira"/>
            </a:endParaRPr>
          </a:p>
        </p:txBody>
      </p:sp>
      <p:pic>
        <p:nvPicPr>
          <p:cNvPr id="217" name="Google Shape;217;g2d535835f33_0_110"/>
          <p:cNvPicPr preferRelativeResize="0"/>
          <p:nvPr/>
        </p:nvPicPr>
        <p:blipFill>
          <a:blip r:embed="rId5">
            <a:alphaModFix/>
          </a:blip>
          <a:stretch>
            <a:fillRect/>
          </a:stretch>
        </p:blipFill>
        <p:spPr>
          <a:xfrm>
            <a:off x="1375450" y="2487600"/>
            <a:ext cx="8472001" cy="270779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g30c34938e9c_0_53"/>
          <p:cNvSpPr txBox="1"/>
          <p:nvPr/>
        </p:nvSpPr>
        <p:spPr>
          <a:xfrm>
            <a:off x="319439" y="990221"/>
            <a:ext cx="8472000" cy="677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800">
                <a:solidFill>
                  <a:schemeClr val="dk1"/>
                </a:solidFill>
                <a:latin typeface="Saira"/>
                <a:ea typeface="Saira"/>
                <a:cs typeface="Saira"/>
                <a:sym typeface="Saira"/>
              </a:rPr>
              <a:t>Archivos y directorios</a:t>
            </a:r>
            <a:endParaRPr b="0" i="0" sz="4200" u="none" cap="none" strike="noStrike">
              <a:solidFill>
                <a:schemeClr val="dk1"/>
              </a:solidFill>
              <a:latin typeface="Saira"/>
              <a:ea typeface="Saira"/>
              <a:cs typeface="Saira"/>
              <a:sym typeface="Saira"/>
            </a:endParaRPr>
          </a:p>
        </p:txBody>
      </p:sp>
      <p:pic>
        <p:nvPicPr>
          <p:cNvPr id="223" name="Google Shape;223;g30c34938e9c_0_53"/>
          <p:cNvPicPr preferRelativeResize="0"/>
          <p:nvPr/>
        </p:nvPicPr>
        <p:blipFill rotWithShape="1">
          <a:blip r:embed="rId3">
            <a:alphaModFix/>
          </a:blip>
          <a:srcRect b="30665" l="23555" r="22727" t="29912"/>
          <a:stretch/>
        </p:blipFill>
        <p:spPr>
          <a:xfrm>
            <a:off x="8791460" y="390327"/>
            <a:ext cx="2959467" cy="1085934"/>
          </a:xfrm>
          <a:prstGeom prst="rect">
            <a:avLst/>
          </a:prstGeom>
          <a:noFill/>
          <a:ln>
            <a:noFill/>
          </a:ln>
        </p:spPr>
      </p:pic>
      <p:sp>
        <p:nvSpPr>
          <p:cNvPr id="224" name="Google Shape;224;g30c34938e9c_0_53"/>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225" name="Google Shape;225;g30c34938e9c_0_53"/>
          <p:cNvSpPr txBox="1"/>
          <p:nvPr/>
        </p:nvSpPr>
        <p:spPr>
          <a:xfrm>
            <a:off x="490000" y="2411875"/>
            <a:ext cx="8812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2000" u="none" cap="none" strike="noStrike">
              <a:solidFill>
                <a:srgbClr val="000000"/>
              </a:solidFill>
              <a:latin typeface="Saira"/>
              <a:ea typeface="Saira"/>
              <a:cs typeface="Saira"/>
              <a:sym typeface="Saira"/>
            </a:endParaRPr>
          </a:p>
        </p:txBody>
      </p:sp>
      <p:pic>
        <p:nvPicPr>
          <p:cNvPr id="226" name="Google Shape;226;g30c34938e9c_0_53"/>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227" name="Google Shape;227;g30c34938e9c_0_53"/>
          <p:cNvSpPr txBox="1"/>
          <p:nvPr/>
        </p:nvSpPr>
        <p:spPr>
          <a:xfrm>
            <a:off x="327550" y="1774175"/>
            <a:ext cx="9137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1200"/>
              </a:spcBef>
              <a:spcAft>
                <a:spcPts val="200"/>
              </a:spcAft>
              <a:buClr>
                <a:schemeClr val="dk1"/>
              </a:buClr>
              <a:buSzPts val="1800"/>
              <a:buFont typeface="Arial"/>
              <a:buNone/>
            </a:pPr>
            <a:r>
              <a:rPr lang="es-AR" sz="1800">
                <a:solidFill>
                  <a:srgbClr val="0D0D0D"/>
                </a:solidFill>
                <a:highlight>
                  <a:schemeClr val="lt1"/>
                </a:highlight>
                <a:latin typeface="Saira"/>
                <a:ea typeface="Saira"/>
                <a:cs typeface="Saira"/>
                <a:sym typeface="Saira"/>
              </a:rPr>
              <a:t>Para trabajar con archivos y directorios, Python incluye el módulo os y os.path.</a:t>
            </a:r>
            <a:endParaRPr b="0" i="0" sz="1800" u="none" cap="none" strike="noStrike">
              <a:solidFill>
                <a:srgbClr val="0D0D0D"/>
              </a:solidFill>
              <a:highlight>
                <a:srgbClr val="FFFFFF"/>
              </a:highlight>
              <a:latin typeface="Saira"/>
              <a:ea typeface="Saira"/>
              <a:cs typeface="Saira"/>
              <a:sym typeface="Saira"/>
            </a:endParaRPr>
          </a:p>
        </p:txBody>
      </p:sp>
      <p:sp>
        <p:nvSpPr>
          <p:cNvPr id="228" name="Google Shape;228;g30c34938e9c_0_53"/>
          <p:cNvSpPr txBox="1"/>
          <p:nvPr/>
        </p:nvSpPr>
        <p:spPr>
          <a:xfrm>
            <a:off x="370125" y="2331600"/>
            <a:ext cx="9137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1200"/>
              </a:spcBef>
              <a:spcAft>
                <a:spcPts val="200"/>
              </a:spcAft>
              <a:buClr>
                <a:schemeClr val="dk1"/>
              </a:buClr>
              <a:buSzPts val="1800"/>
              <a:buFont typeface="Arial"/>
              <a:buNone/>
            </a:pPr>
            <a:r>
              <a:rPr lang="es-AR" sz="1800">
                <a:solidFill>
                  <a:srgbClr val="0D0D0D"/>
                </a:solidFill>
                <a:highlight>
                  <a:schemeClr val="lt1"/>
                </a:highlight>
                <a:latin typeface="Saira"/>
                <a:ea typeface="Saira"/>
                <a:cs typeface="Saira"/>
                <a:sym typeface="Saira"/>
              </a:rPr>
              <a:t>Obtener la ruta del directorio actual:</a:t>
            </a:r>
            <a:endParaRPr sz="1800">
              <a:solidFill>
                <a:srgbClr val="0D0D0D"/>
              </a:solidFill>
              <a:highlight>
                <a:schemeClr val="lt1"/>
              </a:highlight>
              <a:latin typeface="Saira"/>
              <a:ea typeface="Saira"/>
              <a:cs typeface="Saira"/>
              <a:sym typeface="Saira"/>
            </a:endParaRPr>
          </a:p>
        </p:txBody>
      </p:sp>
      <p:pic>
        <p:nvPicPr>
          <p:cNvPr id="229" name="Google Shape;229;g30c34938e9c_0_53"/>
          <p:cNvPicPr preferRelativeResize="0"/>
          <p:nvPr/>
        </p:nvPicPr>
        <p:blipFill>
          <a:blip r:embed="rId5">
            <a:alphaModFix/>
          </a:blip>
          <a:stretch>
            <a:fillRect/>
          </a:stretch>
        </p:blipFill>
        <p:spPr>
          <a:xfrm>
            <a:off x="370125" y="2703400"/>
            <a:ext cx="4766801" cy="1749475"/>
          </a:xfrm>
          <a:prstGeom prst="rect">
            <a:avLst/>
          </a:prstGeom>
          <a:noFill/>
          <a:ln>
            <a:noFill/>
          </a:ln>
        </p:spPr>
      </p:pic>
      <p:sp>
        <p:nvSpPr>
          <p:cNvPr id="230" name="Google Shape;230;g30c34938e9c_0_53"/>
          <p:cNvSpPr txBox="1"/>
          <p:nvPr/>
        </p:nvSpPr>
        <p:spPr>
          <a:xfrm>
            <a:off x="490000" y="4256950"/>
            <a:ext cx="9137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1200"/>
              </a:spcBef>
              <a:spcAft>
                <a:spcPts val="200"/>
              </a:spcAft>
              <a:buClr>
                <a:schemeClr val="dk1"/>
              </a:buClr>
              <a:buSzPts val="1800"/>
              <a:buFont typeface="Arial"/>
              <a:buNone/>
            </a:pPr>
            <a:r>
              <a:rPr lang="es-AR" sz="1800">
                <a:solidFill>
                  <a:srgbClr val="0D0D0D"/>
                </a:solidFill>
                <a:highlight>
                  <a:schemeClr val="lt1"/>
                </a:highlight>
                <a:latin typeface="Saira"/>
                <a:ea typeface="Saira"/>
                <a:cs typeface="Saira"/>
                <a:sym typeface="Saira"/>
              </a:rPr>
              <a:t>Listar archivos en un directorio:</a:t>
            </a:r>
            <a:endParaRPr sz="1800">
              <a:solidFill>
                <a:srgbClr val="0D0D0D"/>
              </a:solidFill>
              <a:highlight>
                <a:schemeClr val="lt1"/>
              </a:highlight>
              <a:latin typeface="Saira"/>
              <a:ea typeface="Saira"/>
              <a:cs typeface="Saira"/>
              <a:sym typeface="Saira"/>
            </a:endParaRPr>
          </a:p>
        </p:txBody>
      </p:sp>
      <p:pic>
        <p:nvPicPr>
          <p:cNvPr id="231" name="Google Shape;231;g30c34938e9c_0_53"/>
          <p:cNvPicPr preferRelativeResize="0"/>
          <p:nvPr/>
        </p:nvPicPr>
        <p:blipFill>
          <a:blip r:embed="rId6">
            <a:alphaModFix/>
          </a:blip>
          <a:stretch>
            <a:fillRect/>
          </a:stretch>
        </p:blipFill>
        <p:spPr>
          <a:xfrm>
            <a:off x="370125" y="4498100"/>
            <a:ext cx="4890551" cy="1794875"/>
          </a:xfrm>
          <a:prstGeom prst="rect">
            <a:avLst/>
          </a:prstGeom>
          <a:noFill/>
          <a:ln>
            <a:noFill/>
          </a:ln>
        </p:spPr>
      </p:pic>
      <p:sp>
        <p:nvSpPr>
          <p:cNvPr id="232" name="Google Shape;232;g30c34938e9c_0_53"/>
          <p:cNvSpPr txBox="1"/>
          <p:nvPr/>
        </p:nvSpPr>
        <p:spPr>
          <a:xfrm>
            <a:off x="5260675" y="2342725"/>
            <a:ext cx="9137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1200"/>
              </a:spcBef>
              <a:spcAft>
                <a:spcPts val="200"/>
              </a:spcAft>
              <a:buClr>
                <a:schemeClr val="dk1"/>
              </a:buClr>
              <a:buSzPts val="1800"/>
              <a:buFont typeface="Arial"/>
              <a:buNone/>
            </a:pPr>
            <a:r>
              <a:rPr lang="es-AR" sz="1800">
                <a:solidFill>
                  <a:srgbClr val="0D0D0D"/>
                </a:solidFill>
                <a:highlight>
                  <a:schemeClr val="lt1"/>
                </a:highlight>
                <a:latin typeface="Saira"/>
                <a:ea typeface="Saira"/>
                <a:cs typeface="Saira"/>
                <a:sym typeface="Saira"/>
              </a:rPr>
              <a:t>Verificar si un archivo existe:</a:t>
            </a:r>
            <a:endParaRPr sz="1800">
              <a:solidFill>
                <a:srgbClr val="0D0D0D"/>
              </a:solidFill>
              <a:highlight>
                <a:schemeClr val="lt1"/>
              </a:highlight>
              <a:latin typeface="Saira"/>
              <a:ea typeface="Saira"/>
              <a:cs typeface="Saira"/>
              <a:sym typeface="Saira"/>
            </a:endParaRPr>
          </a:p>
        </p:txBody>
      </p:sp>
      <p:pic>
        <p:nvPicPr>
          <p:cNvPr id="233" name="Google Shape;233;g30c34938e9c_0_53"/>
          <p:cNvPicPr preferRelativeResize="0"/>
          <p:nvPr/>
        </p:nvPicPr>
        <p:blipFill>
          <a:blip r:embed="rId7">
            <a:alphaModFix/>
          </a:blip>
          <a:stretch>
            <a:fillRect/>
          </a:stretch>
        </p:blipFill>
        <p:spPr>
          <a:xfrm>
            <a:off x="5610150" y="2658189"/>
            <a:ext cx="5013224" cy="18399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g2d535835f33_0_150"/>
          <p:cNvSpPr txBox="1"/>
          <p:nvPr/>
        </p:nvSpPr>
        <p:spPr>
          <a:xfrm>
            <a:off x="319439" y="990221"/>
            <a:ext cx="8472000" cy="677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800">
                <a:solidFill>
                  <a:schemeClr val="dk1"/>
                </a:solidFill>
                <a:latin typeface="Saira"/>
                <a:ea typeface="Saira"/>
                <a:cs typeface="Saira"/>
                <a:sym typeface="Saira"/>
              </a:rPr>
              <a:t>Excepciones</a:t>
            </a:r>
            <a:endParaRPr b="0" i="0" sz="3400" u="none" cap="none" strike="noStrike">
              <a:solidFill>
                <a:schemeClr val="dk1"/>
              </a:solidFill>
              <a:latin typeface="Saira"/>
              <a:ea typeface="Saira"/>
              <a:cs typeface="Saira"/>
              <a:sym typeface="Saira"/>
            </a:endParaRPr>
          </a:p>
        </p:txBody>
      </p:sp>
      <p:pic>
        <p:nvPicPr>
          <p:cNvPr id="239" name="Google Shape;239;g2d535835f33_0_150"/>
          <p:cNvPicPr preferRelativeResize="0"/>
          <p:nvPr/>
        </p:nvPicPr>
        <p:blipFill rotWithShape="1">
          <a:blip r:embed="rId3">
            <a:alphaModFix/>
          </a:blip>
          <a:srcRect b="30665" l="23555" r="22727" t="29912"/>
          <a:stretch/>
        </p:blipFill>
        <p:spPr>
          <a:xfrm>
            <a:off x="8791460" y="390327"/>
            <a:ext cx="2959467" cy="1085934"/>
          </a:xfrm>
          <a:prstGeom prst="rect">
            <a:avLst/>
          </a:prstGeom>
          <a:noFill/>
          <a:ln>
            <a:noFill/>
          </a:ln>
        </p:spPr>
      </p:pic>
      <p:sp>
        <p:nvSpPr>
          <p:cNvPr id="240" name="Google Shape;240;g2d535835f33_0_150"/>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241" name="Google Shape;241;g2d535835f33_0_150"/>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242" name="Google Shape;242;g2d535835f33_0_150"/>
          <p:cNvSpPr txBox="1"/>
          <p:nvPr/>
        </p:nvSpPr>
        <p:spPr>
          <a:xfrm>
            <a:off x="327550" y="1774175"/>
            <a:ext cx="9137100" cy="31863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None/>
            </a:pPr>
            <a:r>
              <a:rPr lang="es-AR" sz="1500">
                <a:solidFill>
                  <a:srgbClr val="0D0D0D"/>
                </a:solidFill>
                <a:highlight>
                  <a:schemeClr val="lt1"/>
                </a:highlight>
                <a:latin typeface="Saira"/>
                <a:ea typeface="Saira"/>
                <a:cs typeface="Saira"/>
                <a:sym typeface="Saira"/>
              </a:rPr>
              <a:t>Una excepción es un evento que ocurre durante la ejecución de un programa y que interrumpe el flujo normal de las instrucciones. Python tiene varios tipos de excepciones ya integradas, como:</a:t>
            </a:r>
            <a:endParaRPr sz="1500">
              <a:solidFill>
                <a:srgbClr val="0D0D0D"/>
              </a:solidFill>
              <a:highlight>
                <a:schemeClr val="lt1"/>
              </a:highlight>
              <a:latin typeface="Saira"/>
              <a:ea typeface="Saira"/>
              <a:cs typeface="Saira"/>
              <a:sym typeface="Saira"/>
            </a:endParaRPr>
          </a:p>
          <a:p>
            <a:pPr indent="0" lvl="0" marL="0" marR="0" rtl="0" algn="l">
              <a:lnSpc>
                <a:spcPct val="150000"/>
              </a:lnSpc>
              <a:spcBef>
                <a:spcPts val="0"/>
              </a:spcBef>
              <a:spcAft>
                <a:spcPts val="0"/>
              </a:spcAft>
              <a:buNone/>
            </a:pPr>
            <a:r>
              <a:t/>
            </a:r>
            <a:endParaRPr sz="1500">
              <a:solidFill>
                <a:srgbClr val="0D0D0D"/>
              </a:solidFill>
              <a:highlight>
                <a:schemeClr val="lt1"/>
              </a:highlight>
              <a:latin typeface="Saira"/>
              <a:ea typeface="Saira"/>
              <a:cs typeface="Saira"/>
              <a:sym typeface="Saira"/>
            </a:endParaRPr>
          </a:p>
          <a:p>
            <a:pPr indent="-323850" lvl="0" marL="457200" marR="0" rtl="0" algn="l">
              <a:lnSpc>
                <a:spcPct val="150000"/>
              </a:lnSpc>
              <a:spcBef>
                <a:spcPts val="0"/>
              </a:spcBef>
              <a:spcAft>
                <a:spcPts val="0"/>
              </a:spcAft>
              <a:buClr>
                <a:srgbClr val="0D0D0D"/>
              </a:buClr>
              <a:buSzPts val="1500"/>
              <a:buFont typeface="Saira"/>
              <a:buChar char="●"/>
            </a:pPr>
            <a:r>
              <a:rPr lang="es-AR" sz="1500">
                <a:solidFill>
                  <a:srgbClr val="FF0000"/>
                </a:solidFill>
                <a:highlight>
                  <a:schemeClr val="lt1"/>
                </a:highlight>
                <a:latin typeface="Saira"/>
                <a:ea typeface="Saira"/>
                <a:cs typeface="Saira"/>
                <a:sym typeface="Saira"/>
              </a:rPr>
              <a:t>ValueError</a:t>
            </a:r>
            <a:r>
              <a:rPr lang="es-AR" sz="1500">
                <a:solidFill>
                  <a:srgbClr val="0D0D0D"/>
                </a:solidFill>
                <a:highlight>
                  <a:schemeClr val="lt1"/>
                </a:highlight>
                <a:latin typeface="Saira"/>
                <a:ea typeface="Saira"/>
                <a:cs typeface="Saira"/>
                <a:sym typeface="Saira"/>
              </a:rPr>
              <a:t>: ocurre cuando se recibe un valor de tipo incorrecto.</a:t>
            </a:r>
            <a:endParaRPr sz="1500">
              <a:solidFill>
                <a:srgbClr val="0D0D0D"/>
              </a:solidFill>
              <a:highlight>
                <a:schemeClr val="lt1"/>
              </a:highlight>
              <a:latin typeface="Saira"/>
              <a:ea typeface="Saira"/>
              <a:cs typeface="Saira"/>
              <a:sym typeface="Saira"/>
            </a:endParaRPr>
          </a:p>
          <a:p>
            <a:pPr indent="-323850" lvl="0" marL="457200" marR="0" rtl="0" algn="l">
              <a:lnSpc>
                <a:spcPct val="150000"/>
              </a:lnSpc>
              <a:spcBef>
                <a:spcPts val="0"/>
              </a:spcBef>
              <a:spcAft>
                <a:spcPts val="0"/>
              </a:spcAft>
              <a:buClr>
                <a:srgbClr val="0D0D0D"/>
              </a:buClr>
              <a:buSzPts val="1500"/>
              <a:buFont typeface="Saira"/>
              <a:buChar char="●"/>
            </a:pPr>
            <a:r>
              <a:rPr lang="es-AR" sz="1500">
                <a:solidFill>
                  <a:srgbClr val="FF0000"/>
                </a:solidFill>
                <a:highlight>
                  <a:schemeClr val="lt1"/>
                </a:highlight>
                <a:latin typeface="Saira"/>
                <a:ea typeface="Saira"/>
                <a:cs typeface="Saira"/>
                <a:sym typeface="Saira"/>
              </a:rPr>
              <a:t>TypeError</a:t>
            </a:r>
            <a:r>
              <a:rPr lang="es-AR" sz="1500">
                <a:solidFill>
                  <a:srgbClr val="0D0D0D"/>
                </a:solidFill>
                <a:highlight>
                  <a:schemeClr val="lt1"/>
                </a:highlight>
                <a:latin typeface="Saira"/>
                <a:ea typeface="Saira"/>
                <a:cs typeface="Saira"/>
                <a:sym typeface="Saira"/>
              </a:rPr>
              <a:t>: ocurre cuando se usa un tipo de dato inapropiado.</a:t>
            </a:r>
            <a:endParaRPr sz="1500">
              <a:solidFill>
                <a:srgbClr val="0D0D0D"/>
              </a:solidFill>
              <a:highlight>
                <a:schemeClr val="lt1"/>
              </a:highlight>
              <a:latin typeface="Saira"/>
              <a:ea typeface="Saira"/>
              <a:cs typeface="Saira"/>
              <a:sym typeface="Saira"/>
            </a:endParaRPr>
          </a:p>
          <a:p>
            <a:pPr indent="-323850" lvl="0" marL="457200" marR="0" rtl="0" algn="l">
              <a:lnSpc>
                <a:spcPct val="150000"/>
              </a:lnSpc>
              <a:spcBef>
                <a:spcPts val="0"/>
              </a:spcBef>
              <a:spcAft>
                <a:spcPts val="0"/>
              </a:spcAft>
              <a:buClr>
                <a:srgbClr val="0D0D0D"/>
              </a:buClr>
              <a:buSzPts val="1500"/>
              <a:buFont typeface="Saira"/>
              <a:buChar char="●"/>
            </a:pPr>
            <a:r>
              <a:rPr lang="es-AR" sz="1500">
                <a:solidFill>
                  <a:srgbClr val="FF0000"/>
                </a:solidFill>
                <a:highlight>
                  <a:schemeClr val="lt1"/>
                </a:highlight>
                <a:latin typeface="Saira"/>
                <a:ea typeface="Saira"/>
                <a:cs typeface="Saira"/>
                <a:sym typeface="Saira"/>
              </a:rPr>
              <a:t>FileNotFoundError</a:t>
            </a:r>
            <a:r>
              <a:rPr lang="es-AR" sz="1500">
                <a:solidFill>
                  <a:srgbClr val="0D0D0D"/>
                </a:solidFill>
                <a:highlight>
                  <a:schemeClr val="lt1"/>
                </a:highlight>
                <a:latin typeface="Saira"/>
                <a:ea typeface="Saira"/>
                <a:cs typeface="Saira"/>
                <a:sym typeface="Saira"/>
              </a:rPr>
              <a:t>: ocurre cuando se intenta abrir un archivo que no existe.</a:t>
            </a:r>
            <a:endParaRPr sz="1500">
              <a:solidFill>
                <a:srgbClr val="0D0D0D"/>
              </a:solidFill>
              <a:highlight>
                <a:schemeClr val="lt1"/>
              </a:highlight>
              <a:latin typeface="Saira"/>
              <a:ea typeface="Saira"/>
              <a:cs typeface="Saira"/>
              <a:sym typeface="Saira"/>
            </a:endParaRPr>
          </a:p>
          <a:p>
            <a:pPr indent="0" lvl="0" marL="457200" marR="0" rtl="0" algn="l">
              <a:lnSpc>
                <a:spcPct val="150000"/>
              </a:lnSpc>
              <a:spcBef>
                <a:spcPts val="0"/>
              </a:spcBef>
              <a:spcAft>
                <a:spcPts val="0"/>
              </a:spcAft>
              <a:buNone/>
            </a:pPr>
            <a:r>
              <a:t/>
            </a:r>
            <a:endParaRPr sz="1500">
              <a:solidFill>
                <a:srgbClr val="0D0D0D"/>
              </a:solidFill>
              <a:highlight>
                <a:schemeClr val="lt1"/>
              </a:highlight>
              <a:latin typeface="Saira"/>
              <a:ea typeface="Saira"/>
              <a:cs typeface="Saira"/>
              <a:sym typeface="Saira"/>
            </a:endParaRPr>
          </a:p>
          <a:p>
            <a:pPr indent="0" lvl="0" marL="0" marR="0" rtl="0" algn="l">
              <a:lnSpc>
                <a:spcPct val="150000"/>
              </a:lnSpc>
              <a:spcBef>
                <a:spcPts val="0"/>
              </a:spcBef>
              <a:spcAft>
                <a:spcPts val="0"/>
              </a:spcAft>
              <a:buNone/>
            </a:pPr>
            <a:r>
              <a:rPr lang="es-AR" sz="1500">
                <a:solidFill>
                  <a:srgbClr val="0D0D0D"/>
                </a:solidFill>
                <a:highlight>
                  <a:schemeClr val="lt1"/>
                </a:highlight>
                <a:latin typeface="Saira"/>
                <a:ea typeface="Saira"/>
                <a:cs typeface="Saira"/>
                <a:sym typeface="Saira"/>
              </a:rPr>
              <a:t>Cuando surge una excepción, el programa se detiene. Sin embargo, podemos "manejar" esa excepción para evitar que el programa falle.</a:t>
            </a:r>
            <a:endParaRPr sz="1500">
              <a:solidFill>
                <a:srgbClr val="0D0D0D"/>
              </a:solidFill>
              <a:highlight>
                <a:schemeClr val="lt1"/>
              </a:highlight>
              <a:latin typeface="Saira"/>
              <a:ea typeface="Saira"/>
              <a:cs typeface="Saira"/>
              <a:sym typeface="Sair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g2d535835f33_0_159"/>
          <p:cNvSpPr txBox="1"/>
          <p:nvPr/>
        </p:nvSpPr>
        <p:spPr>
          <a:xfrm>
            <a:off x="319439" y="990221"/>
            <a:ext cx="8472000" cy="677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800">
                <a:solidFill>
                  <a:schemeClr val="dk1"/>
                </a:solidFill>
                <a:latin typeface="Saira"/>
                <a:ea typeface="Saira"/>
                <a:cs typeface="Saira"/>
                <a:sym typeface="Saira"/>
              </a:rPr>
              <a:t>Sintaxis Bá</a:t>
            </a:r>
            <a:r>
              <a:rPr lang="es-AR" sz="3800">
                <a:solidFill>
                  <a:schemeClr val="dk1"/>
                </a:solidFill>
                <a:latin typeface="Saira"/>
                <a:ea typeface="Saira"/>
                <a:cs typeface="Saira"/>
                <a:sym typeface="Saira"/>
              </a:rPr>
              <a:t>sica </a:t>
            </a:r>
            <a:r>
              <a:rPr lang="es-AR" sz="3800">
                <a:solidFill>
                  <a:schemeClr val="dk1"/>
                </a:solidFill>
                <a:latin typeface="Saira"/>
                <a:ea typeface="Saira"/>
                <a:cs typeface="Saira"/>
                <a:sym typeface="Saira"/>
              </a:rPr>
              <a:t>try y except</a:t>
            </a:r>
            <a:endParaRPr b="0" i="0" sz="3400" u="none" cap="none" strike="noStrike">
              <a:solidFill>
                <a:schemeClr val="dk1"/>
              </a:solidFill>
              <a:latin typeface="Saira"/>
              <a:ea typeface="Saira"/>
              <a:cs typeface="Saira"/>
              <a:sym typeface="Saira"/>
            </a:endParaRPr>
          </a:p>
        </p:txBody>
      </p:sp>
      <p:pic>
        <p:nvPicPr>
          <p:cNvPr id="248" name="Google Shape;248;g2d535835f33_0_159"/>
          <p:cNvPicPr preferRelativeResize="0"/>
          <p:nvPr/>
        </p:nvPicPr>
        <p:blipFill rotWithShape="1">
          <a:blip r:embed="rId3">
            <a:alphaModFix/>
          </a:blip>
          <a:srcRect b="30665" l="23555" r="22727" t="29912"/>
          <a:stretch/>
        </p:blipFill>
        <p:spPr>
          <a:xfrm>
            <a:off x="8791460" y="390327"/>
            <a:ext cx="2959467" cy="1085934"/>
          </a:xfrm>
          <a:prstGeom prst="rect">
            <a:avLst/>
          </a:prstGeom>
          <a:noFill/>
          <a:ln>
            <a:noFill/>
          </a:ln>
        </p:spPr>
      </p:pic>
      <p:sp>
        <p:nvSpPr>
          <p:cNvPr id="249" name="Google Shape;249;g2d535835f33_0_159"/>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250" name="Google Shape;250;g2d535835f33_0_159"/>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251" name="Google Shape;251;g2d535835f33_0_159"/>
          <p:cNvSpPr txBox="1"/>
          <p:nvPr/>
        </p:nvSpPr>
        <p:spPr>
          <a:xfrm>
            <a:off x="327550" y="1774175"/>
            <a:ext cx="9137100" cy="7620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None/>
            </a:pPr>
            <a:r>
              <a:rPr lang="es-AR" sz="1500">
                <a:solidFill>
                  <a:srgbClr val="0D0D0D"/>
                </a:solidFill>
                <a:highlight>
                  <a:schemeClr val="lt1"/>
                </a:highlight>
                <a:latin typeface="Saira"/>
                <a:ea typeface="Saira"/>
                <a:cs typeface="Saira"/>
                <a:sym typeface="Saira"/>
              </a:rPr>
              <a:t>Para capturar y manejar errores en Python, usamos la estructura try-except. Básicamente, le decimos a Python: “Intenta hacer algo, y si algo sale mal, haz otra cosa”.</a:t>
            </a:r>
            <a:endParaRPr sz="1500">
              <a:solidFill>
                <a:srgbClr val="0D0D0D"/>
              </a:solidFill>
              <a:highlight>
                <a:schemeClr val="lt1"/>
              </a:highlight>
              <a:latin typeface="Saira"/>
              <a:ea typeface="Saira"/>
              <a:cs typeface="Saira"/>
              <a:sym typeface="Saira"/>
            </a:endParaRPr>
          </a:p>
        </p:txBody>
      </p:sp>
      <p:pic>
        <p:nvPicPr>
          <p:cNvPr id="252" name="Google Shape;252;g2d535835f33_0_159"/>
          <p:cNvPicPr preferRelativeResize="0"/>
          <p:nvPr/>
        </p:nvPicPr>
        <p:blipFill>
          <a:blip r:embed="rId5">
            <a:alphaModFix/>
          </a:blip>
          <a:stretch>
            <a:fillRect/>
          </a:stretch>
        </p:blipFill>
        <p:spPr>
          <a:xfrm>
            <a:off x="3039100" y="2536175"/>
            <a:ext cx="5144701" cy="2151975"/>
          </a:xfrm>
          <a:prstGeom prst="rect">
            <a:avLst/>
          </a:prstGeom>
          <a:noFill/>
          <a:ln>
            <a:noFill/>
          </a:ln>
        </p:spPr>
      </p:pic>
      <p:sp>
        <p:nvSpPr>
          <p:cNvPr id="253" name="Google Shape;253;g2d535835f33_0_159"/>
          <p:cNvSpPr txBox="1"/>
          <p:nvPr/>
        </p:nvSpPr>
        <p:spPr>
          <a:xfrm>
            <a:off x="486000" y="4811900"/>
            <a:ext cx="9137100" cy="1108200"/>
          </a:xfrm>
          <a:prstGeom prst="rect">
            <a:avLst/>
          </a:prstGeom>
          <a:noFill/>
          <a:ln>
            <a:noFill/>
          </a:ln>
        </p:spPr>
        <p:txBody>
          <a:bodyPr anchorCtr="0" anchor="t" bIns="91425" lIns="91425" spcFirstLastPara="1" rIns="91425" wrap="square" tIns="91425">
            <a:spAutoFit/>
          </a:bodyPr>
          <a:lstStyle/>
          <a:p>
            <a:pPr indent="-323850" lvl="0" marL="457200" marR="0" rtl="0" algn="l">
              <a:lnSpc>
                <a:spcPct val="150000"/>
              </a:lnSpc>
              <a:spcBef>
                <a:spcPts val="0"/>
              </a:spcBef>
              <a:spcAft>
                <a:spcPts val="0"/>
              </a:spcAft>
              <a:buClr>
                <a:srgbClr val="0D0D0D"/>
              </a:buClr>
              <a:buSzPts val="1500"/>
              <a:buFont typeface="Saira"/>
              <a:buChar char="●"/>
            </a:pPr>
            <a:r>
              <a:rPr lang="es-AR" sz="1500">
                <a:solidFill>
                  <a:srgbClr val="0D0D0D"/>
                </a:solidFill>
                <a:highlight>
                  <a:schemeClr val="lt1"/>
                </a:highlight>
                <a:latin typeface="Saira"/>
                <a:ea typeface="Saira"/>
                <a:cs typeface="Saira"/>
                <a:sym typeface="Saira"/>
              </a:rPr>
              <a:t>try contiene el código que puede fallar.</a:t>
            </a:r>
            <a:endParaRPr sz="1500">
              <a:solidFill>
                <a:srgbClr val="0D0D0D"/>
              </a:solidFill>
              <a:highlight>
                <a:schemeClr val="lt1"/>
              </a:highlight>
              <a:latin typeface="Saira"/>
              <a:ea typeface="Saira"/>
              <a:cs typeface="Saira"/>
              <a:sym typeface="Saira"/>
            </a:endParaRPr>
          </a:p>
          <a:p>
            <a:pPr indent="-323850" lvl="0" marL="457200" marR="0" rtl="0" algn="l">
              <a:lnSpc>
                <a:spcPct val="150000"/>
              </a:lnSpc>
              <a:spcBef>
                <a:spcPts val="0"/>
              </a:spcBef>
              <a:spcAft>
                <a:spcPts val="0"/>
              </a:spcAft>
              <a:buClr>
                <a:srgbClr val="0D0D0D"/>
              </a:buClr>
              <a:buSzPts val="1500"/>
              <a:buFont typeface="Saira"/>
              <a:buChar char="●"/>
            </a:pPr>
            <a:r>
              <a:rPr lang="es-AR" sz="1500">
                <a:solidFill>
                  <a:srgbClr val="0D0D0D"/>
                </a:solidFill>
                <a:highlight>
                  <a:schemeClr val="lt1"/>
                </a:highlight>
                <a:latin typeface="Saira"/>
                <a:ea typeface="Saira"/>
                <a:cs typeface="Saira"/>
                <a:sym typeface="Saira"/>
              </a:rPr>
              <a:t>except contiene el código que se ejecuta si ocurre el error. En este caso, si el usuario ingresa un valor que no se puede convertir a entero, ValueError se “atrapa” y se ejecuta el mensaje de error.</a:t>
            </a:r>
            <a:endParaRPr sz="1500">
              <a:solidFill>
                <a:srgbClr val="0D0D0D"/>
              </a:solidFill>
              <a:highlight>
                <a:schemeClr val="lt1"/>
              </a:highlight>
              <a:latin typeface="Saira"/>
              <a:ea typeface="Saira"/>
              <a:cs typeface="Saira"/>
              <a:sym typeface="Sair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g2d535835f33_0_170"/>
          <p:cNvSpPr txBox="1"/>
          <p:nvPr/>
        </p:nvSpPr>
        <p:spPr>
          <a:xfrm>
            <a:off x="319439" y="990221"/>
            <a:ext cx="8472000" cy="677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800">
                <a:solidFill>
                  <a:schemeClr val="dk1"/>
                </a:solidFill>
                <a:latin typeface="Saira"/>
                <a:ea typeface="Saira"/>
                <a:cs typeface="Saira"/>
                <a:sym typeface="Saira"/>
              </a:rPr>
              <a:t>Capturar Múltiples Excepciones</a:t>
            </a:r>
            <a:endParaRPr b="0" i="0" sz="3400" u="none" cap="none" strike="noStrike">
              <a:solidFill>
                <a:schemeClr val="dk1"/>
              </a:solidFill>
              <a:latin typeface="Saira"/>
              <a:ea typeface="Saira"/>
              <a:cs typeface="Saira"/>
              <a:sym typeface="Saira"/>
            </a:endParaRPr>
          </a:p>
        </p:txBody>
      </p:sp>
      <p:pic>
        <p:nvPicPr>
          <p:cNvPr id="259" name="Google Shape;259;g2d535835f33_0_170"/>
          <p:cNvPicPr preferRelativeResize="0"/>
          <p:nvPr/>
        </p:nvPicPr>
        <p:blipFill rotWithShape="1">
          <a:blip r:embed="rId3">
            <a:alphaModFix/>
          </a:blip>
          <a:srcRect b="30665" l="23555" r="22727" t="29912"/>
          <a:stretch/>
        </p:blipFill>
        <p:spPr>
          <a:xfrm>
            <a:off x="8791460" y="390327"/>
            <a:ext cx="2959467" cy="1085934"/>
          </a:xfrm>
          <a:prstGeom prst="rect">
            <a:avLst/>
          </a:prstGeom>
          <a:noFill/>
          <a:ln>
            <a:noFill/>
          </a:ln>
        </p:spPr>
      </p:pic>
      <p:sp>
        <p:nvSpPr>
          <p:cNvPr id="260" name="Google Shape;260;g2d535835f33_0_170"/>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261" name="Google Shape;261;g2d535835f33_0_170"/>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262" name="Google Shape;262;g2d535835f33_0_170"/>
          <p:cNvSpPr txBox="1"/>
          <p:nvPr/>
        </p:nvSpPr>
        <p:spPr>
          <a:xfrm>
            <a:off x="327550" y="1774175"/>
            <a:ext cx="9137100" cy="7620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None/>
            </a:pPr>
            <a:r>
              <a:rPr lang="es-AR" sz="1500">
                <a:solidFill>
                  <a:srgbClr val="0D0D0D"/>
                </a:solidFill>
                <a:highlight>
                  <a:schemeClr val="lt1"/>
                </a:highlight>
                <a:latin typeface="Saira"/>
                <a:ea typeface="Saira"/>
                <a:cs typeface="Saira"/>
                <a:sym typeface="Saira"/>
              </a:rPr>
              <a:t>A veces, diferentes tipos de errores pueden surgir en un mismo bloque de código. Podemos usar varios except para cada tipo de error, lo cual nos permite manejar cada caso de forma específica.</a:t>
            </a:r>
            <a:endParaRPr sz="1500">
              <a:solidFill>
                <a:srgbClr val="0D0D0D"/>
              </a:solidFill>
              <a:highlight>
                <a:schemeClr val="lt1"/>
              </a:highlight>
              <a:latin typeface="Saira"/>
              <a:ea typeface="Saira"/>
              <a:cs typeface="Saira"/>
              <a:sym typeface="Saira"/>
            </a:endParaRPr>
          </a:p>
        </p:txBody>
      </p:sp>
      <p:sp>
        <p:nvSpPr>
          <p:cNvPr id="263" name="Google Shape;263;g2d535835f33_0_170"/>
          <p:cNvSpPr txBox="1"/>
          <p:nvPr/>
        </p:nvSpPr>
        <p:spPr>
          <a:xfrm>
            <a:off x="486000" y="4811900"/>
            <a:ext cx="91371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None/>
            </a:pPr>
            <a:r>
              <a:t/>
            </a:r>
            <a:endParaRPr sz="1500">
              <a:solidFill>
                <a:srgbClr val="0D0D0D"/>
              </a:solidFill>
              <a:highlight>
                <a:schemeClr val="lt1"/>
              </a:highlight>
              <a:latin typeface="Saira"/>
              <a:ea typeface="Saira"/>
              <a:cs typeface="Saira"/>
              <a:sym typeface="Saira"/>
            </a:endParaRPr>
          </a:p>
          <a:p>
            <a:pPr indent="-323850" lvl="0" marL="457200" marR="0" rtl="0" algn="l">
              <a:lnSpc>
                <a:spcPct val="150000"/>
              </a:lnSpc>
              <a:spcBef>
                <a:spcPts val="0"/>
              </a:spcBef>
              <a:spcAft>
                <a:spcPts val="0"/>
              </a:spcAft>
              <a:buClr>
                <a:srgbClr val="0D0D0D"/>
              </a:buClr>
              <a:buSzPts val="1500"/>
              <a:buFont typeface="Saira"/>
              <a:buChar char="●"/>
            </a:pPr>
            <a:r>
              <a:rPr lang="es-AR" sz="1500">
                <a:solidFill>
                  <a:srgbClr val="0D0D0D"/>
                </a:solidFill>
                <a:highlight>
                  <a:schemeClr val="lt1"/>
                </a:highlight>
                <a:latin typeface="Saira"/>
                <a:ea typeface="Saira"/>
                <a:cs typeface="Saira"/>
                <a:sym typeface="Saira"/>
              </a:rPr>
              <a:t>Si el archivo datos.txt no existe, se captura FileNotFoundError.</a:t>
            </a:r>
            <a:endParaRPr sz="1500">
              <a:solidFill>
                <a:srgbClr val="0D0D0D"/>
              </a:solidFill>
              <a:highlight>
                <a:schemeClr val="lt1"/>
              </a:highlight>
              <a:latin typeface="Saira"/>
              <a:ea typeface="Saira"/>
              <a:cs typeface="Saira"/>
              <a:sym typeface="Saira"/>
            </a:endParaRPr>
          </a:p>
          <a:p>
            <a:pPr indent="-323850" lvl="0" marL="457200" marR="0" rtl="0" algn="l">
              <a:lnSpc>
                <a:spcPct val="150000"/>
              </a:lnSpc>
              <a:spcBef>
                <a:spcPts val="0"/>
              </a:spcBef>
              <a:spcAft>
                <a:spcPts val="0"/>
              </a:spcAft>
              <a:buClr>
                <a:srgbClr val="0D0D0D"/>
              </a:buClr>
              <a:buSzPts val="1500"/>
              <a:buFont typeface="Saira"/>
              <a:buChar char="●"/>
            </a:pPr>
            <a:r>
              <a:rPr lang="es-AR" sz="1500">
                <a:solidFill>
                  <a:srgbClr val="0D0D0D"/>
                </a:solidFill>
                <a:highlight>
                  <a:schemeClr val="lt1"/>
                </a:highlight>
                <a:latin typeface="Saira"/>
                <a:ea typeface="Saira"/>
                <a:cs typeface="Saira"/>
                <a:sym typeface="Saira"/>
              </a:rPr>
              <a:t>Si el contenido no es un número, se captura ValueError.</a:t>
            </a:r>
            <a:endParaRPr sz="1500">
              <a:solidFill>
                <a:srgbClr val="0D0D0D"/>
              </a:solidFill>
              <a:highlight>
                <a:schemeClr val="lt1"/>
              </a:highlight>
              <a:latin typeface="Saira"/>
              <a:ea typeface="Saira"/>
              <a:cs typeface="Saira"/>
              <a:sym typeface="Saira"/>
            </a:endParaRPr>
          </a:p>
        </p:txBody>
      </p:sp>
      <p:pic>
        <p:nvPicPr>
          <p:cNvPr id="264" name="Google Shape;264;g2d535835f33_0_170"/>
          <p:cNvPicPr preferRelativeResize="0"/>
          <p:nvPr/>
        </p:nvPicPr>
        <p:blipFill>
          <a:blip r:embed="rId5">
            <a:alphaModFix/>
          </a:blip>
          <a:stretch>
            <a:fillRect/>
          </a:stretch>
        </p:blipFill>
        <p:spPr>
          <a:xfrm>
            <a:off x="2472225" y="2422725"/>
            <a:ext cx="5605569" cy="269823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g2d535835f33_0_182"/>
          <p:cNvSpPr txBox="1"/>
          <p:nvPr/>
        </p:nvSpPr>
        <p:spPr>
          <a:xfrm>
            <a:off x="319439" y="990221"/>
            <a:ext cx="8472000" cy="677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800">
                <a:solidFill>
                  <a:schemeClr val="dk1"/>
                </a:solidFill>
                <a:latin typeface="Saira"/>
                <a:ea typeface="Saira"/>
                <a:cs typeface="Saira"/>
                <a:sym typeface="Saira"/>
              </a:rPr>
              <a:t>Else y Finally</a:t>
            </a:r>
            <a:endParaRPr b="0" i="0" sz="3400" u="none" cap="none" strike="noStrike">
              <a:solidFill>
                <a:schemeClr val="dk1"/>
              </a:solidFill>
              <a:latin typeface="Saira"/>
              <a:ea typeface="Saira"/>
              <a:cs typeface="Saira"/>
              <a:sym typeface="Saira"/>
            </a:endParaRPr>
          </a:p>
        </p:txBody>
      </p:sp>
      <p:pic>
        <p:nvPicPr>
          <p:cNvPr id="270" name="Google Shape;270;g2d535835f33_0_182"/>
          <p:cNvPicPr preferRelativeResize="0"/>
          <p:nvPr/>
        </p:nvPicPr>
        <p:blipFill rotWithShape="1">
          <a:blip r:embed="rId3">
            <a:alphaModFix/>
          </a:blip>
          <a:srcRect b="30665" l="23555" r="22727" t="29912"/>
          <a:stretch/>
        </p:blipFill>
        <p:spPr>
          <a:xfrm>
            <a:off x="8791460" y="390327"/>
            <a:ext cx="2959467" cy="1085934"/>
          </a:xfrm>
          <a:prstGeom prst="rect">
            <a:avLst/>
          </a:prstGeom>
          <a:noFill/>
          <a:ln>
            <a:noFill/>
          </a:ln>
        </p:spPr>
      </p:pic>
      <p:sp>
        <p:nvSpPr>
          <p:cNvPr id="271" name="Google Shape;271;g2d535835f33_0_182"/>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272" name="Google Shape;272;g2d535835f33_0_182"/>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273" name="Google Shape;273;g2d535835f33_0_182"/>
          <p:cNvSpPr txBox="1"/>
          <p:nvPr/>
        </p:nvSpPr>
        <p:spPr>
          <a:xfrm>
            <a:off x="327550" y="1774175"/>
            <a:ext cx="9871800" cy="1108200"/>
          </a:xfrm>
          <a:prstGeom prst="rect">
            <a:avLst/>
          </a:prstGeom>
          <a:noFill/>
          <a:ln>
            <a:noFill/>
          </a:ln>
        </p:spPr>
        <p:txBody>
          <a:bodyPr anchorCtr="0" anchor="t" bIns="91425" lIns="91425" spcFirstLastPara="1" rIns="91425" wrap="square" tIns="91425">
            <a:spAutoFit/>
          </a:bodyPr>
          <a:lstStyle/>
          <a:p>
            <a:pPr indent="0" lvl="0" marL="457200" marR="0" rtl="0" algn="l">
              <a:lnSpc>
                <a:spcPct val="150000"/>
              </a:lnSpc>
              <a:spcBef>
                <a:spcPts val="0"/>
              </a:spcBef>
              <a:spcAft>
                <a:spcPts val="0"/>
              </a:spcAft>
              <a:buNone/>
            </a:pPr>
            <a:r>
              <a:rPr lang="es-AR" sz="1500">
                <a:solidFill>
                  <a:srgbClr val="FF0000"/>
                </a:solidFill>
                <a:highlight>
                  <a:schemeClr val="lt1"/>
                </a:highlight>
                <a:latin typeface="Saira"/>
                <a:ea typeface="Saira"/>
                <a:cs typeface="Saira"/>
                <a:sym typeface="Saira"/>
              </a:rPr>
              <a:t>e</a:t>
            </a:r>
            <a:r>
              <a:rPr lang="es-AR" sz="1500">
                <a:solidFill>
                  <a:srgbClr val="FF0000"/>
                </a:solidFill>
                <a:highlight>
                  <a:schemeClr val="lt1"/>
                </a:highlight>
                <a:latin typeface="Saira"/>
                <a:ea typeface="Saira"/>
                <a:cs typeface="Saira"/>
                <a:sym typeface="Saira"/>
              </a:rPr>
              <a:t>lse</a:t>
            </a:r>
            <a:r>
              <a:rPr lang="es-AR" sz="1500">
                <a:solidFill>
                  <a:srgbClr val="0D0D0D"/>
                </a:solidFill>
                <a:highlight>
                  <a:schemeClr val="lt1"/>
                </a:highlight>
                <a:latin typeface="Saira"/>
                <a:ea typeface="Saira"/>
                <a:cs typeface="Saira"/>
                <a:sym typeface="Saira"/>
              </a:rPr>
              <a:t>: se usa para definir código que se ejecutará solo si no se produce ninguna excepción en el bloque try.</a:t>
            </a:r>
            <a:endParaRPr sz="1500">
              <a:solidFill>
                <a:srgbClr val="0D0D0D"/>
              </a:solidFill>
              <a:highlight>
                <a:schemeClr val="lt1"/>
              </a:highlight>
              <a:latin typeface="Saira"/>
              <a:ea typeface="Saira"/>
              <a:cs typeface="Saira"/>
              <a:sym typeface="Saira"/>
            </a:endParaRPr>
          </a:p>
          <a:p>
            <a:pPr indent="0" lvl="0" marL="457200" marR="0" rtl="0" algn="l">
              <a:lnSpc>
                <a:spcPct val="150000"/>
              </a:lnSpc>
              <a:spcBef>
                <a:spcPts val="0"/>
              </a:spcBef>
              <a:spcAft>
                <a:spcPts val="0"/>
              </a:spcAft>
              <a:buNone/>
            </a:pPr>
            <a:r>
              <a:rPr lang="es-AR" sz="1500">
                <a:solidFill>
                  <a:srgbClr val="FF0000"/>
                </a:solidFill>
                <a:highlight>
                  <a:schemeClr val="lt1"/>
                </a:highlight>
                <a:latin typeface="Saira"/>
                <a:ea typeface="Saira"/>
                <a:cs typeface="Saira"/>
                <a:sym typeface="Saira"/>
              </a:rPr>
              <a:t>f</a:t>
            </a:r>
            <a:r>
              <a:rPr lang="es-AR" sz="1500">
                <a:solidFill>
                  <a:srgbClr val="FF0000"/>
                </a:solidFill>
                <a:highlight>
                  <a:schemeClr val="lt1"/>
                </a:highlight>
                <a:latin typeface="Saira"/>
                <a:ea typeface="Saira"/>
                <a:cs typeface="Saira"/>
                <a:sym typeface="Saira"/>
              </a:rPr>
              <a:t>inally</a:t>
            </a:r>
            <a:r>
              <a:rPr lang="es-AR" sz="1500">
                <a:solidFill>
                  <a:srgbClr val="0D0D0D"/>
                </a:solidFill>
                <a:highlight>
                  <a:schemeClr val="lt1"/>
                </a:highlight>
                <a:latin typeface="Saira"/>
                <a:ea typeface="Saira"/>
                <a:cs typeface="Saira"/>
                <a:sym typeface="Saira"/>
              </a:rPr>
              <a:t>: se ejecuta siempre, independientemente de si ocurre o no una excepción. Es útil para tareas de limpieza, como cerrar archivos o liberar recursos.</a:t>
            </a:r>
            <a:endParaRPr sz="1500">
              <a:solidFill>
                <a:srgbClr val="0D0D0D"/>
              </a:solidFill>
              <a:highlight>
                <a:schemeClr val="lt1"/>
              </a:highlight>
              <a:latin typeface="Saira"/>
              <a:ea typeface="Saira"/>
              <a:cs typeface="Saira"/>
              <a:sym typeface="Saira"/>
            </a:endParaRPr>
          </a:p>
        </p:txBody>
      </p:sp>
      <p:sp>
        <p:nvSpPr>
          <p:cNvPr id="274" name="Google Shape;274;g2d535835f33_0_182"/>
          <p:cNvSpPr txBox="1"/>
          <p:nvPr/>
        </p:nvSpPr>
        <p:spPr>
          <a:xfrm>
            <a:off x="475700" y="5538850"/>
            <a:ext cx="9137100" cy="762000"/>
          </a:xfrm>
          <a:prstGeom prst="rect">
            <a:avLst/>
          </a:prstGeom>
          <a:noFill/>
          <a:ln>
            <a:noFill/>
          </a:ln>
        </p:spPr>
        <p:txBody>
          <a:bodyPr anchorCtr="0" anchor="t" bIns="91425" lIns="91425" spcFirstLastPara="1" rIns="91425" wrap="square" tIns="91425">
            <a:spAutoFit/>
          </a:bodyPr>
          <a:lstStyle/>
          <a:p>
            <a:pPr indent="0" lvl="0" marL="457200" marR="0" rtl="0" algn="l">
              <a:lnSpc>
                <a:spcPct val="150000"/>
              </a:lnSpc>
              <a:spcBef>
                <a:spcPts val="0"/>
              </a:spcBef>
              <a:spcAft>
                <a:spcPts val="0"/>
              </a:spcAft>
              <a:buNone/>
            </a:pPr>
            <a:r>
              <a:rPr lang="es-AR" sz="1500">
                <a:solidFill>
                  <a:srgbClr val="0D0D0D"/>
                </a:solidFill>
                <a:highlight>
                  <a:schemeClr val="lt1"/>
                </a:highlight>
                <a:latin typeface="Saira"/>
                <a:ea typeface="Saira"/>
                <a:cs typeface="Saira"/>
                <a:sym typeface="Saira"/>
              </a:rPr>
              <a:t>Si datos.txt existe, se lee y se imprime su contenido.</a:t>
            </a:r>
            <a:endParaRPr sz="1500">
              <a:solidFill>
                <a:srgbClr val="0D0D0D"/>
              </a:solidFill>
              <a:highlight>
                <a:schemeClr val="lt1"/>
              </a:highlight>
              <a:latin typeface="Saira"/>
              <a:ea typeface="Saira"/>
              <a:cs typeface="Saira"/>
              <a:sym typeface="Saira"/>
            </a:endParaRPr>
          </a:p>
          <a:p>
            <a:pPr indent="0" lvl="0" marL="457200" marR="0" rtl="0" algn="l">
              <a:lnSpc>
                <a:spcPct val="150000"/>
              </a:lnSpc>
              <a:spcBef>
                <a:spcPts val="0"/>
              </a:spcBef>
              <a:spcAft>
                <a:spcPts val="0"/>
              </a:spcAft>
              <a:buNone/>
            </a:pPr>
            <a:r>
              <a:rPr lang="es-AR" sz="1500">
                <a:solidFill>
                  <a:srgbClr val="0D0D0D"/>
                </a:solidFill>
                <a:highlight>
                  <a:schemeClr val="lt1"/>
                </a:highlight>
                <a:latin typeface="Saira"/>
                <a:ea typeface="Saira"/>
                <a:cs typeface="Saira"/>
                <a:sym typeface="Saira"/>
              </a:rPr>
              <a:t>El mensaje “Ejecución finalizada” se muestra siempre, ocurra o no un error.</a:t>
            </a:r>
            <a:endParaRPr sz="1500">
              <a:solidFill>
                <a:srgbClr val="0D0D0D"/>
              </a:solidFill>
              <a:highlight>
                <a:schemeClr val="lt1"/>
              </a:highlight>
              <a:latin typeface="Saira"/>
              <a:ea typeface="Saira"/>
              <a:cs typeface="Saira"/>
              <a:sym typeface="Saira"/>
            </a:endParaRPr>
          </a:p>
        </p:txBody>
      </p:sp>
      <p:pic>
        <p:nvPicPr>
          <p:cNvPr id="275" name="Google Shape;275;g2d535835f33_0_182"/>
          <p:cNvPicPr preferRelativeResize="0"/>
          <p:nvPr/>
        </p:nvPicPr>
        <p:blipFill>
          <a:blip r:embed="rId5">
            <a:alphaModFix/>
          </a:blip>
          <a:stretch>
            <a:fillRect/>
          </a:stretch>
        </p:blipFill>
        <p:spPr>
          <a:xfrm>
            <a:off x="3515177" y="2828525"/>
            <a:ext cx="5161635" cy="28237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g2d535835f33_0_195"/>
          <p:cNvSpPr txBox="1"/>
          <p:nvPr/>
        </p:nvSpPr>
        <p:spPr>
          <a:xfrm>
            <a:off x="319439" y="990221"/>
            <a:ext cx="8472000" cy="677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800">
                <a:solidFill>
                  <a:schemeClr val="dk1"/>
                </a:solidFill>
                <a:latin typeface="Saira"/>
                <a:ea typeface="Saira"/>
                <a:cs typeface="Saira"/>
                <a:sym typeface="Saira"/>
              </a:rPr>
              <a:t>Lanzar Excepciones raise</a:t>
            </a:r>
            <a:endParaRPr b="0" i="0" sz="3400" u="none" cap="none" strike="noStrike">
              <a:solidFill>
                <a:schemeClr val="dk1"/>
              </a:solidFill>
              <a:latin typeface="Saira"/>
              <a:ea typeface="Saira"/>
              <a:cs typeface="Saira"/>
              <a:sym typeface="Saira"/>
            </a:endParaRPr>
          </a:p>
        </p:txBody>
      </p:sp>
      <p:pic>
        <p:nvPicPr>
          <p:cNvPr id="281" name="Google Shape;281;g2d535835f33_0_195"/>
          <p:cNvPicPr preferRelativeResize="0"/>
          <p:nvPr/>
        </p:nvPicPr>
        <p:blipFill rotWithShape="1">
          <a:blip r:embed="rId3">
            <a:alphaModFix/>
          </a:blip>
          <a:srcRect b="30665" l="23555" r="22727" t="29912"/>
          <a:stretch/>
        </p:blipFill>
        <p:spPr>
          <a:xfrm>
            <a:off x="8791460" y="390327"/>
            <a:ext cx="2959467" cy="1085934"/>
          </a:xfrm>
          <a:prstGeom prst="rect">
            <a:avLst/>
          </a:prstGeom>
          <a:noFill/>
          <a:ln>
            <a:noFill/>
          </a:ln>
        </p:spPr>
      </p:pic>
      <p:sp>
        <p:nvSpPr>
          <p:cNvPr id="282" name="Google Shape;282;g2d535835f33_0_195"/>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283" name="Google Shape;283;g2d535835f33_0_195"/>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284" name="Google Shape;284;g2d535835f33_0_195"/>
          <p:cNvSpPr txBox="1"/>
          <p:nvPr/>
        </p:nvSpPr>
        <p:spPr>
          <a:xfrm>
            <a:off x="327550" y="1774175"/>
            <a:ext cx="9871800" cy="762000"/>
          </a:xfrm>
          <a:prstGeom prst="rect">
            <a:avLst/>
          </a:prstGeom>
          <a:noFill/>
          <a:ln>
            <a:noFill/>
          </a:ln>
        </p:spPr>
        <p:txBody>
          <a:bodyPr anchorCtr="0" anchor="t" bIns="91425" lIns="91425" spcFirstLastPara="1" rIns="91425" wrap="square" tIns="91425">
            <a:spAutoFit/>
          </a:bodyPr>
          <a:lstStyle/>
          <a:p>
            <a:pPr indent="0" lvl="0" marL="457200" marR="0" rtl="0" algn="l">
              <a:lnSpc>
                <a:spcPct val="150000"/>
              </a:lnSpc>
              <a:spcBef>
                <a:spcPts val="0"/>
              </a:spcBef>
              <a:spcAft>
                <a:spcPts val="0"/>
              </a:spcAft>
              <a:buNone/>
            </a:pPr>
            <a:r>
              <a:rPr lang="es-AR" sz="1500">
                <a:solidFill>
                  <a:srgbClr val="0D0D0D"/>
                </a:solidFill>
                <a:highlight>
                  <a:schemeClr val="lt1"/>
                </a:highlight>
                <a:latin typeface="Saira"/>
                <a:ea typeface="Saira"/>
                <a:cs typeface="Saira"/>
                <a:sym typeface="Saira"/>
              </a:rPr>
              <a:t>La instrucción raise permite lanzar una excepción manualmente. Esto es útil cuando queremos validar condiciones específicas en nuestro código.</a:t>
            </a:r>
            <a:endParaRPr sz="1500">
              <a:solidFill>
                <a:srgbClr val="0D0D0D"/>
              </a:solidFill>
              <a:highlight>
                <a:schemeClr val="lt1"/>
              </a:highlight>
              <a:latin typeface="Saira"/>
              <a:ea typeface="Saira"/>
              <a:cs typeface="Saira"/>
              <a:sym typeface="Saira"/>
            </a:endParaRPr>
          </a:p>
        </p:txBody>
      </p:sp>
      <p:pic>
        <p:nvPicPr>
          <p:cNvPr id="285" name="Google Shape;285;g2d535835f33_0_195"/>
          <p:cNvPicPr preferRelativeResize="0"/>
          <p:nvPr/>
        </p:nvPicPr>
        <p:blipFill>
          <a:blip r:embed="rId5">
            <a:alphaModFix/>
          </a:blip>
          <a:stretch>
            <a:fillRect/>
          </a:stretch>
        </p:blipFill>
        <p:spPr>
          <a:xfrm>
            <a:off x="1965199" y="2692377"/>
            <a:ext cx="7292499" cy="31549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g2d535835f33_0_207"/>
          <p:cNvSpPr txBox="1"/>
          <p:nvPr/>
        </p:nvSpPr>
        <p:spPr>
          <a:xfrm>
            <a:off x="319439" y="990221"/>
            <a:ext cx="8472000" cy="677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800">
                <a:solidFill>
                  <a:schemeClr val="dk1"/>
                </a:solidFill>
                <a:latin typeface="Saira"/>
                <a:ea typeface="Saira"/>
                <a:cs typeface="Saira"/>
                <a:sym typeface="Saira"/>
              </a:rPr>
              <a:t>Excepciones Personalizadas</a:t>
            </a:r>
            <a:endParaRPr b="0" i="0" sz="3400" u="none" cap="none" strike="noStrike">
              <a:solidFill>
                <a:schemeClr val="dk1"/>
              </a:solidFill>
              <a:latin typeface="Saira"/>
              <a:ea typeface="Saira"/>
              <a:cs typeface="Saira"/>
              <a:sym typeface="Saira"/>
            </a:endParaRPr>
          </a:p>
        </p:txBody>
      </p:sp>
      <p:pic>
        <p:nvPicPr>
          <p:cNvPr id="291" name="Google Shape;291;g2d535835f33_0_207"/>
          <p:cNvPicPr preferRelativeResize="0"/>
          <p:nvPr/>
        </p:nvPicPr>
        <p:blipFill rotWithShape="1">
          <a:blip r:embed="rId3">
            <a:alphaModFix/>
          </a:blip>
          <a:srcRect b="30665" l="23555" r="22727" t="29912"/>
          <a:stretch/>
        </p:blipFill>
        <p:spPr>
          <a:xfrm>
            <a:off x="8791460" y="390327"/>
            <a:ext cx="2959467" cy="1085934"/>
          </a:xfrm>
          <a:prstGeom prst="rect">
            <a:avLst/>
          </a:prstGeom>
          <a:noFill/>
          <a:ln>
            <a:noFill/>
          </a:ln>
        </p:spPr>
      </p:pic>
      <p:sp>
        <p:nvSpPr>
          <p:cNvPr id="292" name="Google Shape;292;g2d535835f33_0_207"/>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293" name="Google Shape;293;g2d535835f33_0_207"/>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294" name="Google Shape;294;g2d535835f33_0_207"/>
          <p:cNvSpPr txBox="1"/>
          <p:nvPr/>
        </p:nvSpPr>
        <p:spPr>
          <a:xfrm>
            <a:off x="327550" y="1774175"/>
            <a:ext cx="9871800" cy="1108200"/>
          </a:xfrm>
          <a:prstGeom prst="rect">
            <a:avLst/>
          </a:prstGeom>
          <a:noFill/>
          <a:ln>
            <a:noFill/>
          </a:ln>
        </p:spPr>
        <p:txBody>
          <a:bodyPr anchorCtr="0" anchor="t" bIns="91425" lIns="91425" spcFirstLastPara="1" rIns="91425" wrap="square" tIns="91425">
            <a:spAutoFit/>
          </a:bodyPr>
          <a:lstStyle/>
          <a:p>
            <a:pPr indent="0" lvl="0" marL="457200" marR="0" rtl="0" algn="l">
              <a:lnSpc>
                <a:spcPct val="150000"/>
              </a:lnSpc>
              <a:spcBef>
                <a:spcPts val="0"/>
              </a:spcBef>
              <a:spcAft>
                <a:spcPts val="0"/>
              </a:spcAft>
              <a:buNone/>
            </a:pPr>
            <a:r>
              <a:rPr lang="es-AR" sz="1500">
                <a:solidFill>
                  <a:srgbClr val="0D0D0D"/>
                </a:solidFill>
                <a:highlight>
                  <a:schemeClr val="lt1"/>
                </a:highlight>
                <a:latin typeface="Saira"/>
                <a:ea typeface="Saira"/>
                <a:cs typeface="Saira"/>
                <a:sym typeface="Saira"/>
              </a:rPr>
              <a:t>Python permite crear nuestras propias excepciones para situaciones específicas en nuestro programa. Esto es útil si queremos distinguir entre errores propios del negocio o dominio del programa y los errores generales del sistema.</a:t>
            </a:r>
            <a:endParaRPr sz="1500">
              <a:solidFill>
                <a:srgbClr val="0D0D0D"/>
              </a:solidFill>
              <a:highlight>
                <a:schemeClr val="lt1"/>
              </a:highlight>
              <a:latin typeface="Saira"/>
              <a:ea typeface="Saira"/>
              <a:cs typeface="Saira"/>
              <a:sym typeface="Saira"/>
            </a:endParaRPr>
          </a:p>
        </p:txBody>
      </p:sp>
      <p:pic>
        <p:nvPicPr>
          <p:cNvPr id="295" name="Google Shape;295;g2d535835f33_0_207"/>
          <p:cNvPicPr preferRelativeResize="0"/>
          <p:nvPr/>
        </p:nvPicPr>
        <p:blipFill>
          <a:blip r:embed="rId5">
            <a:alphaModFix/>
          </a:blip>
          <a:stretch>
            <a:fillRect/>
          </a:stretch>
        </p:blipFill>
        <p:spPr>
          <a:xfrm>
            <a:off x="2413111" y="2838825"/>
            <a:ext cx="6396675" cy="343927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g2d535835f33_0_228"/>
          <p:cNvSpPr txBox="1"/>
          <p:nvPr/>
        </p:nvSpPr>
        <p:spPr>
          <a:xfrm>
            <a:off x="319439" y="876771"/>
            <a:ext cx="8472000" cy="677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800">
                <a:solidFill>
                  <a:schemeClr val="dk1"/>
                </a:solidFill>
                <a:latin typeface="Saira"/>
                <a:ea typeface="Saira"/>
                <a:cs typeface="Saira"/>
                <a:sym typeface="Saira"/>
              </a:rPr>
              <a:t>Ejemplo Completo </a:t>
            </a:r>
            <a:endParaRPr b="0" i="0" sz="3400" u="none" cap="none" strike="noStrike">
              <a:solidFill>
                <a:schemeClr val="dk1"/>
              </a:solidFill>
              <a:latin typeface="Saira"/>
              <a:ea typeface="Saira"/>
              <a:cs typeface="Saira"/>
              <a:sym typeface="Saira"/>
            </a:endParaRPr>
          </a:p>
        </p:txBody>
      </p:sp>
      <p:pic>
        <p:nvPicPr>
          <p:cNvPr id="301" name="Google Shape;301;g2d535835f33_0_228"/>
          <p:cNvPicPr preferRelativeResize="0"/>
          <p:nvPr/>
        </p:nvPicPr>
        <p:blipFill rotWithShape="1">
          <a:blip r:embed="rId3">
            <a:alphaModFix/>
          </a:blip>
          <a:srcRect b="30665" l="23555" r="22727" t="29912"/>
          <a:stretch/>
        </p:blipFill>
        <p:spPr>
          <a:xfrm>
            <a:off x="8791460" y="390327"/>
            <a:ext cx="2959467" cy="1085934"/>
          </a:xfrm>
          <a:prstGeom prst="rect">
            <a:avLst/>
          </a:prstGeom>
          <a:noFill/>
          <a:ln>
            <a:noFill/>
          </a:ln>
        </p:spPr>
      </p:pic>
      <p:sp>
        <p:nvSpPr>
          <p:cNvPr id="302" name="Google Shape;302;g2d535835f33_0_228"/>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303" name="Google Shape;303;g2d535835f33_0_228"/>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304" name="Google Shape;304;g2d535835f33_0_228"/>
          <p:cNvSpPr txBox="1"/>
          <p:nvPr/>
        </p:nvSpPr>
        <p:spPr>
          <a:xfrm>
            <a:off x="319450" y="1625213"/>
            <a:ext cx="9871800" cy="1454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None/>
            </a:pPr>
            <a:r>
              <a:rPr lang="es-AR" sz="1500">
                <a:solidFill>
                  <a:srgbClr val="0D0D0D"/>
                </a:solidFill>
                <a:highlight>
                  <a:schemeClr val="lt1"/>
                </a:highlight>
                <a:latin typeface="Saira"/>
                <a:ea typeface="Saira"/>
                <a:cs typeface="Saira"/>
                <a:sym typeface="Saira"/>
              </a:rPr>
              <a:t>Este ejemplo es un flujo completo de manejo de errores en Python:</a:t>
            </a:r>
            <a:endParaRPr sz="1500">
              <a:solidFill>
                <a:srgbClr val="0D0D0D"/>
              </a:solidFill>
              <a:highlight>
                <a:schemeClr val="lt1"/>
              </a:highlight>
              <a:latin typeface="Saira"/>
              <a:ea typeface="Saira"/>
              <a:cs typeface="Saira"/>
              <a:sym typeface="Saira"/>
            </a:endParaRPr>
          </a:p>
          <a:p>
            <a:pPr indent="-323850" lvl="0" marL="457200" marR="0" rtl="0" algn="l">
              <a:lnSpc>
                <a:spcPct val="150000"/>
              </a:lnSpc>
              <a:spcBef>
                <a:spcPts val="0"/>
              </a:spcBef>
              <a:spcAft>
                <a:spcPts val="0"/>
              </a:spcAft>
              <a:buClr>
                <a:srgbClr val="0D0D0D"/>
              </a:buClr>
              <a:buSzPts val="1500"/>
              <a:buFont typeface="Saira"/>
              <a:buChar char="●"/>
            </a:pPr>
            <a:r>
              <a:rPr lang="es-AR" sz="1500">
                <a:solidFill>
                  <a:srgbClr val="0D0D0D"/>
                </a:solidFill>
                <a:highlight>
                  <a:schemeClr val="lt1"/>
                </a:highlight>
                <a:latin typeface="Saira"/>
                <a:ea typeface="Saira"/>
                <a:cs typeface="Saira"/>
                <a:sym typeface="Saira"/>
              </a:rPr>
              <a:t>Intenta abrir y procesar el archivo.</a:t>
            </a:r>
            <a:endParaRPr sz="1500">
              <a:solidFill>
                <a:srgbClr val="0D0D0D"/>
              </a:solidFill>
              <a:highlight>
                <a:schemeClr val="lt1"/>
              </a:highlight>
              <a:latin typeface="Saira"/>
              <a:ea typeface="Saira"/>
              <a:cs typeface="Saira"/>
              <a:sym typeface="Saira"/>
            </a:endParaRPr>
          </a:p>
          <a:p>
            <a:pPr indent="-323850" lvl="0" marL="457200" marR="0" rtl="0" algn="l">
              <a:lnSpc>
                <a:spcPct val="150000"/>
              </a:lnSpc>
              <a:spcBef>
                <a:spcPts val="0"/>
              </a:spcBef>
              <a:spcAft>
                <a:spcPts val="0"/>
              </a:spcAft>
              <a:buClr>
                <a:srgbClr val="0D0D0D"/>
              </a:buClr>
              <a:buSzPts val="1500"/>
              <a:buFont typeface="Saira"/>
              <a:buChar char="●"/>
            </a:pPr>
            <a:r>
              <a:rPr lang="es-AR" sz="1500">
                <a:solidFill>
                  <a:srgbClr val="0D0D0D"/>
                </a:solidFill>
                <a:highlight>
                  <a:schemeClr val="lt1"/>
                </a:highlight>
                <a:latin typeface="Saira"/>
                <a:ea typeface="Saira"/>
                <a:cs typeface="Saira"/>
                <a:sym typeface="Saira"/>
              </a:rPr>
              <a:t>Captura errores específicos para FileNotFoundError y ValueError.</a:t>
            </a:r>
            <a:endParaRPr sz="1500">
              <a:solidFill>
                <a:srgbClr val="0D0D0D"/>
              </a:solidFill>
              <a:highlight>
                <a:schemeClr val="lt1"/>
              </a:highlight>
              <a:latin typeface="Saira"/>
              <a:ea typeface="Saira"/>
              <a:cs typeface="Saira"/>
              <a:sym typeface="Saira"/>
            </a:endParaRPr>
          </a:p>
          <a:p>
            <a:pPr indent="-323850" lvl="0" marL="457200" marR="0" rtl="0" algn="l">
              <a:lnSpc>
                <a:spcPct val="150000"/>
              </a:lnSpc>
              <a:spcBef>
                <a:spcPts val="0"/>
              </a:spcBef>
              <a:spcAft>
                <a:spcPts val="0"/>
              </a:spcAft>
              <a:buClr>
                <a:srgbClr val="0D0D0D"/>
              </a:buClr>
              <a:buSzPts val="1500"/>
              <a:buFont typeface="Saira"/>
              <a:buChar char="●"/>
            </a:pPr>
            <a:r>
              <a:rPr lang="es-AR" sz="1500">
                <a:solidFill>
                  <a:srgbClr val="0D0D0D"/>
                </a:solidFill>
                <a:highlight>
                  <a:schemeClr val="lt1"/>
                </a:highlight>
                <a:latin typeface="Saira"/>
                <a:ea typeface="Saira"/>
                <a:cs typeface="Saira"/>
                <a:sym typeface="Saira"/>
              </a:rPr>
              <a:t>Cierra el archivo en el bloque finally para asegurarse de que el recurso se libere.</a:t>
            </a:r>
            <a:endParaRPr sz="1500">
              <a:solidFill>
                <a:srgbClr val="0D0D0D"/>
              </a:solidFill>
              <a:highlight>
                <a:schemeClr val="lt1"/>
              </a:highlight>
              <a:latin typeface="Saira"/>
              <a:ea typeface="Saira"/>
              <a:cs typeface="Saira"/>
              <a:sym typeface="Saira"/>
            </a:endParaRPr>
          </a:p>
        </p:txBody>
      </p:sp>
      <p:pic>
        <p:nvPicPr>
          <p:cNvPr id="305" name="Google Shape;305;g2d535835f33_0_228"/>
          <p:cNvPicPr preferRelativeResize="0"/>
          <p:nvPr/>
        </p:nvPicPr>
        <p:blipFill>
          <a:blip r:embed="rId5">
            <a:alphaModFix/>
          </a:blip>
          <a:stretch>
            <a:fillRect/>
          </a:stretch>
        </p:blipFill>
        <p:spPr>
          <a:xfrm>
            <a:off x="2800313" y="2946250"/>
            <a:ext cx="5622275" cy="339195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g2d535835f33_0_217"/>
          <p:cNvSpPr txBox="1"/>
          <p:nvPr/>
        </p:nvSpPr>
        <p:spPr>
          <a:xfrm>
            <a:off x="319439" y="990221"/>
            <a:ext cx="8472000" cy="677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800">
                <a:solidFill>
                  <a:schemeClr val="dk1"/>
                </a:solidFill>
                <a:latin typeface="Saira"/>
                <a:ea typeface="Saira"/>
                <a:cs typeface="Saira"/>
                <a:sym typeface="Saira"/>
              </a:rPr>
              <a:t>Para terminar…</a:t>
            </a:r>
            <a:endParaRPr b="0" i="0" sz="3400" u="none" cap="none" strike="noStrike">
              <a:solidFill>
                <a:schemeClr val="dk1"/>
              </a:solidFill>
              <a:latin typeface="Saira"/>
              <a:ea typeface="Saira"/>
              <a:cs typeface="Saira"/>
              <a:sym typeface="Saira"/>
            </a:endParaRPr>
          </a:p>
        </p:txBody>
      </p:sp>
      <p:pic>
        <p:nvPicPr>
          <p:cNvPr id="311" name="Google Shape;311;g2d535835f33_0_217"/>
          <p:cNvPicPr preferRelativeResize="0"/>
          <p:nvPr/>
        </p:nvPicPr>
        <p:blipFill rotWithShape="1">
          <a:blip r:embed="rId3">
            <a:alphaModFix/>
          </a:blip>
          <a:srcRect b="30665" l="23555" r="22727" t="29912"/>
          <a:stretch/>
        </p:blipFill>
        <p:spPr>
          <a:xfrm>
            <a:off x="8791460" y="390327"/>
            <a:ext cx="2959467" cy="1085934"/>
          </a:xfrm>
          <a:prstGeom prst="rect">
            <a:avLst/>
          </a:prstGeom>
          <a:noFill/>
          <a:ln>
            <a:noFill/>
          </a:ln>
        </p:spPr>
      </p:pic>
      <p:sp>
        <p:nvSpPr>
          <p:cNvPr id="312" name="Google Shape;312;g2d535835f33_0_217"/>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313" name="Google Shape;313;g2d535835f33_0_217"/>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pic>
        <p:nvPicPr>
          <p:cNvPr id="314" name="Google Shape;314;g2d535835f33_0_217"/>
          <p:cNvPicPr preferRelativeResize="0"/>
          <p:nvPr/>
        </p:nvPicPr>
        <p:blipFill>
          <a:blip r:embed="rId5">
            <a:alphaModFix/>
          </a:blip>
          <a:stretch>
            <a:fillRect/>
          </a:stretch>
        </p:blipFill>
        <p:spPr>
          <a:xfrm>
            <a:off x="319450" y="2308600"/>
            <a:ext cx="5744475" cy="2872250"/>
          </a:xfrm>
          <a:prstGeom prst="rect">
            <a:avLst/>
          </a:prstGeom>
          <a:noFill/>
          <a:ln>
            <a:noFill/>
          </a:ln>
        </p:spPr>
      </p:pic>
      <p:pic>
        <p:nvPicPr>
          <p:cNvPr id="315" name="Google Shape;315;g2d535835f33_0_217"/>
          <p:cNvPicPr preferRelativeResize="0"/>
          <p:nvPr/>
        </p:nvPicPr>
        <p:blipFill>
          <a:blip r:embed="rId6">
            <a:alphaModFix/>
          </a:blip>
          <a:stretch>
            <a:fillRect/>
          </a:stretch>
        </p:blipFill>
        <p:spPr>
          <a:xfrm>
            <a:off x="6304213" y="1671863"/>
            <a:ext cx="3506739" cy="447073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pic>
        <p:nvPicPr>
          <p:cNvPr id="320" name="Google Shape;320;g1f3006538ad_0_205"/>
          <p:cNvPicPr preferRelativeResize="0"/>
          <p:nvPr/>
        </p:nvPicPr>
        <p:blipFill rotWithShape="1">
          <a:blip r:embed="rId3">
            <a:alphaModFix/>
          </a:blip>
          <a:srcRect b="30668" l="23553" r="22731" t="29911"/>
          <a:stretch/>
        </p:blipFill>
        <p:spPr>
          <a:xfrm>
            <a:off x="8791460" y="390327"/>
            <a:ext cx="2959467" cy="1085934"/>
          </a:xfrm>
          <a:prstGeom prst="rect">
            <a:avLst/>
          </a:prstGeom>
          <a:noFill/>
          <a:ln>
            <a:noFill/>
          </a:ln>
        </p:spPr>
      </p:pic>
      <p:sp>
        <p:nvSpPr>
          <p:cNvPr id="321" name="Google Shape;321;g1f3006538ad_0_205"/>
          <p:cNvSpPr txBox="1"/>
          <p:nvPr>
            <p:ph idx="10" type="dt"/>
          </p:nvPr>
        </p:nvSpPr>
        <p:spPr>
          <a:xfrm>
            <a:off x="4439400" y="6313325"/>
            <a:ext cx="33132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r>
              <a:rPr lang="es-AR">
                <a:latin typeface="Saira"/>
                <a:ea typeface="Saira"/>
                <a:cs typeface="Saira"/>
                <a:sym typeface="Saira"/>
              </a:rPr>
              <a:t>Laboratorio de computación II  2024</a:t>
            </a:r>
            <a:endParaRPr>
              <a:latin typeface="Saira"/>
              <a:ea typeface="Saira"/>
              <a:cs typeface="Saira"/>
              <a:sym typeface="Saira"/>
            </a:endParaRPr>
          </a:p>
        </p:txBody>
      </p:sp>
      <p:sp>
        <p:nvSpPr>
          <p:cNvPr id="322" name="Google Shape;322;g1f3006538ad_0_205"/>
          <p:cNvSpPr txBox="1"/>
          <p:nvPr/>
        </p:nvSpPr>
        <p:spPr>
          <a:xfrm>
            <a:off x="2846238" y="2307525"/>
            <a:ext cx="6499500" cy="1003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s-AR" sz="2000" u="none" cap="none" strike="noStrike">
                <a:solidFill>
                  <a:srgbClr val="888888"/>
                </a:solidFill>
                <a:latin typeface="Saira"/>
                <a:ea typeface="Saira"/>
                <a:cs typeface="Saira"/>
                <a:sym typeface="Saira"/>
              </a:rPr>
              <a:t>Próxima unidad: </a:t>
            </a:r>
            <a:r>
              <a:rPr lang="es-AR" sz="2000">
                <a:solidFill>
                  <a:srgbClr val="888888"/>
                </a:solidFill>
                <a:latin typeface="Saira"/>
                <a:ea typeface="Saira"/>
                <a:cs typeface="Saira"/>
                <a:sym typeface="Saira"/>
              </a:rPr>
              <a:t>APIs</a:t>
            </a:r>
            <a:endParaRPr b="0" i="0" sz="2000" u="none" cap="none" strike="noStrike">
              <a:solidFill>
                <a:srgbClr val="888888"/>
              </a:solidFill>
              <a:latin typeface="Calibri"/>
              <a:ea typeface="Calibri"/>
              <a:cs typeface="Calibri"/>
              <a:sym typeface="Calibri"/>
            </a:endParaRPr>
          </a:p>
        </p:txBody>
      </p:sp>
      <p:pic>
        <p:nvPicPr>
          <p:cNvPr id="323" name="Google Shape;323;g1f3006538ad_0_205"/>
          <p:cNvPicPr preferRelativeResize="0"/>
          <p:nvPr/>
        </p:nvPicPr>
        <p:blipFill rotWithShape="1">
          <a:blip r:embed="rId4">
            <a:alphaModFix/>
          </a:blip>
          <a:srcRect b="0" l="0" r="0" t="0"/>
          <a:stretch/>
        </p:blipFill>
        <p:spPr>
          <a:xfrm>
            <a:off x="4964432" y="3311318"/>
            <a:ext cx="2263150" cy="22928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2023-03-07T21:33:27Z</dcterms:created>
  <dc:creator>Carlos Sebastián Pedraza</dc:creator>
</cp:coreProperties>
</file>