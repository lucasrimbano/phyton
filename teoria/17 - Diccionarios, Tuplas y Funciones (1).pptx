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Saira"/>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hlPOF9ZNE6/wG15dfAvnHaWmb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Saira-bold.fntdata"/><Relationship Id="rId30" Type="http://schemas.openxmlformats.org/officeDocument/2006/relationships/font" Target="fonts/Saira-regular.fntdata"/><Relationship Id="rId11" Type="http://schemas.openxmlformats.org/officeDocument/2006/relationships/slide" Target="slides/slide7.xml"/><Relationship Id="rId33" Type="http://schemas.openxmlformats.org/officeDocument/2006/relationships/font" Target="fonts/Saira-boldItalic.fntdata"/><Relationship Id="rId10" Type="http://schemas.openxmlformats.org/officeDocument/2006/relationships/slide" Target="slides/slide6.xml"/><Relationship Id="rId32" Type="http://schemas.openxmlformats.org/officeDocument/2006/relationships/font" Target="fonts/Saira-italic.fntdata"/><Relationship Id="rId13" Type="http://schemas.openxmlformats.org/officeDocument/2006/relationships/slide" Target="slides/slide9.xml"/><Relationship Id="rId12" Type="http://schemas.openxmlformats.org/officeDocument/2006/relationships/slide" Target="slides/slide8.xml"/><Relationship Id="rId34"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0dae6325eb_1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g20dae6325eb_1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e06f2f556a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g2e06f2f556a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e0920f1d41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g2e0920f1d41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e0920f1d41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g2e0920f1d41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e0920f1d41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g2e0920f1d41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f2ce82f4ef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g1f2ce82f4ef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e0920f1d41_0_1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2e0920f1d41_0_1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e0920f1d41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2e0920f1d41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e0920f1d41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g2e0920f1d41_0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e0920f1d41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g2e0920f1d41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e0920f1d41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g2e0920f1d41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02c77a19e3_0_2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g202c77a19e3_0_2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e0920f1d41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g2e0920f1d41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e0920f1d41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g2e0920f1d41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e0920f1d41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g2e0920f1d41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ddb62af2b6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1" name="Google Shape;261;g2ddb62af2b6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e0920f1d41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g2e0920f1d41_0_1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e0920f1d41_0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g2e0920f1d41_0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e0920f1d41_0_1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g2e0920f1d41_0_1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0dae6325eb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 name="Google Shape;301;g20dae6325eb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e0920f1d41_0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1" name="Google Shape;311;g2e0920f1d41_0_1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e0920f1d41_0_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1" name="Google Shape;321;g2e0920f1d41_0_1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02c77a19e3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1" name="Google Shape;331;g202c77a19e3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f3006538ad_0_2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0" name="Google Shape;340;g1f3006538ad_0_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5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6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6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6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6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6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5"/>
          <p:cNvSpPr/>
          <p:nvPr>
            <p:ph idx="2" type="pic"/>
          </p:nvPr>
        </p:nvSpPr>
        <p:spPr>
          <a:xfrm>
            <a:off x="5183188" y="987425"/>
            <a:ext cx="6172200" cy="4873625"/>
          </a:xfrm>
          <a:prstGeom prst="rect">
            <a:avLst/>
          </a:prstGeom>
          <a:noFill/>
          <a:ln>
            <a:noFill/>
          </a:ln>
        </p:spPr>
      </p:sp>
      <p:sp>
        <p:nvSpPr>
          <p:cNvPr id="64" name="Google Shape;64;p6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6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jp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jp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jp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jp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jp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jp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jp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jp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252814" y="1014596"/>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b="0" i="0" lang="es-AR" sz="4200" u="none" cap="none" strike="noStrike">
                <a:solidFill>
                  <a:schemeClr val="dk1"/>
                </a:solidFill>
                <a:latin typeface="Saira"/>
                <a:ea typeface="Saira"/>
                <a:cs typeface="Saira"/>
                <a:sym typeface="Saira"/>
              </a:rPr>
              <a:t>Laboratorio de computación II</a:t>
            </a:r>
            <a:endParaRPr b="0" i="0" sz="5400" u="none" cap="none" strike="noStrike">
              <a:solidFill>
                <a:schemeClr val="dk1"/>
              </a:solidFill>
              <a:latin typeface="Saira"/>
              <a:ea typeface="Saira"/>
              <a:cs typeface="Saira"/>
              <a:sym typeface="Saira"/>
            </a:endParaRPr>
          </a:p>
        </p:txBody>
      </p:sp>
      <p:pic>
        <p:nvPicPr>
          <p:cNvPr id="85" name="Google Shape;85;p1"/>
          <p:cNvPicPr preferRelativeResize="0"/>
          <p:nvPr/>
        </p:nvPicPr>
        <p:blipFill rotWithShape="1">
          <a:blip r:embed="rId3">
            <a:alphaModFix/>
          </a:blip>
          <a:srcRect b="30673" l="23551" r="22738" t="29909"/>
          <a:stretch/>
        </p:blipFill>
        <p:spPr>
          <a:xfrm>
            <a:off x="8791460" y="390327"/>
            <a:ext cx="2959466" cy="1085934"/>
          </a:xfrm>
          <a:prstGeom prst="rect">
            <a:avLst/>
          </a:prstGeom>
          <a:noFill/>
          <a:ln>
            <a:noFill/>
          </a:ln>
        </p:spPr>
      </p:pic>
      <p:sp>
        <p:nvSpPr>
          <p:cNvPr id="86" name="Google Shape;86;p1"/>
          <p:cNvSpPr txBox="1"/>
          <p:nvPr/>
        </p:nvSpPr>
        <p:spPr>
          <a:xfrm>
            <a:off x="2324175" y="2285050"/>
            <a:ext cx="75435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AR" sz="2800" u="none" cap="none" strike="noStrike">
                <a:solidFill>
                  <a:schemeClr val="dk1"/>
                </a:solidFill>
                <a:latin typeface="Saira"/>
                <a:ea typeface="Saira"/>
                <a:cs typeface="Saira"/>
                <a:sym typeface="Saira"/>
              </a:rPr>
              <a:t>Unidad 1</a:t>
            </a:r>
            <a:r>
              <a:rPr lang="es-AR" sz="2800">
                <a:solidFill>
                  <a:schemeClr val="dk1"/>
                </a:solidFill>
                <a:latin typeface="Saira"/>
                <a:ea typeface="Saira"/>
                <a:cs typeface="Saira"/>
                <a:sym typeface="Saira"/>
              </a:rPr>
              <a:t>7</a:t>
            </a:r>
            <a:r>
              <a:rPr b="0" i="0" lang="es-AR" sz="2800" u="none" cap="none" strike="noStrike">
                <a:solidFill>
                  <a:schemeClr val="dk1"/>
                </a:solidFill>
                <a:latin typeface="Saira"/>
                <a:ea typeface="Saira"/>
                <a:cs typeface="Saira"/>
                <a:sym typeface="Saira"/>
              </a:rPr>
              <a:t> - </a:t>
            </a:r>
            <a:r>
              <a:rPr lang="es-AR" sz="2800">
                <a:solidFill>
                  <a:schemeClr val="dk1"/>
                </a:solidFill>
                <a:latin typeface="Saira"/>
                <a:ea typeface="Saira"/>
                <a:cs typeface="Saira"/>
                <a:sym typeface="Saira"/>
              </a:rPr>
              <a:t>Diccionarios, Tuplas y Funciones</a:t>
            </a:r>
            <a:r>
              <a:rPr b="0" i="0" lang="es-AR" sz="2800" u="none" cap="none" strike="noStrike">
                <a:solidFill>
                  <a:schemeClr val="dk1"/>
                </a:solidFill>
                <a:latin typeface="Saira"/>
                <a:ea typeface="Saira"/>
                <a:cs typeface="Saira"/>
                <a:sym typeface="Saira"/>
              </a:rPr>
              <a:t> .</a:t>
            </a:r>
            <a:endParaRPr b="0" i="0" sz="2800" u="none" cap="none" strike="noStrike">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Saira"/>
              <a:ea typeface="Saira"/>
              <a:cs typeface="Saira"/>
              <a:sym typeface="Saira"/>
            </a:endParaRPr>
          </a:p>
        </p:txBody>
      </p:sp>
      <p:sp>
        <p:nvSpPr>
          <p:cNvPr id="87" name="Google Shape;87;p1"/>
          <p:cNvSpPr txBox="1"/>
          <p:nvPr/>
        </p:nvSpPr>
        <p:spPr>
          <a:xfrm>
            <a:off x="4439325"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Calibri"/>
              <a:ea typeface="Calibri"/>
              <a:cs typeface="Calibri"/>
              <a:sym typeface="Calibri"/>
            </a:endParaRPr>
          </a:p>
        </p:txBody>
      </p:sp>
      <p:pic>
        <p:nvPicPr>
          <p:cNvPr id="88" name="Google Shape;88;p1"/>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pic>
        <p:nvPicPr>
          <p:cNvPr id="89" name="Google Shape;89;p1"/>
          <p:cNvPicPr preferRelativeResize="0"/>
          <p:nvPr/>
        </p:nvPicPr>
        <p:blipFill>
          <a:blip r:embed="rId5">
            <a:alphaModFix/>
          </a:blip>
          <a:stretch>
            <a:fillRect/>
          </a:stretch>
        </p:blipFill>
        <p:spPr>
          <a:xfrm>
            <a:off x="3686175" y="3164875"/>
            <a:ext cx="4819650" cy="2552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20dae6325eb_1_30"/>
          <p:cNvSpPr txBox="1"/>
          <p:nvPr/>
        </p:nvSpPr>
        <p:spPr>
          <a:xfrm>
            <a:off x="252814" y="1014596"/>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Diccionarios </a:t>
            </a:r>
            <a:endParaRPr b="0" i="0" sz="5400" u="none" cap="none" strike="noStrike">
              <a:solidFill>
                <a:schemeClr val="dk1"/>
              </a:solidFill>
              <a:latin typeface="Saira"/>
              <a:ea typeface="Saira"/>
              <a:cs typeface="Saira"/>
              <a:sym typeface="Saira"/>
            </a:endParaRPr>
          </a:p>
        </p:txBody>
      </p:sp>
      <p:pic>
        <p:nvPicPr>
          <p:cNvPr id="95" name="Google Shape;95;g20dae6325eb_1_30"/>
          <p:cNvPicPr preferRelativeResize="0"/>
          <p:nvPr/>
        </p:nvPicPr>
        <p:blipFill rotWithShape="1">
          <a:blip r:embed="rId3">
            <a:alphaModFix/>
          </a:blip>
          <a:srcRect b="30671" l="23552" r="22735" t="29910"/>
          <a:stretch/>
        </p:blipFill>
        <p:spPr>
          <a:xfrm>
            <a:off x="8791460" y="390327"/>
            <a:ext cx="2959467" cy="1085934"/>
          </a:xfrm>
          <a:prstGeom prst="rect">
            <a:avLst/>
          </a:prstGeom>
          <a:noFill/>
          <a:ln>
            <a:noFill/>
          </a:ln>
        </p:spPr>
      </p:pic>
      <p:sp>
        <p:nvSpPr>
          <p:cNvPr id="96" name="Google Shape;96;g20dae6325eb_1_30"/>
          <p:cNvSpPr txBox="1"/>
          <p:nvPr/>
        </p:nvSpPr>
        <p:spPr>
          <a:xfrm>
            <a:off x="4439325"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Calibri"/>
              <a:ea typeface="Calibri"/>
              <a:cs typeface="Calibri"/>
              <a:sym typeface="Calibri"/>
            </a:endParaRPr>
          </a:p>
        </p:txBody>
      </p:sp>
      <p:pic>
        <p:nvPicPr>
          <p:cNvPr id="97" name="Google Shape;97;g20dae6325eb_1_30"/>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98" name="Google Shape;98;g20dae6325eb_1_30"/>
          <p:cNvSpPr txBox="1"/>
          <p:nvPr/>
        </p:nvSpPr>
        <p:spPr>
          <a:xfrm>
            <a:off x="252825" y="1804750"/>
            <a:ext cx="106599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200">
                <a:solidFill>
                  <a:srgbClr val="0D0D0D"/>
                </a:solidFill>
                <a:highlight>
                  <a:srgbClr val="FFFFFF"/>
                </a:highlight>
                <a:latin typeface="Saira"/>
                <a:ea typeface="Saira"/>
                <a:cs typeface="Saira"/>
                <a:sym typeface="Saira"/>
              </a:rPr>
              <a:t>Un diccionario es una colección desordenada, modificable e indexada de elementos. En lugar de usar índices numéricos como las listas, los diccionarios usan claves únicas para acceder a sus valores.</a:t>
            </a:r>
            <a:endParaRPr sz="2200">
              <a:latin typeface="Saira"/>
              <a:ea typeface="Saira"/>
              <a:cs typeface="Saira"/>
              <a:sym typeface="Saira"/>
            </a:endParaRPr>
          </a:p>
        </p:txBody>
      </p:sp>
      <p:sp>
        <p:nvSpPr>
          <p:cNvPr id="99" name="Google Shape;99;g20dae6325eb_1_30"/>
          <p:cNvSpPr txBox="1"/>
          <p:nvPr/>
        </p:nvSpPr>
        <p:spPr>
          <a:xfrm>
            <a:off x="4056525" y="3236625"/>
            <a:ext cx="3052500" cy="2216400"/>
          </a:xfrm>
          <a:prstGeom prst="rect">
            <a:avLst/>
          </a:prstGeom>
          <a:solidFill>
            <a:srgbClr val="B6D7A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mi_diccionario =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"clave1": "valor1",</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"clave2": "valor2",</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"clave3": "valor3"</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2e06f2f556a_0_7"/>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Diccionario con Elementos</a:t>
            </a:r>
            <a:endParaRPr b="0" i="0" sz="5400" u="none" cap="none" strike="noStrike">
              <a:solidFill>
                <a:schemeClr val="dk1"/>
              </a:solidFill>
              <a:latin typeface="Saira"/>
              <a:ea typeface="Saira"/>
              <a:cs typeface="Saira"/>
              <a:sym typeface="Saira"/>
            </a:endParaRPr>
          </a:p>
        </p:txBody>
      </p:sp>
      <p:pic>
        <p:nvPicPr>
          <p:cNvPr id="105" name="Google Shape;105;g2e06f2f556a_0_7"/>
          <p:cNvPicPr preferRelativeResize="0"/>
          <p:nvPr/>
        </p:nvPicPr>
        <p:blipFill rotWithShape="1">
          <a:blip r:embed="rId3">
            <a:alphaModFix/>
          </a:blip>
          <a:srcRect b="30665" l="23553" r="22731" t="29912"/>
          <a:stretch/>
        </p:blipFill>
        <p:spPr>
          <a:xfrm>
            <a:off x="8791460" y="390327"/>
            <a:ext cx="2959467" cy="1085934"/>
          </a:xfrm>
          <a:prstGeom prst="rect">
            <a:avLst/>
          </a:prstGeom>
          <a:noFill/>
          <a:ln>
            <a:noFill/>
          </a:ln>
        </p:spPr>
      </p:pic>
      <p:sp>
        <p:nvSpPr>
          <p:cNvPr id="106" name="Google Shape;106;g2e06f2f556a_0_7"/>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07" name="Google Shape;107;g2e06f2f556a_0_7"/>
          <p:cNvSpPr txBox="1"/>
          <p:nvPr/>
        </p:nvSpPr>
        <p:spPr>
          <a:xfrm>
            <a:off x="438450" y="1989050"/>
            <a:ext cx="8812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Pueden crear un diccionario vacío y luego añadirle elementos, o puedes crear un diccionario con elementos directamente.</a:t>
            </a:r>
            <a:endParaRPr sz="1800">
              <a:solidFill>
                <a:srgbClr val="0D0D0D"/>
              </a:solidFill>
              <a:highlight>
                <a:srgbClr val="FFFFFF"/>
              </a:highlight>
              <a:latin typeface="Saira"/>
              <a:ea typeface="Saira"/>
              <a:cs typeface="Saira"/>
              <a:sym typeface="Saira"/>
            </a:endParaRPr>
          </a:p>
        </p:txBody>
      </p:sp>
      <p:pic>
        <p:nvPicPr>
          <p:cNvPr id="108" name="Google Shape;108;g2e06f2f556a_0_7"/>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09" name="Google Shape;109;g2e06f2f556a_0_7"/>
          <p:cNvSpPr txBox="1"/>
          <p:nvPr/>
        </p:nvSpPr>
        <p:spPr>
          <a:xfrm>
            <a:off x="556900" y="2710675"/>
            <a:ext cx="9394800" cy="523200"/>
          </a:xfrm>
          <a:prstGeom prst="rect">
            <a:avLst/>
          </a:prstGeom>
          <a:solidFill>
            <a:srgbClr val="B6D7A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diccionario_vacio = {}</a:t>
            </a:r>
            <a:endParaRPr sz="2200">
              <a:latin typeface="Saira"/>
              <a:ea typeface="Saira"/>
              <a:cs typeface="Saira"/>
              <a:sym typeface="Saira"/>
            </a:endParaRPr>
          </a:p>
        </p:txBody>
      </p:sp>
      <p:sp>
        <p:nvSpPr>
          <p:cNvPr id="110" name="Google Shape;110;g2e06f2f556a_0_7"/>
          <p:cNvSpPr txBox="1"/>
          <p:nvPr/>
        </p:nvSpPr>
        <p:spPr>
          <a:xfrm>
            <a:off x="556900" y="3802775"/>
            <a:ext cx="9394800" cy="1877700"/>
          </a:xfrm>
          <a:prstGeom prst="rect">
            <a:avLst/>
          </a:prstGeom>
          <a:solidFill>
            <a:srgbClr val="B6D7A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mi_diccionario =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"nombre": "Juan",</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"edad": 25,</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"ciudad": "Madrid"</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a:t>
            </a:r>
            <a:endParaRPr sz="2200">
              <a:latin typeface="Saira"/>
              <a:ea typeface="Saira"/>
              <a:cs typeface="Saira"/>
              <a:sym typeface="Saira"/>
            </a:endParaRPr>
          </a:p>
        </p:txBody>
      </p:sp>
      <p:sp>
        <p:nvSpPr>
          <p:cNvPr id="111" name="Google Shape;111;g2e06f2f556a_0_7"/>
          <p:cNvSpPr txBox="1"/>
          <p:nvPr/>
        </p:nvSpPr>
        <p:spPr>
          <a:xfrm>
            <a:off x="556900" y="3287475"/>
            <a:ext cx="8812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Diccionario con Elementos</a:t>
            </a:r>
            <a:endParaRPr sz="1800">
              <a:solidFill>
                <a:srgbClr val="0D0D0D"/>
              </a:solidFill>
              <a:highlight>
                <a:srgbClr val="FFFFFF"/>
              </a:highlight>
              <a:latin typeface="Saira"/>
              <a:ea typeface="Saira"/>
              <a:cs typeface="Saira"/>
              <a:sym typeface="Sai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2e0920f1d41_0_1"/>
          <p:cNvSpPr txBox="1"/>
          <p:nvPr/>
        </p:nvSpPr>
        <p:spPr>
          <a:xfrm>
            <a:off x="319439" y="990221"/>
            <a:ext cx="84720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400">
                <a:solidFill>
                  <a:schemeClr val="dk1"/>
                </a:solidFill>
                <a:latin typeface="Saira"/>
                <a:ea typeface="Saira"/>
                <a:cs typeface="Saira"/>
                <a:sym typeface="Saira"/>
              </a:rPr>
              <a:t>Acceder a los Elementos del Diccionario</a:t>
            </a:r>
            <a:endParaRPr b="0" i="0" sz="4600" u="none" cap="none" strike="noStrike">
              <a:solidFill>
                <a:schemeClr val="dk1"/>
              </a:solidFill>
              <a:latin typeface="Saira"/>
              <a:ea typeface="Saira"/>
              <a:cs typeface="Saira"/>
              <a:sym typeface="Saira"/>
            </a:endParaRPr>
          </a:p>
        </p:txBody>
      </p:sp>
      <p:pic>
        <p:nvPicPr>
          <p:cNvPr id="117" name="Google Shape;117;g2e0920f1d41_0_1"/>
          <p:cNvPicPr preferRelativeResize="0"/>
          <p:nvPr/>
        </p:nvPicPr>
        <p:blipFill rotWithShape="1">
          <a:blip r:embed="rId3">
            <a:alphaModFix/>
          </a:blip>
          <a:srcRect b="30665" l="23553" r="22731" t="29912"/>
          <a:stretch/>
        </p:blipFill>
        <p:spPr>
          <a:xfrm>
            <a:off x="8791460" y="390327"/>
            <a:ext cx="2959467" cy="1085934"/>
          </a:xfrm>
          <a:prstGeom prst="rect">
            <a:avLst/>
          </a:prstGeom>
          <a:noFill/>
          <a:ln>
            <a:noFill/>
          </a:ln>
        </p:spPr>
      </p:pic>
      <p:sp>
        <p:nvSpPr>
          <p:cNvPr id="118" name="Google Shape;118;g2e0920f1d41_0_1"/>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19" name="Google Shape;119;g2e0920f1d41_0_1"/>
          <p:cNvSpPr txBox="1"/>
          <p:nvPr/>
        </p:nvSpPr>
        <p:spPr>
          <a:xfrm>
            <a:off x="469375" y="1724013"/>
            <a:ext cx="8812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Para acceder a un valor en el diccionario, usas la clave correspondiente entre corchetes [].</a:t>
            </a:r>
            <a:endParaRPr sz="1800">
              <a:solidFill>
                <a:srgbClr val="0D0D0D"/>
              </a:solidFill>
              <a:highlight>
                <a:srgbClr val="FFFFFF"/>
              </a:highlight>
              <a:latin typeface="Saira"/>
              <a:ea typeface="Saira"/>
              <a:cs typeface="Saira"/>
              <a:sym typeface="Saira"/>
            </a:endParaRPr>
          </a:p>
        </p:txBody>
      </p:sp>
      <p:pic>
        <p:nvPicPr>
          <p:cNvPr id="120" name="Google Shape;120;g2e0920f1d41_0_1"/>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21" name="Google Shape;121;g2e0920f1d41_0_1"/>
          <p:cNvSpPr txBox="1"/>
          <p:nvPr/>
        </p:nvSpPr>
        <p:spPr>
          <a:xfrm>
            <a:off x="556900" y="2710675"/>
            <a:ext cx="9394800" cy="1200600"/>
          </a:xfrm>
          <a:prstGeom prst="rect">
            <a:avLst/>
          </a:prstGeom>
          <a:solidFill>
            <a:srgbClr val="B6D7A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print(mi_diccionario["nombre"])  # Output: Juan</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print(mi_diccionario["edad"])    # Output: 25</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p:txBody>
      </p:sp>
      <p:sp>
        <p:nvSpPr>
          <p:cNvPr id="122" name="Google Shape;122;g2e0920f1d41_0_1"/>
          <p:cNvSpPr txBox="1"/>
          <p:nvPr/>
        </p:nvSpPr>
        <p:spPr>
          <a:xfrm>
            <a:off x="556900" y="4672275"/>
            <a:ext cx="9394800" cy="1200600"/>
          </a:xfrm>
          <a:prstGeom prst="rect">
            <a:avLst/>
          </a:prstGeom>
          <a:solidFill>
            <a:srgbClr val="B6D7A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mi_diccionario["edad"] = 26</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print(mi_diccionario["edad"])    # Output: 26</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p:txBody>
      </p:sp>
      <p:sp>
        <p:nvSpPr>
          <p:cNvPr id="123" name="Google Shape;123;g2e0920f1d41_0_1"/>
          <p:cNvSpPr txBox="1"/>
          <p:nvPr/>
        </p:nvSpPr>
        <p:spPr>
          <a:xfrm>
            <a:off x="469375" y="4060925"/>
            <a:ext cx="8812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Modificar Elementos del Diccionario</a:t>
            </a:r>
            <a:endParaRPr sz="1800">
              <a:solidFill>
                <a:srgbClr val="0D0D0D"/>
              </a:solidFill>
              <a:highlight>
                <a:srgbClr val="FFFFFF"/>
              </a:highlight>
              <a:latin typeface="Saira"/>
              <a:ea typeface="Saira"/>
              <a:cs typeface="Saira"/>
              <a:sym typeface="Sai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2e0920f1d41_0_12"/>
          <p:cNvSpPr txBox="1"/>
          <p:nvPr/>
        </p:nvSpPr>
        <p:spPr>
          <a:xfrm>
            <a:off x="319439" y="990221"/>
            <a:ext cx="84720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000">
                <a:solidFill>
                  <a:schemeClr val="dk1"/>
                </a:solidFill>
                <a:latin typeface="Saira"/>
                <a:ea typeface="Saira"/>
                <a:cs typeface="Saira"/>
                <a:sym typeface="Saira"/>
              </a:rPr>
              <a:t>Añadir Nuevos Elementos al Diccionario</a:t>
            </a:r>
            <a:endParaRPr b="0" i="0" sz="3000" u="none" cap="none" strike="noStrike">
              <a:solidFill>
                <a:schemeClr val="dk1"/>
              </a:solidFill>
              <a:latin typeface="Saira"/>
              <a:ea typeface="Saira"/>
              <a:cs typeface="Saira"/>
              <a:sym typeface="Saira"/>
            </a:endParaRPr>
          </a:p>
        </p:txBody>
      </p:sp>
      <p:pic>
        <p:nvPicPr>
          <p:cNvPr id="129" name="Google Shape;129;g2e0920f1d41_0_12"/>
          <p:cNvPicPr preferRelativeResize="0"/>
          <p:nvPr/>
        </p:nvPicPr>
        <p:blipFill rotWithShape="1">
          <a:blip r:embed="rId3">
            <a:alphaModFix/>
          </a:blip>
          <a:srcRect b="30665" l="23553" r="22731" t="29912"/>
          <a:stretch/>
        </p:blipFill>
        <p:spPr>
          <a:xfrm>
            <a:off x="8791460" y="390327"/>
            <a:ext cx="2959467" cy="1085934"/>
          </a:xfrm>
          <a:prstGeom prst="rect">
            <a:avLst/>
          </a:prstGeom>
          <a:noFill/>
          <a:ln>
            <a:noFill/>
          </a:ln>
        </p:spPr>
      </p:pic>
      <p:sp>
        <p:nvSpPr>
          <p:cNvPr id="130" name="Google Shape;130;g2e0920f1d41_0_12"/>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31" name="Google Shape;131;g2e0920f1d41_0_12"/>
          <p:cNvSpPr txBox="1"/>
          <p:nvPr/>
        </p:nvSpPr>
        <p:spPr>
          <a:xfrm>
            <a:off x="319450" y="1713675"/>
            <a:ext cx="8812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Para añadir un nuevo par clave-valor, simplemente asignas un valor a una nueva clave.</a:t>
            </a:r>
            <a:endParaRPr sz="1800">
              <a:solidFill>
                <a:srgbClr val="0D0D0D"/>
              </a:solidFill>
              <a:highlight>
                <a:srgbClr val="FFFFFF"/>
              </a:highlight>
              <a:latin typeface="Saira"/>
              <a:ea typeface="Saira"/>
              <a:cs typeface="Saira"/>
              <a:sym typeface="Saira"/>
            </a:endParaRPr>
          </a:p>
        </p:txBody>
      </p:sp>
      <p:pic>
        <p:nvPicPr>
          <p:cNvPr id="132" name="Google Shape;132;g2e0920f1d41_0_12"/>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33" name="Google Shape;133;g2e0920f1d41_0_12"/>
          <p:cNvSpPr txBox="1"/>
          <p:nvPr/>
        </p:nvSpPr>
        <p:spPr>
          <a:xfrm>
            <a:off x="2872900" y="2720950"/>
            <a:ext cx="5477100" cy="861900"/>
          </a:xfrm>
          <a:prstGeom prst="rect">
            <a:avLst/>
          </a:prstGeom>
          <a:solidFill>
            <a:srgbClr val="B6D7A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mi_diccionario["profesión"] = "Ingeniero"</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print(mi_diccionario)</a:t>
            </a:r>
            <a:endParaRPr sz="2200">
              <a:latin typeface="Saira"/>
              <a:ea typeface="Saira"/>
              <a:cs typeface="Saira"/>
              <a:sym typeface="Sai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2e0920f1d41_0_23"/>
          <p:cNvSpPr txBox="1"/>
          <p:nvPr/>
        </p:nvSpPr>
        <p:spPr>
          <a:xfrm>
            <a:off x="319439" y="990221"/>
            <a:ext cx="84720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400">
                <a:solidFill>
                  <a:schemeClr val="dk1"/>
                </a:solidFill>
                <a:latin typeface="Saira"/>
                <a:ea typeface="Saira"/>
                <a:cs typeface="Saira"/>
                <a:sym typeface="Saira"/>
              </a:rPr>
              <a:t>Eliminar Elementos del Diccionario</a:t>
            </a:r>
            <a:endParaRPr b="0" i="0" sz="4600" u="none" cap="none" strike="noStrike">
              <a:solidFill>
                <a:schemeClr val="dk1"/>
              </a:solidFill>
              <a:latin typeface="Saira"/>
              <a:ea typeface="Saira"/>
              <a:cs typeface="Saira"/>
              <a:sym typeface="Saira"/>
            </a:endParaRPr>
          </a:p>
        </p:txBody>
      </p:sp>
      <p:pic>
        <p:nvPicPr>
          <p:cNvPr id="139" name="Google Shape;139;g2e0920f1d41_0_23"/>
          <p:cNvPicPr preferRelativeResize="0"/>
          <p:nvPr/>
        </p:nvPicPr>
        <p:blipFill rotWithShape="1">
          <a:blip r:embed="rId3">
            <a:alphaModFix/>
          </a:blip>
          <a:srcRect b="30665" l="23553" r="22731" t="29912"/>
          <a:stretch/>
        </p:blipFill>
        <p:spPr>
          <a:xfrm>
            <a:off x="8791460" y="390327"/>
            <a:ext cx="2959467" cy="1085934"/>
          </a:xfrm>
          <a:prstGeom prst="rect">
            <a:avLst/>
          </a:prstGeom>
          <a:noFill/>
          <a:ln>
            <a:noFill/>
          </a:ln>
        </p:spPr>
      </p:pic>
      <p:sp>
        <p:nvSpPr>
          <p:cNvPr id="140" name="Google Shape;140;g2e0920f1d41_0_23"/>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41" name="Google Shape;141;g2e0920f1d41_0_23"/>
          <p:cNvSpPr txBox="1"/>
          <p:nvPr/>
        </p:nvSpPr>
        <p:spPr>
          <a:xfrm>
            <a:off x="469375" y="1724013"/>
            <a:ext cx="8812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Puedes eliminar elementos del diccionario usando el método pop() o la palabra clave del.</a:t>
            </a:r>
            <a:endParaRPr sz="1800">
              <a:solidFill>
                <a:srgbClr val="0D0D0D"/>
              </a:solidFill>
              <a:highlight>
                <a:srgbClr val="FFFFFF"/>
              </a:highlight>
              <a:latin typeface="Saira"/>
              <a:ea typeface="Saira"/>
              <a:cs typeface="Saira"/>
              <a:sym typeface="Saira"/>
            </a:endParaRPr>
          </a:p>
        </p:txBody>
      </p:sp>
      <p:pic>
        <p:nvPicPr>
          <p:cNvPr id="142" name="Google Shape;142;g2e0920f1d41_0_23"/>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43" name="Google Shape;143;g2e0920f1d41_0_23"/>
          <p:cNvSpPr txBox="1"/>
          <p:nvPr/>
        </p:nvSpPr>
        <p:spPr>
          <a:xfrm>
            <a:off x="2493175" y="2669425"/>
            <a:ext cx="4764600" cy="2216400"/>
          </a:xfrm>
          <a:prstGeom prst="rect">
            <a:avLst/>
          </a:prstGeom>
          <a:solidFill>
            <a:srgbClr val="B6D7A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mi_diccionario.pop("ciudad")</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print(mi_diccionario)</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del mi_diccionario["profesión"]</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print(mi_diccionario)</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1f2ce82f4ef_0_5"/>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Métodos Útiles de Diccionarios</a:t>
            </a:r>
            <a:endParaRPr b="0" i="0" sz="5400" u="none" cap="none" strike="noStrike">
              <a:solidFill>
                <a:schemeClr val="dk1"/>
              </a:solidFill>
              <a:latin typeface="Saira"/>
              <a:ea typeface="Saira"/>
              <a:cs typeface="Saira"/>
              <a:sym typeface="Saira"/>
            </a:endParaRPr>
          </a:p>
        </p:txBody>
      </p:sp>
      <p:pic>
        <p:nvPicPr>
          <p:cNvPr id="149" name="Google Shape;149;g1f2ce82f4ef_0_5"/>
          <p:cNvPicPr preferRelativeResize="0"/>
          <p:nvPr/>
        </p:nvPicPr>
        <p:blipFill rotWithShape="1">
          <a:blip r:embed="rId3">
            <a:alphaModFix/>
          </a:blip>
          <a:srcRect b="30673" l="23551" r="22738" t="29909"/>
          <a:stretch/>
        </p:blipFill>
        <p:spPr>
          <a:xfrm>
            <a:off x="8791460" y="390327"/>
            <a:ext cx="2959467" cy="1085934"/>
          </a:xfrm>
          <a:prstGeom prst="rect">
            <a:avLst/>
          </a:prstGeom>
          <a:noFill/>
          <a:ln>
            <a:noFill/>
          </a:ln>
        </p:spPr>
      </p:pic>
      <p:sp>
        <p:nvSpPr>
          <p:cNvPr id="150" name="Google Shape;150;g1f2ce82f4ef_0_5"/>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51" name="Google Shape;151;g1f2ce82f4ef_0_5"/>
          <p:cNvSpPr txBox="1"/>
          <p:nvPr/>
        </p:nvSpPr>
        <p:spPr>
          <a:xfrm>
            <a:off x="490000" y="2411875"/>
            <a:ext cx="881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Saira"/>
              <a:ea typeface="Saira"/>
              <a:cs typeface="Saira"/>
              <a:sym typeface="Saira"/>
            </a:endParaRPr>
          </a:p>
        </p:txBody>
      </p:sp>
      <p:sp>
        <p:nvSpPr>
          <p:cNvPr id="152" name="Google Shape;152;g1f2ce82f4ef_0_5"/>
          <p:cNvSpPr txBox="1"/>
          <p:nvPr/>
        </p:nvSpPr>
        <p:spPr>
          <a:xfrm>
            <a:off x="564550" y="1901925"/>
            <a:ext cx="8663100" cy="12930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00000"/>
              </a:lnSpc>
              <a:spcBef>
                <a:spcPts val="0"/>
              </a:spcBef>
              <a:spcAft>
                <a:spcPts val="0"/>
              </a:spcAft>
              <a:buClr>
                <a:schemeClr val="dk1"/>
              </a:buClr>
              <a:buSzPts val="1800"/>
              <a:buFont typeface="Saira"/>
              <a:buChar char="●"/>
            </a:pPr>
            <a:r>
              <a:rPr lang="es-AR" sz="1800">
                <a:solidFill>
                  <a:schemeClr val="dk1"/>
                </a:solidFill>
                <a:latin typeface="Saira"/>
                <a:ea typeface="Saira"/>
                <a:cs typeface="Saira"/>
                <a:sym typeface="Saira"/>
              </a:rPr>
              <a:t>keys(): Devuelve una vista de todas las claves en el diccionario.</a:t>
            </a:r>
            <a:endParaRPr sz="1800">
              <a:solidFill>
                <a:schemeClr val="dk1"/>
              </a:solidFill>
              <a:latin typeface="Saira"/>
              <a:ea typeface="Saira"/>
              <a:cs typeface="Saira"/>
              <a:sym typeface="Saira"/>
            </a:endParaRPr>
          </a:p>
          <a:p>
            <a:pPr indent="-342900" lvl="0" marL="457200" marR="0" rtl="0" algn="l">
              <a:lnSpc>
                <a:spcPct val="100000"/>
              </a:lnSpc>
              <a:spcBef>
                <a:spcPts val="0"/>
              </a:spcBef>
              <a:spcAft>
                <a:spcPts val="0"/>
              </a:spcAft>
              <a:buClr>
                <a:schemeClr val="dk1"/>
              </a:buClr>
              <a:buSzPts val="1800"/>
              <a:buFont typeface="Saira"/>
              <a:buChar char="●"/>
            </a:pPr>
            <a:r>
              <a:rPr lang="es-AR" sz="1800">
                <a:solidFill>
                  <a:schemeClr val="dk1"/>
                </a:solidFill>
                <a:latin typeface="Saira"/>
                <a:ea typeface="Saira"/>
                <a:cs typeface="Saira"/>
                <a:sym typeface="Saira"/>
              </a:rPr>
              <a:t>values(): Devuelve una vista de todos los valores en el diccionario.</a:t>
            </a:r>
            <a:endParaRPr sz="1800">
              <a:solidFill>
                <a:schemeClr val="dk1"/>
              </a:solidFill>
              <a:latin typeface="Saira"/>
              <a:ea typeface="Saira"/>
              <a:cs typeface="Saira"/>
              <a:sym typeface="Saira"/>
            </a:endParaRPr>
          </a:p>
          <a:p>
            <a:pPr indent="-342900" lvl="0" marL="457200" marR="0" rtl="0" algn="l">
              <a:lnSpc>
                <a:spcPct val="100000"/>
              </a:lnSpc>
              <a:spcBef>
                <a:spcPts val="0"/>
              </a:spcBef>
              <a:spcAft>
                <a:spcPts val="0"/>
              </a:spcAft>
              <a:buClr>
                <a:schemeClr val="dk1"/>
              </a:buClr>
              <a:buSzPts val="1800"/>
              <a:buFont typeface="Saira"/>
              <a:buChar char="●"/>
            </a:pPr>
            <a:r>
              <a:rPr lang="es-AR" sz="1800">
                <a:solidFill>
                  <a:schemeClr val="dk1"/>
                </a:solidFill>
                <a:latin typeface="Saira"/>
                <a:ea typeface="Saira"/>
                <a:cs typeface="Saira"/>
                <a:sym typeface="Saira"/>
              </a:rPr>
              <a:t>items(): Devuelve una vista de todos los pares clave-valor en el diccionario.</a:t>
            </a:r>
            <a:endParaRPr sz="1800">
              <a:solidFill>
                <a:schemeClr val="dk1"/>
              </a:solidFill>
              <a:latin typeface="Saira"/>
              <a:ea typeface="Saira"/>
              <a:cs typeface="Saira"/>
              <a:sym typeface="Saira"/>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Saira"/>
              <a:ea typeface="Saira"/>
              <a:cs typeface="Saira"/>
              <a:sym typeface="Saira"/>
            </a:endParaRPr>
          </a:p>
        </p:txBody>
      </p:sp>
      <p:pic>
        <p:nvPicPr>
          <p:cNvPr id="153" name="Google Shape;153;g1f2ce82f4ef_0_5"/>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54" name="Google Shape;154;g1f2ce82f4ef_0_5"/>
          <p:cNvSpPr txBox="1"/>
          <p:nvPr/>
        </p:nvSpPr>
        <p:spPr>
          <a:xfrm>
            <a:off x="2072800" y="3097200"/>
            <a:ext cx="7077300" cy="2555100"/>
          </a:xfrm>
          <a:prstGeom prst="rect">
            <a:avLst/>
          </a:prstGeom>
          <a:solidFill>
            <a:srgbClr val="B6D7A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print(mi_diccionario.keys())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Output: dict_keys(['nombre', 'edad'])</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print(mi_diccionario.values())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Output: dict_values(['Juan', 26])</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print(mi_diccionario.items())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Output: dict_items([('nombre', 'Juan'), ('edad', 26)])</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2e0920f1d41_0_185"/>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Iterar Sobre un Diccionario</a:t>
            </a:r>
            <a:endParaRPr b="0" i="0" sz="5400" u="none" cap="none" strike="noStrike">
              <a:solidFill>
                <a:schemeClr val="dk1"/>
              </a:solidFill>
              <a:latin typeface="Saira"/>
              <a:ea typeface="Saira"/>
              <a:cs typeface="Saira"/>
              <a:sym typeface="Saira"/>
            </a:endParaRPr>
          </a:p>
        </p:txBody>
      </p:sp>
      <p:pic>
        <p:nvPicPr>
          <p:cNvPr id="160" name="Google Shape;160;g2e0920f1d41_0_185"/>
          <p:cNvPicPr preferRelativeResize="0"/>
          <p:nvPr/>
        </p:nvPicPr>
        <p:blipFill rotWithShape="1">
          <a:blip r:embed="rId3">
            <a:alphaModFix/>
          </a:blip>
          <a:srcRect b="30671" l="23552" r="22736" t="29910"/>
          <a:stretch/>
        </p:blipFill>
        <p:spPr>
          <a:xfrm>
            <a:off x="8791460" y="390327"/>
            <a:ext cx="2959467" cy="1085934"/>
          </a:xfrm>
          <a:prstGeom prst="rect">
            <a:avLst/>
          </a:prstGeom>
          <a:noFill/>
          <a:ln>
            <a:noFill/>
          </a:ln>
        </p:spPr>
      </p:pic>
      <p:sp>
        <p:nvSpPr>
          <p:cNvPr id="161" name="Google Shape;161;g2e0920f1d41_0_185"/>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62" name="Google Shape;162;g2e0920f1d41_0_185"/>
          <p:cNvSpPr txBox="1"/>
          <p:nvPr/>
        </p:nvSpPr>
        <p:spPr>
          <a:xfrm>
            <a:off x="490000" y="2370625"/>
            <a:ext cx="881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Saira"/>
              <a:ea typeface="Saira"/>
              <a:cs typeface="Saira"/>
              <a:sym typeface="Saira"/>
            </a:endParaRPr>
          </a:p>
        </p:txBody>
      </p:sp>
      <p:sp>
        <p:nvSpPr>
          <p:cNvPr id="163" name="Google Shape;163;g2e0920f1d41_0_185"/>
          <p:cNvSpPr txBox="1"/>
          <p:nvPr/>
        </p:nvSpPr>
        <p:spPr>
          <a:xfrm>
            <a:off x="564550" y="1901925"/>
            <a:ext cx="8663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AR" sz="1800">
                <a:solidFill>
                  <a:schemeClr val="dk1"/>
                </a:solidFill>
                <a:latin typeface="Saira"/>
                <a:ea typeface="Saira"/>
                <a:cs typeface="Saira"/>
                <a:sym typeface="Saira"/>
              </a:rPr>
              <a:t>Puedes iterar sobre un diccionario usando un bucle for. Puedes iterar sobre las claves, los valores o ambos.</a:t>
            </a:r>
            <a:endParaRPr b="0" i="0" sz="1800" u="none" cap="none" strike="noStrike">
              <a:solidFill>
                <a:schemeClr val="dk1"/>
              </a:solidFill>
              <a:latin typeface="Saira"/>
              <a:ea typeface="Saira"/>
              <a:cs typeface="Saira"/>
              <a:sym typeface="Saira"/>
            </a:endParaRPr>
          </a:p>
        </p:txBody>
      </p:sp>
      <p:pic>
        <p:nvPicPr>
          <p:cNvPr id="164" name="Google Shape;164;g2e0920f1d41_0_185"/>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65" name="Google Shape;165;g2e0920f1d41_0_185"/>
          <p:cNvSpPr txBox="1"/>
          <p:nvPr/>
        </p:nvSpPr>
        <p:spPr>
          <a:xfrm>
            <a:off x="1781350" y="2813625"/>
            <a:ext cx="5548200" cy="2216400"/>
          </a:xfrm>
          <a:prstGeom prst="rect">
            <a:avLst/>
          </a:prstGeom>
          <a:solidFill>
            <a:srgbClr val="B6D7A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for clave in mi_diccionario:</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print(clave, mi_diccionario[clave])</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for clave, valor in mi_diccionario.items():</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print(clave, valor)</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2e0920f1d41_0_35"/>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Tuplas</a:t>
            </a:r>
            <a:endParaRPr b="0" i="0" sz="5400" u="none" cap="none" strike="noStrike">
              <a:solidFill>
                <a:schemeClr val="dk1"/>
              </a:solidFill>
              <a:latin typeface="Saira"/>
              <a:ea typeface="Saira"/>
              <a:cs typeface="Saira"/>
              <a:sym typeface="Saira"/>
            </a:endParaRPr>
          </a:p>
        </p:txBody>
      </p:sp>
      <p:pic>
        <p:nvPicPr>
          <p:cNvPr id="171" name="Google Shape;171;g2e0920f1d41_0_35"/>
          <p:cNvPicPr preferRelativeResize="0"/>
          <p:nvPr/>
        </p:nvPicPr>
        <p:blipFill rotWithShape="1">
          <a:blip r:embed="rId3">
            <a:alphaModFix/>
          </a:blip>
          <a:srcRect b="30671" l="23552" r="22736" t="29910"/>
          <a:stretch/>
        </p:blipFill>
        <p:spPr>
          <a:xfrm>
            <a:off x="8791460" y="390327"/>
            <a:ext cx="2959467" cy="1085934"/>
          </a:xfrm>
          <a:prstGeom prst="rect">
            <a:avLst/>
          </a:prstGeom>
          <a:noFill/>
          <a:ln>
            <a:noFill/>
          </a:ln>
        </p:spPr>
      </p:pic>
      <p:sp>
        <p:nvSpPr>
          <p:cNvPr id="172" name="Google Shape;172;g2e0920f1d41_0_35"/>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73" name="Google Shape;173;g2e0920f1d41_0_35"/>
          <p:cNvSpPr txBox="1"/>
          <p:nvPr/>
        </p:nvSpPr>
        <p:spPr>
          <a:xfrm>
            <a:off x="490000" y="2411875"/>
            <a:ext cx="881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Saira"/>
              <a:ea typeface="Saira"/>
              <a:cs typeface="Saira"/>
              <a:sym typeface="Saira"/>
            </a:endParaRPr>
          </a:p>
        </p:txBody>
      </p:sp>
      <p:sp>
        <p:nvSpPr>
          <p:cNvPr id="174" name="Google Shape;174;g2e0920f1d41_0_35"/>
          <p:cNvSpPr txBox="1"/>
          <p:nvPr/>
        </p:nvSpPr>
        <p:spPr>
          <a:xfrm>
            <a:off x="564550" y="1901925"/>
            <a:ext cx="104700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AR" sz="1800">
                <a:solidFill>
                  <a:schemeClr val="dk1"/>
                </a:solidFill>
                <a:latin typeface="Saira"/>
                <a:ea typeface="Saira"/>
                <a:cs typeface="Saira"/>
                <a:sym typeface="Saira"/>
              </a:rPr>
              <a:t>Una tupla es una colección ordenada de elementos que puede contener diferentes tipos de datos (números, cadenas, listas, etc.). La principal característica de las tuplas es que son inmutables, es decir, una vez creadas, no se pueden modificar (añadir, eliminar o cambiar sus elementos).</a:t>
            </a:r>
            <a:endParaRPr b="0" i="0" sz="1800" u="none" cap="none" strike="noStrike">
              <a:solidFill>
                <a:schemeClr val="dk1"/>
              </a:solidFill>
              <a:latin typeface="Saira"/>
              <a:ea typeface="Saira"/>
              <a:cs typeface="Saira"/>
              <a:sym typeface="Saira"/>
            </a:endParaRPr>
          </a:p>
        </p:txBody>
      </p:sp>
      <p:pic>
        <p:nvPicPr>
          <p:cNvPr id="175" name="Google Shape;175;g2e0920f1d41_0_35"/>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76" name="Google Shape;176;g2e0920f1d41_0_35"/>
          <p:cNvSpPr txBox="1"/>
          <p:nvPr/>
        </p:nvSpPr>
        <p:spPr>
          <a:xfrm>
            <a:off x="721650" y="3697575"/>
            <a:ext cx="2640300" cy="523200"/>
          </a:xfrm>
          <a:prstGeom prst="rect">
            <a:avLst/>
          </a:prstGeom>
          <a:solidFill>
            <a:srgbClr val="F4CCCC"/>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mi_tupla = (1, 2, 3)</a:t>
            </a:r>
            <a:endParaRPr sz="2200">
              <a:latin typeface="Saira"/>
              <a:ea typeface="Saira"/>
              <a:cs typeface="Saira"/>
              <a:sym typeface="Saira"/>
            </a:endParaRPr>
          </a:p>
        </p:txBody>
      </p:sp>
      <p:sp>
        <p:nvSpPr>
          <p:cNvPr id="177" name="Google Shape;177;g2e0920f1d41_0_35"/>
          <p:cNvSpPr txBox="1"/>
          <p:nvPr/>
        </p:nvSpPr>
        <p:spPr>
          <a:xfrm>
            <a:off x="608450" y="3076800"/>
            <a:ext cx="1825500" cy="461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200"/>
              </a:spcAft>
              <a:buNone/>
            </a:pPr>
            <a:r>
              <a:rPr lang="es-AR" sz="1800">
                <a:solidFill>
                  <a:srgbClr val="0D0D0D"/>
                </a:solidFill>
                <a:highlight>
                  <a:srgbClr val="FFFFFF"/>
                </a:highlight>
                <a:latin typeface="Saira"/>
                <a:ea typeface="Saira"/>
                <a:cs typeface="Saira"/>
                <a:sym typeface="Saira"/>
              </a:rPr>
              <a:t>Sintaxis Básica</a:t>
            </a:r>
            <a:endParaRPr sz="1800">
              <a:solidFill>
                <a:srgbClr val="0D0D0D"/>
              </a:solidFill>
              <a:highlight>
                <a:srgbClr val="FFFFFF"/>
              </a:highlight>
              <a:latin typeface="Saira"/>
              <a:ea typeface="Saira"/>
              <a:cs typeface="Saira"/>
              <a:sym typeface="Saira"/>
            </a:endParaRPr>
          </a:p>
        </p:txBody>
      </p:sp>
      <p:sp>
        <p:nvSpPr>
          <p:cNvPr id="178" name="Google Shape;178;g2e0920f1d41_0_35"/>
          <p:cNvSpPr txBox="1"/>
          <p:nvPr/>
        </p:nvSpPr>
        <p:spPr>
          <a:xfrm>
            <a:off x="608450" y="4397113"/>
            <a:ext cx="858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800">
                <a:latin typeface="Saira"/>
                <a:ea typeface="Saira"/>
                <a:cs typeface="Saira"/>
                <a:sym typeface="Saira"/>
              </a:rPr>
              <a:t>Las tuplas se definen con paréntesis () y los elementos se separan por comas.</a:t>
            </a:r>
            <a:endParaRPr sz="1800">
              <a:latin typeface="Saira"/>
              <a:ea typeface="Saira"/>
              <a:cs typeface="Saira"/>
              <a:sym typeface="Sai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2e0920f1d41_0_51"/>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Creación de una Tupla</a:t>
            </a:r>
            <a:endParaRPr b="0" i="0" sz="5400" u="none" cap="none" strike="noStrike">
              <a:solidFill>
                <a:schemeClr val="dk1"/>
              </a:solidFill>
              <a:latin typeface="Saira"/>
              <a:ea typeface="Saira"/>
              <a:cs typeface="Saira"/>
              <a:sym typeface="Saira"/>
            </a:endParaRPr>
          </a:p>
        </p:txBody>
      </p:sp>
      <p:pic>
        <p:nvPicPr>
          <p:cNvPr id="184" name="Google Shape;184;g2e0920f1d41_0_51"/>
          <p:cNvPicPr preferRelativeResize="0"/>
          <p:nvPr/>
        </p:nvPicPr>
        <p:blipFill rotWithShape="1">
          <a:blip r:embed="rId3">
            <a:alphaModFix/>
          </a:blip>
          <a:srcRect b="30671" l="23552" r="22736" t="29910"/>
          <a:stretch/>
        </p:blipFill>
        <p:spPr>
          <a:xfrm>
            <a:off x="8791460" y="390327"/>
            <a:ext cx="2959467" cy="1085934"/>
          </a:xfrm>
          <a:prstGeom prst="rect">
            <a:avLst/>
          </a:prstGeom>
          <a:noFill/>
          <a:ln>
            <a:noFill/>
          </a:ln>
        </p:spPr>
      </p:pic>
      <p:sp>
        <p:nvSpPr>
          <p:cNvPr id="185" name="Google Shape;185;g2e0920f1d41_0_51"/>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86" name="Google Shape;186;g2e0920f1d41_0_51"/>
          <p:cNvSpPr txBox="1"/>
          <p:nvPr/>
        </p:nvSpPr>
        <p:spPr>
          <a:xfrm>
            <a:off x="490000" y="2411875"/>
            <a:ext cx="881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Saira"/>
              <a:ea typeface="Saira"/>
              <a:cs typeface="Saira"/>
              <a:sym typeface="Saira"/>
            </a:endParaRPr>
          </a:p>
        </p:txBody>
      </p:sp>
      <p:pic>
        <p:nvPicPr>
          <p:cNvPr id="187" name="Google Shape;187;g2e0920f1d41_0_51"/>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88" name="Google Shape;188;g2e0920f1d41_0_51"/>
          <p:cNvSpPr txBox="1"/>
          <p:nvPr/>
        </p:nvSpPr>
        <p:spPr>
          <a:xfrm>
            <a:off x="608450" y="2573450"/>
            <a:ext cx="2640300" cy="5232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AR" sz="2200">
                <a:latin typeface="Saira"/>
                <a:ea typeface="Saira"/>
                <a:cs typeface="Saira"/>
                <a:sym typeface="Saira"/>
              </a:rPr>
              <a:t>tupla_vacia = ()</a:t>
            </a:r>
            <a:endParaRPr sz="2200">
              <a:latin typeface="Saira"/>
              <a:ea typeface="Saira"/>
              <a:cs typeface="Saira"/>
              <a:sym typeface="Saira"/>
            </a:endParaRPr>
          </a:p>
        </p:txBody>
      </p:sp>
      <p:sp>
        <p:nvSpPr>
          <p:cNvPr id="189" name="Google Shape;189;g2e0920f1d41_0_51"/>
          <p:cNvSpPr txBox="1"/>
          <p:nvPr/>
        </p:nvSpPr>
        <p:spPr>
          <a:xfrm>
            <a:off x="608450" y="2045525"/>
            <a:ext cx="1825500" cy="461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200"/>
              </a:spcAft>
              <a:buNone/>
            </a:pPr>
            <a:r>
              <a:rPr lang="es-AR" sz="1800">
                <a:solidFill>
                  <a:srgbClr val="0D0D0D"/>
                </a:solidFill>
                <a:highlight>
                  <a:srgbClr val="FFFFFF"/>
                </a:highlight>
                <a:latin typeface="Saira"/>
                <a:ea typeface="Saira"/>
                <a:cs typeface="Saira"/>
                <a:sym typeface="Saira"/>
              </a:rPr>
              <a:t>Tupla Vacía</a:t>
            </a:r>
            <a:endParaRPr sz="1800">
              <a:solidFill>
                <a:srgbClr val="0D0D0D"/>
              </a:solidFill>
              <a:highlight>
                <a:srgbClr val="FFFFFF"/>
              </a:highlight>
              <a:latin typeface="Saira"/>
              <a:ea typeface="Saira"/>
              <a:cs typeface="Saira"/>
              <a:sym typeface="Saira"/>
            </a:endParaRPr>
          </a:p>
        </p:txBody>
      </p:sp>
      <p:sp>
        <p:nvSpPr>
          <p:cNvPr id="190" name="Google Shape;190;g2e0920f1d41_0_51"/>
          <p:cNvSpPr txBox="1"/>
          <p:nvPr/>
        </p:nvSpPr>
        <p:spPr>
          <a:xfrm>
            <a:off x="608450" y="4397113"/>
            <a:ext cx="858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800">
                <a:latin typeface="Saira"/>
                <a:ea typeface="Saira"/>
                <a:cs typeface="Saira"/>
                <a:sym typeface="Saira"/>
              </a:rPr>
              <a:t>Las tuplas se definen con paréntesis () y los elementos se separan por comas.</a:t>
            </a:r>
            <a:endParaRPr sz="1800">
              <a:latin typeface="Saira"/>
              <a:ea typeface="Saira"/>
              <a:cs typeface="Saira"/>
              <a:sym typeface="Saira"/>
            </a:endParaRPr>
          </a:p>
        </p:txBody>
      </p:sp>
      <p:sp>
        <p:nvSpPr>
          <p:cNvPr id="191" name="Google Shape;191;g2e0920f1d41_0_51"/>
          <p:cNvSpPr txBox="1"/>
          <p:nvPr/>
        </p:nvSpPr>
        <p:spPr>
          <a:xfrm>
            <a:off x="608450" y="3279450"/>
            <a:ext cx="3000000" cy="446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200"/>
              </a:spcAft>
              <a:buNone/>
            </a:pPr>
            <a:r>
              <a:rPr lang="es-AR" sz="1700">
                <a:solidFill>
                  <a:srgbClr val="0D0D0D"/>
                </a:solidFill>
                <a:highlight>
                  <a:srgbClr val="FFFFFF"/>
                </a:highlight>
                <a:latin typeface="Saira"/>
                <a:ea typeface="Saira"/>
                <a:cs typeface="Saira"/>
                <a:sym typeface="Saira"/>
              </a:rPr>
              <a:t>Tupla con Elementos</a:t>
            </a:r>
            <a:endParaRPr sz="1700">
              <a:solidFill>
                <a:srgbClr val="0D0D0D"/>
              </a:solidFill>
              <a:highlight>
                <a:srgbClr val="FFFFFF"/>
              </a:highlight>
              <a:latin typeface="Saira"/>
              <a:ea typeface="Saira"/>
              <a:cs typeface="Saira"/>
              <a:sym typeface="Saira"/>
            </a:endParaRPr>
          </a:p>
        </p:txBody>
      </p:sp>
      <p:sp>
        <p:nvSpPr>
          <p:cNvPr id="192" name="Google Shape;192;g2e0920f1d41_0_51"/>
          <p:cNvSpPr txBox="1"/>
          <p:nvPr/>
        </p:nvSpPr>
        <p:spPr>
          <a:xfrm>
            <a:off x="608450" y="3799900"/>
            <a:ext cx="6270300" cy="5232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AR" sz="2200">
                <a:latin typeface="Saira"/>
                <a:ea typeface="Saira"/>
                <a:cs typeface="Saira"/>
                <a:sym typeface="Saira"/>
              </a:rPr>
              <a:t>mi_tupla = ("manzana", "banana", "cereza")</a:t>
            </a:r>
            <a:endParaRPr sz="2200">
              <a:latin typeface="Saira"/>
              <a:ea typeface="Saira"/>
              <a:cs typeface="Saira"/>
              <a:sym typeface="Saira"/>
            </a:endParaRPr>
          </a:p>
        </p:txBody>
      </p:sp>
      <p:sp>
        <p:nvSpPr>
          <p:cNvPr id="193" name="Google Shape;193;g2e0920f1d41_0_51"/>
          <p:cNvSpPr txBox="1"/>
          <p:nvPr/>
        </p:nvSpPr>
        <p:spPr>
          <a:xfrm>
            <a:off x="608450" y="5026350"/>
            <a:ext cx="5754600" cy="5232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AR" sz="2200">
                <a:latin typeface="Saira"/>
                <a:ea typeface="Saira"/>
                <a:cs typeface="Saira"/>
                <a:sym typeface="Saira"/>
              </a:rPr>
              <a:t>mi_tupla = "manzana", "banana", "cereza"</a:t>
            </a:r>
            <a:endParaRPr sz="2200">
              <a:latin typeface="Saira"/>
              <a:ea typeface="Saira"/>
              <a:cs typeface="Saira"/>
              <a:sym typeface="Sai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2e0920f1d41_0_73"/>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Creación de una Tupla</a:t>
            </a:r>
            <a:endParaRPr b="0" i="0" sz="5400" u="none" cap="none" strike="noStrike">
              <a:solidFill>
                <a:schemeClr val="dk1"/>
              </a:solidFill>
              <a:latin typeface="Saira"/>
              <a:ea typeface="Saira"/>
              <a:cs typeface="Saira"/>
              <a:sym typeface="Saira"/>
            </a:endParaRPr>
          </a:p>
        </p:txBody>
      </p:sp>
      <p:pic>
        <p:nvPicPr>
          <p:cNvPr id="199" name="Google Shape;199;g2e0920f1d41_0_73"/>
          <p:cNvPicPr preferRelativeResize="0"/>
          <p:nvPr/>
        </p:nvPicPr>
        <p:blipFill rotWithShape="1">
          <a:blip r:embed="rId3">
            <a:alphaModFix/>
          </a:blip>
          <a:srcRect b="30671" l="23552" r="22736" t="29910"/>
          <a:stretch/>
        </p:blipFill>
        <p:spPr>
          <a:xfrm>
            <a:off x="8791460" y="390327"/>
            <a:ext cx="2959467" cy="1085934"/>
          </a:xfrm>
          <a:prstGeom prst="rect">
            <a:avLst/>
          </a:prstGeom>
          <a:noFill/>
          <a:ln>
            <a:noFill/>
          </a:ln>
        </p:spPr>
      </p:pic>
      <p:sp>
        <p:nvSpPr>
          <p:cNvPr id="200" name="Google Shape;200;g2e0920f1d41_0_73"/>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01" name="Google Shape;201;g2e0920f1d41_0_73"/>
          <p:cNvSpPr txBox="1"/>
          <p:nvPr/>
        </p:nvSpPr>
        <p:spPr>
          <a:xfrm>
            <a:off x="490000" y="2411875"/>
            <a:ext cx="881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Saira"/>
              <a:ea typeface="Saira"/>
              <a:cs typeface="Saira"/>
              <a:sym typeface="Saira"/>
            </a:endParaRPr>
          </a:p>
        </p:txBody>
      </p:sp>
      <p:pic>
        <p:nvPicPr>
          <p:cNvPr id="202" name="Google Shape;202;g2e0920f1d41_0_73"/>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03" name="Google Shape;203;g2e0920f1d41_0_73"/>
          <p:cNvSpPr txBox="1"/>
          <p:nvPr/>
        </p:nvSpPr>
        <p:spPr>
          <a:xfrm>
            <a:off x="608450" y="2573450"/>
            <a:ext cx="5486400" cy="5232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AR" sz="2200">
                <a:latin typeface="Saira"/>
                <a:ea typeface="Saira"/>
                <a:cs typeface="Saira"/>
                <a:sym typeface="Saira"/>
              </a:rPr>
              <a:t>tupla_un_elemento = ("manzana",)</a:t>
            </a:r>
            <a:endParaRPr sz="2200">
              <a:latin typeface="Saira"/>
              <a:ea typeface="Saira"/>
              <a:cs typeface="Saira"/>
              <a:sym typeface="Saira"/>
            </a:endParaRPr>
          </a:p>
        </p:txBody>
      </p:sp>
      <p:sp>
        <p:nvSpPr>
          <p:cNvPr id="204" name="Google Shape;204;g2e0920f1d41_0_73"/>
          <p:cNvSpPr txBox="1"/>
          <p:nvPr/>
        </p:nvSpPr>
        <p:spPr>
          <a:xfrm>
            <a:off x="608450" y="2045525"/>
            <a:ext cx="9137100" cy="461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200"/>
              </a:spcAft>
              <a:buNone/>
            </a:pPr>
            <a:r>
              <a:rPr lang="es-AR" sz="1800">
                <a:solidFill>
                  <a:srgbClr val="0D0D0D"/>
                </a:solidFill>
                <a:highlight>
                  <a:srgbClr val="FFFFFF"/>
                </a:highlight>
                <a:latin typeface="Saira"/>
                <a:ea typeface="Saira"/>
                <a:cs typeface="Saira"/>
                <a:sym typeface="Saira"/>
              </a:rPr>
              <a:t>Para una tupla de un solo elemento, debes añadir una coma después del elemento</a:t>
            </a:r>
            <a:endParaRPr sz="1800">
              <a:solidFill>
                <a:srgbClr val="0D0D0D"/>
              </a:solidFill>
              <a:highlight>
                <a:srgbClr val="FFFFFF"/>
              </a:highlight>
              <a:latin typeface="Saira"/>
              <a:ea typeface="Saira"/>
              <a:cs typeface="Saira"/>
              <a:sym typeface="Saira"/>
            </a:endParaRPr>
          </a:p>
        </p:txBody>
      </p:sp>
      <p:sp>
        <p:nvSpPr>
          <p:cNvPr id="205" name="Google Shape;205;g2e0920f1d41_0_73"/>
          <p:cNvSpPr txBox="1"/>
          <p:nvPr/>
        </p:nvSpPr>
        <p:spPr>
          <a:xfrm>
            <a:off x="608450" y="3279450"/>
            <a:ext cx="6796200" cy="446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200"/>
              </a:spcAft>
              <a:buNone/>
            </a:pPr>
            <a:r>
              <a:rPr lang="es-AR" sz="1700">
                <a:solidFill>
                  <a:srgbClr val="0D0D0D"/>
                </a:solidFill>
                <a:highlight>
                  <a:srgbClr val="FFFFFF"/>
                </a:highlight>
                <a:latin typeface="Saira"/>
                <a:ea typeface="Saira"/>
                <a:cs typeface="Saira"/>
                <a:sym typeface="Saira"/>
              </a:rPr>
              <a:t>Acceder a los Elementos de una Tupla</a:t>
            </a:r>
            <a:endParaRPr sz="1700">
              <a:solidFill>
                <a:srgbClr val="0D0D0D"/>
              </a:solidFill>
              <a:highlight>
                <a:srgbClr val="FFFFFF"/>
              </a:highlight>
              <a:latin typeface="Saira"/>
              <a:ea typeface="Saira"/>
              <a:cs typeface="Saira"/>
              <a:sym typeface="Saira"/>
            </a:endParaRPr>
          </a:p>
        </p:txBody>
      </p:sp>
      <p:sp>
        <p:nvSpPr>
          <p:cNvPr id="206" name="Google Shape;206;g2e0920f1d41_0_73"/>
          <p:cNvSpPr txBox="1"/>
          <p:nvPr/>
        </p:nvSpPr>
        <p:spPr>
          <a:xfrm>
            <a:off x="608450" y="3799900"/>
            <a:ext cx="6270300" cy="8619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AR" sz="2200">
                <a:latin typeface="Saira"/>
                <a:ea typeface="Saira"/>
                <a:cs typeface="Saira"/>
                <a:sym typeface="Saira"/>
              </a:rPr>
              <a:t>print(mi_tupla[0])  # Output: manzana</a:t>
            </a:r>
            <a:endParaRPr sz="2200">
              <a:latin typeface="Saira"/>
              <a:ea typeface="Saira"/>
              <a:cs typeface="Saira"/>
              <a:sym typeface="Saira"/>
            </a:endParaRPr>
          </a:p>
          <a:p>
            <a:pPr indent="0" lvl="0" marL="0" rtl="0" algn="l">
              <a:spcBef>
                <a:spcPts val="0"/>
              </a:spcBef>
              <a:spcAft>
                <a:spcPts val="0"/>
              </a:spcAft>
              <a:buClr>
                <a:schemeClr val="dk1"/>
              </a:buClr>
              <a:buSzPts val="1100"/>
              <a:buFont typeface="Arial"/>
              <a:buNone/>
            </a:pPr>
            <a:r>
              <a:rPr lang="es-AR" sz="2200">
                <a:latin typeface="Saira"/>
                <a:ea typeface="Saira"/>
                <a:cs typeface="Saira"/>
                <a:sym typeface="Saira"/>
              </a:rPr>
              <a:t>print(mi_tupla[1])  # Output: banana</a:t>
            </a:r>
            <a:endParaRPr sz="2200">
              <a:latin typeface="Saira"/>
              <a:ea typeface="Saira"/>
              <a:cs typeface="Saira"/>
              <a:sym typeface="Sai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2e0920f1d41_0_87"/>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Desempaquetado de Tuplas</a:t>
            </a:r>
            <a:endParaRPr b="0" i="0" sz="5400" u="none" cap="none" strike="noStrike">
              <a:solidFill>
                <a:schemeClr val="dk1"/>
              </a:solidFill>
              <a:latin typeface="Saira"/>
              <a:ea typeface="Saira"/>
              <a:cs typeface="Saira"/>
              <a:sym typeface="Saira"/>
            </a:endParaRPr>
          </a:p>
        </p:txBody>
      </p:sp>
      <p:pic>
        <p:nvPicPr>
          <p:cNvPr id="212" name="Google Shape;212;g2e0920f1d41_0_87"/>
          <p:cNvPicPr preferRelativeResize="0"/>
          <p:nvPr/>
        </p:nvPicPr>
        <p:blipFill rotWithShape="1">
          <a:blip r:embed="rId3">
            <a:alphaModFix/>
          </a:blip>
          <a:srcRect b="30671" l="23552" r="22736" t="29910"/>
          <a:stretch/>
        </p:blipFill>
        <p:spPr>
          <a:xfrm>
            <a:off x="8791460" y="390327"/>
            <a:ext cx="2959467" cy="1085934"/>
          </a:xfrm>
          <a:prstGeom prst="rect">
            <a:avLst/>
          </a:prstGeom>
          <a:noFill/>
          <a:ln>
            <a:noFill/>
          </a:ln>
        </p:spPr>
      </p:pic>
      <p:sp>
        <p:nvSpPr>
          <p:cNvPr id="213" name="Google Shape;213;g2e0920f1d41_0_87"/>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14" name="Google Shape;214;g2e0920f1d41_0_87"/>
          <p:cNvSpPr txBox="1"/>
          <p:nvPr/>
        </p:nvSpPr>
        <p:spPr>
          <a:xfrm>
            <a:off x="490000" y="2411875"/>
            <a:ext cx="881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Saira"/>
              <a:ea typeface="Saira"/>
              <a:cs typeface="Saira"/>
              <a:sym typeface="Saira"/>
            </a:endParaRPr>
          </a:p>
        </p:txBody>
      </p:sp>
      <p:pic>
        <p:nvPicPr>
          <p:cNvPr id="215" name="Google Shape;215;g2e0920f1d41_0_87"/>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16" name="Google Shape;216;g2e0920f1d41_0_87"/>
          <p:cNvSpPr txBox="1"/>
          <p:nvPr/>
        </p:nvSpPr>
        <p:spPr>
          <a:xfrm>
            <a:off x="2152900" y="2659350"/>
            <a:ext cx="5486400" cy="15393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AR" sz="2200">
                <a:latin typeface="Saira"/>
                <a:ea typeface="Saira"/>
                <a:cs typeface="Saira"/>
                <a:sym typeface="Saira"/>
              </a:rPr>
              <a:t>fruta1, fruta2, fruta3 = mi_tupla</a:t>
            </a:r>
            <a:endParaRPr sz="2200">
              <a:latin typeface="Saira"/>
              <a:ea typeface="Saira"/>
              <a:cs typeface="Saira"/>
              <a:sym typeface="Saira"/>
            </a:endParaRPr>
          </a:p>
          <a:p>
            <a:pPr indent="0" lvl="0" marL="0" rtl="0" algn="l">
              <a:spcBef>
                <a:spcPts val="0"/>
              </a:spcBef>
              <a:spcAft>
                <a:spcPts val="0"/>
              </a:spcAft>
              <a:buClr>
                <a:schemeClr val="dk1"/>
              </a:buClr>
              <a:buSzPts val="1100"/>
              <a:buFont typeface="Arial"/>
              <a:buNone/>
            </a:pPr>
            <a:r>
              <a:rPr lang="es-AR" sz="2200">
                <a:latin typeface="Saira"/>
                <a:ea typeface="Saira"/>
                <a:cs typeface="Saira"/>
                <a:sym typeface="Saira"/>
              </a:rPr>
              <a:t>print(fruta1)  # Output: manzana</a:t>
            </a:r>
            <a:endParaRPr sz="2200">
              <a:latin typeface="Saira"/>
              <a:ea typeface="Saira"/>
              <a:cs typeface="Saira"/>
              <a:sym typeface="Saira"/>
            </a:endParaRPr>
          </a:p>
          <a:p>
            <a:pPr indent="0" lvl="0" marL="0" rtl="0" algn="l">
              <a:spcBef>
                <a:spcPts val="0"/>
              </a:spcBef>
              <a:spcAft>
                <a:spcPts val="0"/>
              </a:spcAft>
              <a:buClr>
                <a:schemeClr val="dk1"/>
              </a:buClr>
              <a:buSzPts val="1100"/>
              <a:buFont typeface="Arial"/>
              <a:buNone/>
            </a:pPr>
            <a:r>
              <a:rPr lang="es-AR" sz="2200">
                <a:latin typeface="Saira"/>
                <a:ea typeface="Saira"/>
                <a:cs typeface="Saira"/>
                <a:sym typeface="Saira"/>
              </a:rPr>
              <a:t>print(fruta2)  # Output: banana</a:t>
            </a:r>
            <a:endParaRPr sz="2200">
              <a:latin typeface="Saira"/>
              <a:ea typeface="Saira"/>
              <a:cs typeface="Saira"/>
              <a:sym typeface="Saira"/>
            </a:endParaRPr>
          </a:p>
          <a:p>
            <a:pPr indent="0" lvl="0" marL="0" rtl="0" algn="l">
              <a:spcBef>
                <a:spcPts val="0"/>
              </a:spcBef>
              <a:spcAft>
                <a:spcPts val="0"/>
              </a:spcAft>
              <a:buClr>
                <a:schemeClr val="dk1"/>
              </a:buClr>
              <a:buSzPts val="1100"/>
              <a:buFont typeface="Arial"/>
              <a:buNone/>
            </a:pPr>
            <a:r>
              <a:rPr lang="es-AR" sz="2200">
                <a:latin typeface="Saira"/>
                <a:ea typeface="Saira"/>
                <a:cs typeface="Saira"/>
                <a:sym typeface="Saira"/>
              </a:rPr>
              <a:t>print(fruta3)  # Output: cereza</a:t>
            </a:r>
            <a:endParaRPr sz="2200">
              <a:latin typeface="Saira"/>
              <a:ea typeface="Saira"/>
              <a:cs typeface="Saira"/>
              <a:sym typeface="Saira"/>
            </a:endParaRPr>
          </a:p>
        </p:txBody>
      </p:sp>
      <p:sp>
        <p:nvSpPr>
          <p:cNvPr id="217" name="Google Shape;217;g2e0920f1d41_0_87"/>
          <p:cNvSpPr txBox="1"/>
          <p:nvPr/>
        </p:nvSpPr>
        <p:spPr>
          <a:xfrm>
            <a:off x="608450" y="2045525"/>
            <a:ext cx="9137100" cy="461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200"/>
              </a:spcAft>
              <a:buNone/>
            </a:pPr>
            <a:r>
              <a:rPr lang="es-AR" sz="1800">
                <a:solidFill>
                  <a:srgbClr val="0D0D0D"/>
                </a:solidFill>
                <a:highlight>
                  <a:srgbClr val="FFFFFF"/>
                </a:highlight>
                <a:latin typeface="Saira"/>
                <a:ea typeface="Saira"/>
                <a:cs typeface="Saira"/>
                <a:sym typeface="Saira"/>
              </a:rPr>
              <a:t>Pueden asignar los elementos de una tupla a variables individuales.</a:t>
            </a:r>
            <a:endParaRPr sz="1800">
              <a:solidFill>
                <a:srgbClr val="0D0D0D"/>
              </a:solidFill>
              <a:highlight>
                <a:srgbClr val="FFFFFF"/>
              </a:highlight>
              <a:latin typeface="Saira"/>
              <a:ea typeface="Saira"/>
              <a:cs typeface="Saira"/>
              <a:sym typeface="Sair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202c77a19e3_0_227"/>
          <p:cNvSpPr txBox="1"/>
          <p:nvPr/>
        </p:nvSpPr>
        <p:spPr>
          <a:xfrm>
            <a:off x="319439" y="9902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Métodos y Operaciones con Tuplas</a:t>
            </a:r>
            <a:endParaRPr b="0" i="0" sz="4800" u="none" cap="none" strike="noStrike">
              <a:solidFill>
                <a:schemeClr val="dk1"/>
              </a:solidFill>
              <a:latin typeface="Saira"/>
              <a:ea typeface="Saira"/>
              <a:cs typeface="Saira"/>
              <a:sym typeface="Saira"/>
            </a:endParaRPr>
          </a:p>
        </p:txBody>
      </p:sp>
      <p:pic>
        <p:nvPicPr>
          <p:cNvPr id="223" name="Google Shape;223;g202c77a19e3_0_227"/>
          <p:cNvPicPr preferRelativeResize="0"/>
          <p:nvPr/>
        </p:nvPicPr>
        <p:blipFill rotWithShape="1">
          <a:blip r:embed="rId3">
            <a:alphaModFix/>
          </a:blip>
          <a:srcRect b="30671" l="23552" r="22734" t="29910"/>
          <a:stretch/>
        </p:blipFill>
        <p:spPr>
          <a:xfrm>
            <a:off x="8791460" y="390327"/>
            <a:ext cx="2959467" cy="1085934"/>
          </a:xfrm>
          <a:prstGeom prst="rect">
            <a:avLst/>
          </a:prstGeom>
          <a:noFill/>
          <a:ln>
            <a:noFill/>
          </a:ln>
        </p:spPr>
      </p:pic>
      <p:sp>
        <p:nvSpPr>
          <p:cNvPr id="224" name="Google Shape;224;g202c77a19e3_0_227"/>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25" name="Google Shape;225;g202c77a19e3_0_227"/>
          <p:cNvSpPr txBox="1"/>
          <p:nvPr/>
        </p:nvSpPr>
        <p:spPr>
          <a:xfrm>
            <a:off x="319450" y="1803425"/>
            <a:ext cx="88122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AR" sz="1800">
                <a:solidFill>
                  <a:srgbClr val="0D0D0D"/>
                </a:solidFill>
                <a:highlight>
                  <a:srgbClr val="FFFFFF"/>
                </a:highlight>
                <a:latin typeface="Saira"/>
                <a:ea typeface="Saira"/>
                <a:cs typeface="Saira"/>
                <a:sym typeface="Saira"/>
              </a:rPr>
              <a:t>Las tuplas tienen algunos métodos integrados y soportan varias operaciones:</a:t>
            </a:r>
            <a:endParaRPr sz="1800">
              <a:solidFill>
                <a:srgbClr val="0D0D0D"/>
              </a:solidFill>
              <a:highlight>
                <a:srgbClr val="FFFFFF"/>
              </a:highlight>
              <a:latin typeface="Saira"/>
              <a:ea typeface="Saira"/>
              <a:cs typeface="Saira"/>
              <a:sym typeface="Saira"/>
            </a:endParaRPr>
          </a:p>
          <a:p>
            <a:pPr indent="0" lvl="0" marL="0" marR="0" rtl="0" algn="l">
              <a:lnSpc>
                <a:spcPct val="100000"/>
              </a:lnSpc>
              <a:spcBef>
                <a:spcPts val="0"/>
              </a:spcBef>
              <a:spcAft>
                <a:spcPts val="0"/>
              </a:spcAft>
              <a:buNone/>
            </a:pPr>
            <a:r>
              <a:t/>
            </a:r>
            <a:endParaRPr sz="1800">
              <a:solidFill>
                <a:srgbClr val="0D0D0D"/>
              </a:solidFill>
              <a:highlight>
                <a:srgbClr val="FFFFFF"/>
              </a:highlight>
              <a:latin typeface="Saira"/>
              <a:ea typeface="Saira"/>
              <a:cs typeface="Saira"/>
              <a:sym typeface="Saira"/>
            </a:endParaRPr>
          </a:p>
          <a:p>
            <a:pPr indent="-342900" lvl="0" marL="457200" marR="0" rtl="0" algn="l">
              <a:lnSpc>
                <a:spcPct val="100000"/>
              </a:lnSpc>
              <a:spcBef>
                <a:spcPts val="0"/>
              </a:spcBef>
              <a:spcAft>
                <a:spcPts val="0"/>
              </a:spcAft>
              <a:buClr>
                <a:srgbClr val="0D0D0D"/>
              </a:buClr>
              <a:buSzPts val="1800"/>
              <a:buFont typeface="Saira"/>
              <a:buChar char="●"/>
            </a:pPr>
            <a:r>
              <a:rPr lang="es-AR" sz="1800">
                <a:solidFill>
                  <a:srgbClr val="0D0D0D"/>
                </a:solidFill>
                <a:highlight>
                  <a:srgbClr val="FFFFFF"/>
                </a:highlight>
                <a:latin typeface="Saira"/>
                <a:ea typeface="Saira"/>
                <a:cs typeface="Saira"/>
                <a:sym typeface="Saira"/>
              </a:rPr>
              <a:t>count(x): Devuelve el número de veces que x aparece en la tupla.</a:t>
            </a:r>
            <a:endParaRPr sz="1800">
              <a:solidFill>
                <a:srgbClr val="0D0D0D"/>
              </a:solidFill>
              <a:highlight>
                <a:srgbClr val="FFFFFF"/>
              </a:highlight>
              <a:latin typeface="Saira"/>
              <a:ea typeface="Saira"/>
              <a:cs typeface="Saira"/>
              <a:sym typeface="Saira"/>
            </a:endParaRPr>
          </a:p>
          <a:p>
            <a:pPr indent="-342900" lvl="0" marL="457200" marR="0" rtl="0" algn="l">
              <a:lnSpc>
                <a:spcPct val="100000"/>
              </a:lnSpc>
              <a:spcBef>
                <a:spcPts val="0"/>
              </a:spcBef>
              <a:spcAft>
                <a:spcPts val="0"/>
              </a:spcAft>
              <a:buClr>
                <a:srgbClr val="0D0D0D"/>
              </a:buClr>
              <a:buSzPts val="1800"/>
              <a:buFont typeface="Saira"/>
              <a:buChar char="●"/>
            </a:pPr>
            <a:r>
              <a:rPr lang="es-AR" sz="1800">
                <a:solidFill>
                  <a:srgbClr val="0D0D0D"/>
                </a:solidFill>
                <a:highlight>
                  <a:srgbClr val="FFFFFF"/>
                </a:highlight>
                <a:latin typeface="Saira"/>
                <a:ea typeface="Saira"/>
                <a:cs typeface="Saira"/>
                <a:sym typeface="Saira"/>
              </a:rPr>
              <a:t>index(x): Devuelve el índice de la primera aparición de x en la tupla.</a:t>
            </a:r>
            <a:endParaRPr sz="1800">
              <a:solidFill>
                <a:srgbClr val="0D0D0D"/>
              </a:solidFill>
              <a:highlight>
                <a:srgbClr val="FFFFFF"/>
              </a:highlight>
              <a:latin typeface="Saira"/>
              <a:ea typeface="Saira"/>
              <a:cs typeface="Saira"/>
              <a:sym typeface="Saira"/>
            </a:endParaRPr>
          </a:p>
        </p:txBody>
      </p:sp>
      <p:pic>
        <p:nvPicPr>
          <p:cNvPr id="226" name="Google Shape;226;g202c77a19e3_0_227"/>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27" name="Google Shape;227;g202c77a19e3_0_227"/>
          <p:cNvSpPr txBox="1"/>
          <p:nvPr/>
        </p:nvSpPr>
        <p:spPr>
          <a:xfrm>
            <a:off x="1812250" y="3460350"/>
            <a:ext cx="5486400" cy="12006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AR" sz="2200">
                <a:latin typeface="Saira"/>
                <a:ea typeface="Saira"/>
                <a:cs typeface="Saira"/>
                <a:sym typeface="Saira"/>
              </a:rPr>
              <a:t>mi_tupla = (1, 2, 2, 3, 4)</a:t>
            </a:r>
            <a:endParaRPr sz="2200">
              <a:latin typeface="Saira"/>
              <a:ea typeface="Saira"/>
              <a:cs typeface="Saira"/>
              <a:sym typeface="Saira"/>
            </a:endParaRPr>
          </a:p>
          <a:p>
            <a:pPr indent="0" lvl="0" marL="0" rtl="0" algn="l">
              <a:spcBef>
                <a:spcPts val="0"/>
              </a:spcBef>
              <a:spcAft>
                <a:spcPts val="0"/>
              </a:spcAft>
              <a:buClr>
                <a:schemeClr val="dk1"/>
              </a:buClr>
              <a:buSzPts val="1100"/>
              <a:buFont typeface="Arial"/>
              <a:buNone/>
            </a:pPr>
            <a:r>
              <a:rPr lang="es-AR" sz="2200">
                <a:latin typeface="Saira"/>
                <a:ea typeface="Saira"/>
                <a:cs typeface="Saira"/>
                <a:sym typeface="Saira"/>
              </a:rPr>
              <a:t>print(mi_tupla.count(2))  # Output: 2</a:t>
            </a:r>
            <a:endParaRPr sz="2200">
              <a:latin typeface="Saira"/>
              <a:ea typeface="Saira"/>
              <a:cs typeface="Saira"/>
              <a:sym typeface="Saira"/>
            </a:endParaRPr>
          </a:p>
          <a:p>
            <a:pPr indent="0" lvl="0" marL="0" rtl="0" algn="l">
              <a:spcBef>
                <a:spcPts val="0"/>
              </a:spcBef>
              <a:spcAft>
                <a:spcPts val="0"/>
              </a:spcAft>
              <a:buClr>
                <a:schemeClr val="dk1"/>
              </a:buClr>
              <a:buSzPts val="1100"/>
              <a:buFont typeface="Arial"/>
              <a:buNone/>
            </a:pPr>
            <a:r>
              <a:rPr lang="es-AR" sz="2200">
                <a:latin typeface="Saira"/>
                <a:ea typeface="Saira"/>
                <a:cs typeface="Saira"/>
                <a:sym typeface="Saira"/>
              </a:rPr>
              <a:t>print(mi_tupla.index(3))  # Output: 3</a:t>
            </a:r>
            <a:endParaRPr sz="2200">
              <a:latin typeface="Saira"/>
              <a:ea typeface="Saira"/>
              <a:cs typeface="Saira"/>
              <a:sym typeface="Sair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2e0920f1d41_0_103"/>
          <p:cNvSpPr txBox="1"/>
          <p:nvPr/>
        </p:nvSpPr>
        <p:spPr>
          <a:xfrm>
            <a:off x="319439" y="9902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Inmutabilidad de las Tuplas</a:t>
            </a:r>
            <a:endParaRPr b="0" i="0" sz="4800" u="none" cap="none" strike="noStrike">
              <a:solidFill>
                <a:schemeClr val="dk1"/>
              </a:solidFill>
              <a:latin typeface="Saira"/>
              <a:ea typeface="Saira"/>
              <a:cs typeface="Saira"/>
              <a:sym typeface="Saira"/>
            </a:endParaRPr>
          </a:p>
        </p:txBody>
      </p:sp>
      <p:pic>
        <p:nvPicPr>
          <p:cNvPr id="233" name="Google Shape;233;g2e0920f1d41_0_103"/>
          <p:cNvPicPr preferRelativeResize="0"/>
          <p:nvPr/>
        </p:nvPicPr>
        <p:blipFill rotWithShape="1">
          <a:blip r:embed="rId3">
            <a:alphaModFix/>
          </a:blip>
          <a:srcRect b="30668" l="23553" r="22731" t="29911"/>
          <a:stretch/>
        </p:blipFill>
        <p:spPr>
          <a:xfrm>
            <a:off x="8791460" y="390327"/>
            <a:ext cx="2959467" cy="1085934"/>
          </a:xfrm>
          <a:prstGeom prst="rect">
            <a:avLst/>
          </a:prstGeom>
          <a:noFill/>
          <a:ln>
            <a:noFill/>
          </a:ln>
        </p:spPr>
      </p:pic>
      <p:sp>
        <p:nvSpPr>
          <p:cNvPr id="234" name="Google Shape;234;g2e0920f1d41_0_103"/>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35" name="Google Shape;235;g2e0920f1d41_0_103"/>
          <p:cNvSpPr txBox="1"/>
          <p:nvPr/>
        </p:nvSpPr>
        <p:spPr>
          <a:xfrm>
            <a:off x="319450" y="1803425"/>
            <a:ext cx="8812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AR" sz="1800">
                <a:solidFill>
                  <a:srgbClr val="0D0D0D"/>
                </a:solidFill>
                <a:highlight>
                  <a:srgbClr val="FFFFFF"/>
                </a:highlight>
                <a:latin typeface="Saira"/>
                <a:ea typeface="Saira"/>
                <a:cs typeface="Saira"/>
                <a:sym typeface="Saira"/>
              </a:rPr>
              <a:t>Una vez creada una tupla, no se pueden modificar sus elementos. Intentar hacerlo resultará en un error.</a:t>
            </a:r>
            <a:endParaRPr sz="1800">
              <a:solidFill>
                <a:srgbClr val="0D0D0D"/>
              </a:solidFill>
              <a:highlight>
                <a:srgbClr val="FFFFFF"/>
              </a:highlight>
              <a:latin typeface="Saira"/>
              <a:ea typeface="Saira"/>
              <a:cs typeface="Saira"/>
              <a:sym typeface="Saira"/>
            </a:endParaRPr>
          </a:p>
        </p:txBody>
      </p:sp>
      <p:pic>
        <p:nvPicPr>
          <p:cNvPr id="236" name="Google Shape;236;g2e0920f1d41_0_103"/>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37" name="Google Shape;237;g2e0920f1d41_0_103"/>
          <p:cNvSpPr txBox="1"/>
          <p:nvPr/>
        </p:nvSpPr>
        <p:spPr>
          <a:xfrm>
            <a:off x="2052100" y="2709025"/>
            <a:ext cx="7118700" cy="12006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AR" sz="2200">
                <a:latin typeface="Saira"/>
                <a:ea typeface="Saira"/>
                <a:cs typeface="Saira"/>
                <a:sym typeface="Saira"/>
              </a:rPr>
              <a:t>mi_tupla = (1, 2, 3)</a:t>
            </a:r>
            <a:endParaRPr sz="2200">
              <a:latin typeface="Saira"/>
              <a:ea typeface="Saira"/>
              <a:cs typeface="Saira"/>
              <a:sym typeface="Saira"/>
            </a:endParaRPr>
          </a:p>
          <a:p>
            <a:pPr indent="0" lvl="0" marL="0" rtl="0" algn="l">
              <a:spcBef>
                <a:spcPts val="0"/>
              </a:spcBef>
              <a:spcAft>
                <a:spcPts val="0"/>
              </a:spcAft>
              <a:buClr>
                <a:schemeClr val="dk1"/>
              </a:buClr>
              <a:buSzPts val="1100"/>
              <a:buFont typeface="Arial"/>
              <a:buNone/>
            </a:pPr>
            <a:r>
              <a:rPr lang="es-AR" sz="2200">
                <a:latin typeface="Saira"/>
                <a:ea typeface="Saira"/>
                <a:cs typeface="Saira"/>
                <a:sym typeface="Saira"/>
              </a:rPr>
              <a:t># mi_tupla[1] = 4  # Esto dará un error TypeError: 'tuple' object does not support item assignment</a:t>
            </a:r>
            <a:endParaRPr sz="2200">
              <a:latin typeface="Saira"/>
              <a:ea typeface="Saira"/>
              <a:cs typeface="Saira"/>
              <a:sym typeface="Sair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2e0920f1d41_0_112"/>
          <p:cNvSpPr txBox="1"/>
          <p:nvPr/>
        </p:nvSpPr>
        <p:spPr>
          <a:xfrm>
            <a:off x="319439" y="9902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Usos Comunes de las Tuplas</a:t>
            </a:r>
            <a:endParaRPr b="0" i="0" sz="4800" u="none" cap="none" strike="noStrike">
              <a:solidFill>
                <a:schemeClr val="dk1"/>
              </a:solidFill>
              <a:latin typeface="Saira"/>
              <a:ea typeface="Saira"/>
              <a:cs typeface="Saira"/>
              <a:sym typeface="Saira"/>
            </a:endParaRPr>
          </a:p>
        </p:txBody>
      </p:sp>
      <p:pic>
        <p:nvPicPr>
          <p:cNvPr id="243" name="Google Shape;243;g2e0920f1d41_0_112"/>
          <p:cNvPicPr preferRelativeResize="0"/>
          <p:nvPr/>
        </p:nvPicPr>
        <p:blipFill rotWithShape="1">
          <a:blip r:embed="rId3">
            <a:alphaModFix/>
          </a:blip>
          <a:srcRect b="30668" l="23553" r="22731" t="29911"/>
          <a:stretch/>
        </p:blipFill>
        <p:spPr>
          <a:xfrm>
            <a:off x="8791460" y="390327"/>
            <a:ext cx="2959467" cy="1085934"/>
          </a:xfrm>
          <a:prstGeom prst="rect">
            <a:avLst/>
          </a:prstGeom>
          <a:noFill/>
          <a:ln>
            <a:noFill/>
          </a:ln>
        </p:spPr>
      </p:pic>
      <p:sp>
        <p:nvSpPr>
          <p:cNvPr id="244" name="Google Shape;244;g2e0920f1d41_0_112"/>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45" name="Google Shape;245;g2e0920f1d41_0_112"/>
          <p:cNvSpPr txBox="1"/>
          <p:nvPr/>
        </p:nvSpPr>
        <p:spPr>
          <a:xfrm>
            <a:off x="319450" y="1803425"/>
            <a:ext cx="88122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AR" sz="1800">
                <a:solidFill>
                  <a:srgbClr val="0D0D0D"/>
                </a:solidFill>
                <a:highlight>
                  <a:srgbClr val="FFFFFF"/>
                </a:highlight>
                <a:latin typeface="Saira"/>
                <a:ea typeface="Saira"/>
                <a:cs typeface="Saira"/>
                <a:sym typeface="Saira"/>
              </a:rPr>
              <a:t>Las tuplas se usan comúnmente cuando quieren almacenar una colección de elementos que no deben cambiar a lo largo del programa. Por ejemplo, puedes usar tuplas para:</a:t>
            </a:r>
            <a:endParaRPr sz="1800">
              <a:solidFill>
                <a:srgbClr val="0D0D0D"/>
              </a:solidFill>
              <a:highlight>
                <a:srgbClr val="FFFFFF"/>
              </a:highlight>
              <a:latin typeface="Saira"/>
              <a:ea typeface="Saira"/>
              <a:cs typeface="Saira"/>
              <a:sym typeface="Saira"/>
            </a:endParaRPr>
          </a:p>
          <a:p>
            <a:pPr indent="0" lvl="0" marL="0" marR="0" rtl="0" algn="l">
              <a:lnSpc>
                <a:spcPct val="100000"/>
              </a:lnSpc>
              <a:spcBef>
                <a:spcPts val="0"/>
              </a:spcBef>
              <a:spcAft>
                <a:spcPts val="0"/>
              </a:spcAft>
              <a:buNone/>
            </a:pPr>
            <a:r>
              <a:t/>
            </a:r>
            <a:endParaRPr sz="1800">
              <a:solidFill>
                <a:srgbClr val="0D0D0D"/>
              </a:solidFill>
              <a:highlight>
                <a:srgbClr val="FFFFFF"/>
              </a:highlight>
              <a:latin typeface="Saira"/>
              <a:ea typeface="Saira"/>
              <a:cs typeface="Saira"/>
              <a:sym typeface="Saira"/>
            </a:endParaRPr>
          </a:p>
          <a:p>
            <a:pPr indent="0" lvl="0" marL="0" marR="0" rtl="0" algn="l">
              <a:lnSpc>
                <a:spcPct val="100000"/>
              </a:lnSpc>
              <a:spcBef>
                <a:spcPts val="0"/>
              </a:spcBef>
              <a:spcAft>
                <a:spcPts val="0"/>
              </a:spcAft>
              <a:buNone/>
            </a:pPr>
            <a:r>
              <a:rPr lang="es-AR" sz="1800">
                <a:solidFill>
                  <a:srgbClr val="0D0D0D"/>
                </a:solidFill>
                <a:highlight>
                  <a:srgbClr val="FFFFFF"/>
                </a:highlight>
                <a:latin typeface="Saira"/>
                <a:ea typeface="Saira"/>
                <a:cs typeface="Saira"/>
                <a:sym typeface="Saira"/>
              </a:rPr>
              <a:t>Almacenar coordenadas (x, y).</a:t>
            </a:r>
            <a:endParaRPr sz="1800">
              <a:solidFill>
                <a:srgbClr val="0D0D0D"/>
              </a:solidFill>
              <a:highlight>
                <a:srgbClr val="FFFFFF"/>
              </a:highlight>
              <a:latin typeface="Saira"/>
              <a:ea typeface="Saira"/>
              <a:cs typeface="Saira"/>
              <a:sym typeface="Saira"/>
            </a:endParaRPr>
          </a:p>
          <a:p>
            <a:pPr indent="0" lvl="0" marL="0" marR="0" rtl="0" algn="l">
              <a:lnSpc>
                <a:spcPct val="100000"/>
              </a:lnSpc>
              <a:spcBef>
                <a:spcPts val="0"/>
              </a:spcBef>
              <a:spcAft>
                <a:spcPts val="0"/>
              </a:spcAft>
              <a:buNone/>
            </a:pPr>
            <a:r>
              <a:rPr lang="es-AR" sz="1800">
                <a:solidFill>
                  <a:srgbClr val="0D0D0D"/>
                </a:solidFill>
                <a:highlight>
                  <a:srgbClr val="FFFFFF"/>
                </a:highlight>
                <a:latin typeface="Saira"/>
                <a:ea typeface="Saira"/>
                <a:cs typeface="Saira"/>
                <a:sym typeface="Saira"/>
              </a:rPr>
              <a:t>Almacenar días de la semana.</a:t>
            </a:r>
            <a:endParaRPr sz="1800">
              <a:solidFill>
                <a:srgbClr val="0D0D0D"/>
              </a:solidFill>
              <a:highlight>
                <a:srgbClr val="FFFFFF"/>
              </a:highlight>
              <a:latin typeface="Saira"/>
              <a:ea typeface="Saira"/>
              <a:cs typeface="Saira"/>
              <a:sym typeface="Saira"/>
            </a:endParaRPr>
          </a:p>
          <a:p>
            <a:pPr indent="0" lvl="0" marL="0" marR="0" rtl="0" algn="l">
              <a:lnSpc>
                <a:spcPct val="100000"/>
              </a:lnSpc>
              <a:spcBef>
                <a:spcPts val="0"/>
              </a:spcBef>
              <a:spcAft>
                <a:spcPts val="0"/>
              </a:spcAft>
              <a:buNone/>
            </a:pPr>
            <a:r>
              <a:rPr lang="es-AR" sz="1800">
                <a:solidFill>
                  <a:srgbClr val="0D0D0D"/>
                </a:solidFill>
                <a:highlight>
                  <a:srgbClr val="FFFFFF"/>
                </a:highlight>
                <a:latin typeface="Saira"/>
                <a:ea typeface="Saira"/>
                <a:cs typeface="Saira"/>
                <a:sym typeface="Saira"/>
              </a:rPr>
              <a:t>Como claves en diccionarios (ya que las claves deben ser inmutables).</a:t>
            </a:r>
            <a:endParaRPr sz="1800">
              <a:solidFill>
                <a:srgbClr val="0D0D0D"/>
              </a:solidFill>
              <a:highlight>
                <a:srgbClr val="FFFFFF"/>
              </a:highlight>
              <a:latin typeface="Saira"/>
              <a:ea typeface="Saira"/>
              <a:cs typeface="Saira"/>
              <a:sym typeface="Saira"/>
            </a:endParaRPr>
          </a:p>
        </p:txBody>
      </p:sp>
      <p:pic>
        <p:nvPicPr>
          <p:cNvPr id="246" name="Google Shape;246;g2e0920f1d41_0_112"/>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2e0920f1d41_0_121"/>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Funciones</a:t>
            </a:r>
            <a:endParaRPr b="0" i="0" sz="5400" u="none" cap="none" strike="noStrike">
              <a:solidFill>
                <a:schemeClr val="dk1"/>
              </a:solidFill>
              <a:latin typeface="Saira"/>
              <a:ea typeface="Saira"/>
              <a:cs typeface="Saira"/>
              <a:sym typeface="Saira"/>
            </a:endParaRPr>
          </a:p>
        </p:txBody>
      </p:sp>
      <p:pic>
        <p:nvPicPr>
          <p:cNvPr id="252" name="Google Shape;252;g2e0920f1d41_0_121"/>
          <p:cNvPicPr preferRelativeResize="0"/>
          <p:nvPr/>
        </p:nvPicPr>
        <p:blipFill rotWithShape="1">
          <a:blip r:embed="rId3">
            <a:alphaModFix/>
          </a:blip>
          <a:srcRect b="30671" l="23552" r="22736" t="29910"/>
          <a:stretch/>
        </p:blipFill>
        <p:spPr>
          <a:xfrm>
            <a:off x="8791460" y="390327"/>
            <a:ext cx="2959467" cy="1085934"/>
          </a:xfrm>
          <a:prstGeom prst="rect">
            <a:avLst/>
          </a:prstGeom>
          <a:noFill/>
          <a:ln>
            <a:noFill/>
          </a:ln>
        </p:spPr>
      </p:pic>
      <p:sp>
        <p:nvSpPr>
          <p:cNvPr id="253" name="Google Shape;253;g2e0920f1d41_0_121"/>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54" name="Google Shape;254;g2e0920f1d41_0_121"/>
          <p:cNvSpPr txBox="1"/>
          <p:nvPr/>
        </p:nvSpPr>
        <p:spPr>
          <a:xfrm>
            <a:off x="490000" y="2411875"/>
            <a:ext cx="881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Saira"/>
              <a:ea typeface="Saira"/>
              <a:cs typeface="Saira"/>
              <a:sym typeface="Saira"/>
            </a:endParaRPr>
          </a:p>
        </p:txBody>
      </p:sp>
      <p:sp>
        <p:nvSpPr>
          <p:cNvPr id="255" name="Google Shape;255;g2e0920f1d41_0_121"/>
          <p:cNvSpPr txBox="1"/>
          <p:nvPr/>
        </p:nvSpPr>
        <p:spPr>
          <a:xfrm>
            <a:off x="564550" y="1901925"/>
            <a:ext cx="104700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AR" sz="1800">
                <a:solidFill>
                  <a:schemeClr val="dk1"/>
                </a:solidFill>
                <a:latin typeface="Saira"/>
                <a:ea typeface="Saira"/>
                <a:cs typeface="Saira"/>
                <a:sym typeface="Saira"/>
              </a:rPr>
              <a:t>Una función es un bloque de código reutilizable que realiza una tarea específica. Puedes definir una función una vez y luego llamarla tantas veces como sea necesario, lo que ayuda a mantener tu código limpio y organizado.</a:t>
            </a:r>
            <a:endParaRPr b="0" i="0" sz="1800" u="none" cap="none" strike="noStrike">
              <a:solidFill>
                <a:schemeClr val="dk1"/>
              </a:solidFill>
              <a:latin typeface="Saira"/>
              <a:ea typeface="Saira"/>
              <a:cs typeface="Saira"/>
              <a:sym typeface="Saira"/>
            </a:endParaRPr>
          </a:p>
        </p:txBody>
      </p:sp>
      <p:pic>
        <p:nvPicPr>
          <p:cNvPr id="256" name="Google Shape;256;g2e0920f1d41_0_121"/>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57" name="Google Shape;257;g2e0920f1d41_0_121"/>
          <p:cNvSpPr txBox="1"/>
          <p:nvPr/>
        </p:nvSpPr>
        <p:spPr>
          <a:xfrm>
            <a:off x="721650" y="3697575"/>
            <a:ext cx="6291000" cy="1200600"/>
          </a:xfrm>
          <a:prstGeom prst="rect">
            <a:avLst/>
          </a:prstGeom>
          <a:solidFill>
            <a:srgbClr val="C9DAF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solidFill>
                  <a:srgbClr val="FF0000"/>
                </a:solidFill>
                <a:latin typeface="Saira"/>
                <a:ea typeface="Saira"/>
                <a:cs typeface="Saira"/>
                <a:sym typeface="Saira"/>
              </a:rPr>
              <a:t>def </a:t>
            </a:r>
            <a:r>
              <a:rPr lang="es-AR" sz="2200">
                <a:latin typeface="Saira"/>
                <a:ea typeface="Saira"/>
                <a:cs typeface="Saira"/>
                <a:sym typeface="Saira"/>
              </a:rPr>
              <a:t>nombre_de_la_funcion():</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 Cuerpo de la función</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print("Hola, soy una función")</a:t>
            </a:r>
            <a:endParaRPr sz="2200">
              <a:latin typeface="Saira"/>
              <a:ea typeface="Saira"/>
              <a:cs typeface="Saira"/>
              <a:sym typeface="Saira"/>
            </a:endParaRPr>
          </a:p>
        </p:txBody>
      </p:sp>
      <p:sp>
        <p:nvSpPr>
          <p:cNvPr id="258" name="Google Shape;258;g2e0920f1d41_0_121"/>
          <p:cNvSpPr txBox="1"/>
          <p:nvPr/>
        </p:nvSpPr>
        <p:spPr>
          <a:xfrm>
            <a:off x="608450" y="3076800"/>
            <a:ext cx="2959500" cy="461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200"/>
              </a:spcAft>
              <a:buNone/>
            </a:pPr>
            <a:r>
              <a:rPr lang="es-AR" sz="1800">
                <a:solidFill>
                  <a:srgbClr val="0D0D0D"/>
                </a:solidFill>
                <a:highlight>
                  <a:srgbClr val="FFFFFF"/>
                </a:highlight>
                <a:latin typeface="Saira"/>
                <a:ea typeface="Saira"/>
                <a:cs typeface="Saira"/>
                <a:sym typeface="Saira"/>
              </a:rPr>
              <a:t>Definición de una Función</a:t>
            </a:r>
            <a:endParaRPr sz="1800">
              <a:solidFill>
                <a:srgbClr val="0D0D0D"/>
              </a:solidFill>
              <a:highlight>
                <a:srgbClr val="FFFFFF"/>
              </a:highlight>
              <a:latin typeface="Saira"/>
              <a:ea typeface="Saira"/>
              <a:cs typeface="Saira"/>
              <a:sym typeface="Sair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2ddb62af2b6_0_7"/>
          <p:cNvSpPr txBox="1"/>
          <p:nvPr/>
        </p:nvSpPr>
        <p:spPr>
          <a:xfrm>
            <a:off x="319439" y="990221"/>
            <a:ext cx="8472000" cy="69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900">
                <a:solidFill>
                  <a:schemeClr val="dk1"/>
                </a:solidFill>
                <a:latin typeface="Saira"/>
                <a:ea typeface="Saira"/>
                <a:cs typeface="Saira"/>
                <a:sym typeface="Saira"/>
              </a:rPr>
              <a:t>Llamar a una Función</a:t>
            </a:r>
            <a:endParaRPr b="0" i="0" sz="5100" u="none" cap="none" strike="noStrike">
              <a:solidFill>
                <a:schemeClr val="dk1"/>
              </a:solidFill>
              <a:latin typeface="Saira"/>
              <a:ea typeface="Saira"/>
              <a:cs typeface="Saira"/>
              <a:sym typeface="Saira"/>
            </a:endParaRPr>
          </a:p>
        </p:txBody>
      </p:sp>
      <p:pic>
        <p:nvPicPr>
          <p:cNvPr id="264" name="Google Shape;264;g2ddb62af2b6_0_7"/>
          <p:cNvPicPr preferRelativeResize="0"/>
          <p:nvPr/>
        </p:nvPicPr>
        <p:blipFill rotWithShape="1">
          <a:blip r:embed="rId3">
            <a:alphaModFix/>
          </a:blip>
          <a:srcRect b="30668" l="23552" r="22734" t="29911"/>
          <a:stretch/>
        </p:blipFill>
        <p:spPr>
          <a:xfrm>
            <a:off x="8791460" y="390327"/>
            <a:ext cx="2959467" cy="1085934"/>
          </a:xfrm>
          <a:prstGeom prst="rect">
            <a:avLst/>
          </a:prstGeom>
          <a:noFill/>
          <a:ln>
            <a:noFill/>
          </a:ln>
        </p:spPr>
      </p:pic>
      <p:sp>
        <p:nvSpPr>
          <p:cNvPr id="265" name="Google Shape;265;g2ddb62af2b6_0_7"/>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66" name="Google Shape;266;g2ddb62af2b6_0_7"/>
          <p:cNvSpPr txBox="1"/>
          <p:nvPr/>
        </p:nvSpPr>
        <p:spPr>
          <a:xfrm>
            <a:off x="448750" y="1862613"/>
            <a:ext cx="9214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Para ejecutar una función, simplemente llamas su nombre seguido de paréntesis ().</a:t>
            </a:r>
            <a:endParaRPr b="0" i="0" sz="2000" u="none" cap="none" strike="noStrike">
              <a:solidFill>
                <a:srgbClr val="000000"/>
              </a:solidFill>
              <a:latin typeface="Saira"/>
              <a:ea typeface="Saira"/>
              <a:cs typeface="Saira"/>
              <a:sym typeface="Saira"/>
            </a:endParaRPr>
          </a:p>
        </p:txBody>
      </p:sp>
      <p:pic>
        <p:nvPicPr>
          <p:cNvPr id="267" name="Google Shape;267;g2ddb62af2b6_0_7"/>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68" name="Google Shape;268;g2ddb62af2b6_0_7"/>
          <p:cNvSpPr txBox="1"/>
          <p:nvPr/>
        </p:nvSpPr>
        <p:spPr>
          <a:xfrm>
            <a:off x="719050" y="2452875"/>
            <a:ext cx="7672800" cy="15393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2200"/>
              <a:buFont typeface="Arial"/>
              <a:buNone/>
            </a:pPr>
            <a:r>
              <a:rPr lang="es-AR" sz="2200">
                <a:solidFill>
                  <a:srgbClr val="FF0000"/>
                </a:solidFill>
                <a:latin typeface="Saira"/>
                <a:ea typeface="Saira"/>
                <a:cs typeface="Saira"/>
                <a:sym typeface="Saira"/>
              </a:rPr>
              <a:t>def </a:t>
            </a:r>
            <a:r>
              <a:rPr lang="es-AR" sz="2200">
                <a:solidFill>
                  <a:schemeClr val="dk1"/>
                </a:solidFill>
                <a:latin typeface="Saira"/>
                <a:ea typeface="Saira"/>
                <a:cs typeface="Saira"/>
                <a:sym typeface="Saira"/>
              </a:rPr>
              <a:t>nombre_de_la_funcion():</a:t>
            </a:r>
            <a:endParaRPr sz="2200">
              <a:solidFill>
                <a:schemeClr val="dk1"/>
              </a:solidFill>
              <a:latin typeface="Saira"/>
              <a:ea typeface="Saira"/>
              <a:cs typeface="Saira"/>
              <a:sym typeface="Saira"/>
            </a:endParaRPr>
          </a:p>
          <a:p>
            <a:pPr indent="0" lvl="0" marL="0" rtl="0" algn="l">
              <a:spcBef>
                <a:spcPts val="0"/>
              </a:spcBef>
              <a:spcAft>
                <a:spcPts val="0"/>
              </a:spcAft>
              <a:buClr>
                <a:schemeClr val="dk1"/>
              </a:buClr>
              <a:buSzPts val="2200"/>
              <a:buFont typeface="Arial"/>
              <a:buNone/>
            </a:pPr>
            <a:r>
              <a:rPr lang="es-AR" sz="2200">
                <a:solidFill>
                  <a:schemeClr val="dk1"/>
                </a:solidFill>
                <a:latin typeface="Saira"/>
                <a:ea typeface="Saira"/>
                <a:cs typeface="Saira"/>
                <a:sym typeface="Saira"/>
              </a:rPr>
              <a:t>    #Cuerpo de la función</a:t>
            </a:r>
            <a:endParaRPr sz="2200">
              <a:solidFill>
                <a:schemeClr val="dk1"/>
              </a:solidFill>
              <a:latin typeface="Saira"/>
              <a:ea typeface="Saira"/>
              <a:cs typeface="Saira"/>
              <a:sym typeface="Saira"/>
            </a:endParaRPr>
          </a:p>
          <a:p>
            <a:pPr indent="0" lvl="0" marL="0" rtl="0" algn="l">
              <a:spcBef>
                <a:spcPts val="0"/>
              </a:spcBef>
              <a:spcAft>
                <a:spcPts val="0"/>
              </a:spcAft>
              <a:buClr>
                <a:schemeClr val="dk1"/>
              </a:buClr>
              <a:buSzPts val="2200"/>
              <a:buFont typeface="Arial"/>
              <a:buNone/>
            </a:pPr>
            <a:r>
              <a:rPr lang="es-AR" sz="2200">
                <a:solidFill>
                  <a:schemeClr val="dk1"/>
                </a:solidFill>
                <a:latin typeface="Saira"/>
                <a:ea typeface="Saira"/>
                <a:cs typeface="Saira"/>
                <a:sym typeface="Saira"/>
              </a:rPr>
              <a:t>    print("Hola, soy una función")</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nombre_de_la_funcion()  #Output: Hola, soy una función</a:t>
            </a:r>
            <a:endParaRPr sz="2200">
              <a:latin typeface="Saira"/>
              <a:ea typeface="Saira"/>
              <a:cs typeface="Saira"/>
              <a:sym typeface="Sair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2e0920f1d41_0_156"/>
          <p:cNvSpPr txBox="1"/>
          <p:nvPr/>
        </p:nvSpPr>
        <p:spPr>
          <a:xfrm>
            <a:off x="319439" y="9902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Funciones con Valores de Retorno</a:t>
            </a:r>
            <a:endParaRPr b="0" i="0" sz="4800" u="none" cap="none" strike="noStrike">
              <a:solidFill>
                <a:schemeClr val="dk1"/>
              </a:solidFill>
              <a:latin typeface="Saira"/>
              <a:ea typeface="Saira"/>
              <a:cs typeface="Saira"/>
              <a:sym typeface="Saira"/>
            </a:endParaRPr>
          </a:p>
        </p:txBody>
      </p:sp>
      <p:pic>
        <p:nvPicPr>
          <p:cNvPr id="274" name="Google Shape;274;g2e0920f1d41_0_156"/>
          <p:cNvPicPr preferRelativeResize="0"/>
          <p:nvPr/>
        </p:nvPicPr>
        <p:blipFill rotWithShape="1">
          <a:blip r:embed="rId3">
            <a:alphaModFix/>
          </a:blip>
          <a:srcRect b="30665" l="23553" r="22731" t="29912"/>
          <a:stretch/>
        </p:blipFill>
        <p:spPr>
          <a:xfrm>
            <a:off x="8791460" y="390327"/>
            <a:ext cx="2959467" cy="1085934"/>
          </a:xfrm>
          <a:prstGeom prst="rect">
            <a:avLst/>
          </a:prstGeom>
          <a:noFill/>
          <a:ln>
            <a:noFill/>
          </a:ln>
        </p:spPr>
      </p:pic>
      <p:sp>
        <p:nvSpPr>
          <p:cNvPr id="275" name="Google Shape;275;g2e0920f1d41_0_156"/>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76" name="Google Shape;276;g2e0920f1d41_0_156"/>
          <p:cNvSpPr txBox="1"/>
          <p:nvPr/>
        </p:nvSpPr>
        <p:spPr>
          <a:xfrm>
            <a:off x="438450" y="1876450"/>
            <a:ext cx="9214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Las funciones pueden devolver valores usando la palabra clave return. Esto te permite capturar el resultado de la función y usarlo en otra parte de tu código.</a:t>
            </a:r>
            <a:endParaRPr b="0" i="0" sz="2000" u="none" cap="none" strike="noStrike">
              <a:solidFill>
                <a:srgbClr val="000000"/>
              </a:solidFill>
              <a:latin typeface="Saira"/>
              <a:ea typeface="Saira"/>
              <a:cs typeface="Saira"/>
              <a:sym typeface="Saira"/>
            </a:endParaRPr>
          </a:p>
        </p:txBody>
      </p:sp>
      <p:pic>
        <p:nvPicPr>
          <p:cNvPr id="277" name="Google Shape;277;g2e0920f1d41_0_156"/>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78" name="Google Shape;278;g2e0920f1d41_0_156"/>
          <p:cNvSpPr txBox="1"/>
          <p:nvPr/>
        </p:nvSpPr>
        <p:spPr>
          <a:xfrm>
            <a:off x="2790900" y="2879263"/>
            <a:ext cx="4509300" cy="22164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solidFill>
                  <a:schemeClr val="dk1"/>
                </a:solidFill>
                <a:latin typeface="Saira"/>
                <a:ea typeface="Saira"/>
                <a:cs typeface="Saira"/>
                <a:sym typeface="Saira"/>
              </a:rPr>
              <a:t>def suma(a, b):</a:t>
            </a:r>
            <a:endParaRPr sz="22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solidFill>
                  <a:schemeClr val="dk1"/>
                </a:solidFill>
                <a:latin typeface="Saira"/>
                <a:ea typeface="Saira"/>
                <a:cs typeface="Saira"/>
                <a:sym typeface="Saira"/>
              </a:rPr>
              <a:t>    return a + b</a:t>
            </a:r>
            <a:endParaRPr sz="22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solidFill>
                  <a:schemeClr val="dk1"/>
                </a:solidFill>
                <a:latin typeface="Saira"/>
                <a:ea typeface="Saira"/>
                <a:cs typeface="Saira"/>
                <a:sym typeface="Saira"/>
              </a:rPr>
              <a:t>resultado = suma(3, 4)</a:t>
            </a:r>
            <a:endParaRPr sz="22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solidFill>
                  <a:schemeClr val="dk1"/>
                </a:solidFill>
                <a:latin typeface="Saira"/>
                <a:ea typeface="Saira"/>
                <a:cs typeface="Saira"/>
                <a:sym typeface="Saira"/>
              </a:rPr>
              <a:t>print(resultado)  # Output: 7</a:t>
            </a:r>
            <a:endParaRPr sz="22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solidFill>
                <a:schemeClr val="dk1"/>
              </a:solidFill>
              <a:latin typeface="Saira"/>
              <a:ea typeface="Saira"/>
              <a:cs typeface="Saira"/>
              <a:sym typeface="Sair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2e0920f1d41_0_147"/>
          <p:cNvSpPr txBox="1"/>
          <p:nvPr/>
        </p:nvSpPr>
        <p:spPr>
          <a:xfrm>
            <a:off x="319439" y="9902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Funciones con Parámetros</a:t>
            </a:r>
            <a:endParaRPr b="0" i="0" sz="3600" u="none" cap="none" strike="noStrike">
              <a:solidFill>
                <a:schemeClr val="dk1"/>
              </a:solidFill>
              <a:latin typeface="Saira"/>
              <a:ea typeface="Saira"/>
              <a:cs typeface="Saira"/>
              <a:sym typeface="Saira"/>
            </a:endParaRPr>
          </a:p>
        </p:txBody>
      </p:sp>
      <p:pic>
        <p:nvPicPr>
          <p:cNvPr id="284" name="Google Shape;284;g2e0920f1d41_0_147"/>
          <p:cNvPicPr preferRelativeResize="0"/>
          <p:nvPr/>
        </p:nvPicPr>
        <p:blipFill rotWithShape="1">
          <a:blip r:embed="rId3">
            <a:alphaModFix/>
          </a:blip>
          <a:srcRect b="30665" l="23553" r="22731" t="29912"/>
          <a:stretch/>
        </p:blipFill>
        <p:spPr>
          <a:xfrm>
            <a:off x="8791460" y="390327"/>
            <a:ext cx="2959467" cy="1085934"/>
          </a:xfrm>
          <a:prstGeom prst="rect">
            <a:avLst/>
          </a:prstGeom>
          <a:noFill/>
          <a:ln>
            <a:noFill/>
          </a:ln>
        </p:spPr>
      </p:pic>
      <p:sp>
        <p:nvSpPr>
          <p:cNvPr id="285" name="Google Shape;285;g2e0920f1d41_0_147"/>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86" name="Google Shape;286;g2e0920f1d41_0_147"/>
          <p:cNvSpPr txBox="1"/>
          <p:nvPr/>
        </p:nvSpPr>
        <p:spPr>
          <a:xfrm>
            <a:off x="438450" y="1732550"/>
            <a:ext cx="9214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Las funciones pueden tomar parámetros, que son variables que pasas a la función para que realice operaciones con ellas.</a:t>
            </a:r>
            <a:endParaRPr b="0" i="0" sz="2000" u="none" cap="none" strike="noStrike">
              <a:solidFill>
                <a:srgbClr val="000000"/>
              </a:solidFill>
              <a:latin typeface="Saira"/>
              <a:ea typeface="Saira"/>
              <a:cs typeface="Saira"/>
              <a:sym typeface="Saira"/>
            </a:endParaRPr>
          </a:p>
        </p:txBody>
      </p:sp>
      <p:pic>
        <p:nvPicPr>
          <p:cNvPr id="287" name="Google Shape;287;g2e0920f1d41_0_147"/>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88" name="Google Shape;288;g2e0920f1d41_0_147"/>
          <p:cNvSpPr txBox="1"/>
          <p:nvPr/>
        </p:nvSpPr>
        <p:spPr>
          <a:xfrm>
            <a:off x="2524050" y="2567275"/>
            <a:ext cx="5043000" cy="18777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solidFill>
                  <a:srgbClr val="FF0000"/>
                </a:solidFill>
                <a:latin typeface="Saira"/>
                <a:ea typeface="Saira"/>
                <a:cs typeface="Saira"/>
                <a:sym typeface="Saira"/>
              </a:rPr>
              <a:t>def </a:t>
            </a:r>
            <a:r>
              <a:rPr lang="es-AR" sz="2200">
                <a:solidFill>
                  <a:schemeClr val="dk1"/>
                </a:solidFill>
                <a:latin typeface="Saira"/>
                <a:ea typeface="Saira"/>
                <a:cs typeface="Saira"/>
                <a:sym typeface="Saira"/>
              </a:rPr>
              <a:t>saludar(nombre):</a:t>
            </a:r>
            <a:endParaRPr sz="22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solidFill>
                  <a:schemeClr val="dk1"/>
                </a:solidFill>
                <a:latin typeface="Saira"/>
                <a:ea typeface="Saira"/>
                <a:cs typeface="Saira"/>
                <a:sym typeface="Saira"/>
              </a:rPr>
              <a:t>    print(f"Hola, {nombre}")</a:t>
            </a:r>
            <a:endParaRPr sz="22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solidFill>
                  <a:schemeClr val="dk1"/>
                </a:solidFill>
                <a:latin typeface="Saira"/>
                <a:ea typeface="Saira"/>
                <a:cs typeface="Saira"/>
                <a:sym typeface="Saira"/>
              </a:rPr>
              <a:t>saludar("Juan")  # Output: Hola, Juan</a:t>
            </a:r>
            <a:endParaRPr sz="22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solidFill>
                  <a:schemeClr val="dk1"/>
                </a:solidFill>
                <a:latin typeface="Saira"/>
                <a:ea typeface="Saira"/>
                <a:cs typeface="Saira"/>
                <a:sym typeface="Saira"/>
              </a:rPr>
              <a:t>saludar("Ana")   # Output: Hola, Ana</a:t>
            </a:r>
            <a:endParaRPr sz="2200">
              <a:solidFill>
                <a:schemeClr val="dk1"/>
              </a:solidFill>
              <a:latin typeface="Saira"/>
              <a:ea typeface="Saira"/>
              <a:cs typeface="Saira"/>
              <a:sym typeface="Sair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2e0920f1d41_0_165"/>
          <p:cNvSpPr txBox="1"/>
          <p:nvPr/>
        </p:nvSpPr>
        <p:spPr>
          <a:xfrm>
            <a:off x="319439" y="990221"/>
            <a:ext cx="84720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000">
                <a:solidFill>
                  <a:schemeClr val="dk1"/>
                </a:solidFill>
                <a:latin typeface="Saira"/>
                <a:ea typeface="Saira"/>
                <a:cs typeface="Saira"/>
                <a:sym typeface="Saira"/>
              </a:rPr>
              <a:t>Funciones con Parámetros por Defecto</a:t>
            </a:r>
            <a:endParaRPr b="0" i="0" sz="3000" u="none" cap="none" strike="noStrike">
              <a:solidFill>
                <a:schemeClr val="dk1"/>
              </a:solidFill>
              <a:latin typeface="Saira"/>
              <a:ea typeface="Saira"/>
              <a:cs typeface="Saira"/>
              <a:sym typeface="Saira"/>
            </a:endParaRPr>
          </a:p>
        </p:txBody>
      </p:sp>
      <p:pic>
        <p:nvPicPr>
          <p:cNvPr id="294" name="Google Shape;294;g2e0920f1d41_0_165"/>
          <p:cNvPicPr preferRelativeResize="0"/>
          <p:nvPr/>
        </p:nvPicPr>
        <p:blipFill rotWithShape="1">
          <a:blip r:embed="rId3">
            <a:alphaModFix/>
          </a:blip>
          <a:srcRect b="30665" l="23553" r="22731" t="29912"/>
          <a:stretch/>
        </p:blipFill>
        <p:spPr>
          <a:xfrm>
            <a:off x="8791460" y="390327"/>
            <a:ext cx="2959467" cy="1085934"/>
          </a:xfrm>
          <a:prstGeom prst="rect">
            <a:avLst/>
          </a:prstGeom>
          <a:noFill/>
          <a:ln>
            <a:noFill/>
          </a:ln>
        </p:spPr>
      </p:pic>
      <p:sp>
        <p:nvSpPr>
          <p:cNvPr id="295" name="Google Shape;295;g2e0920f1d41_0_165"/>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96" name="Google Shape;296;g2e0920f1d41_0_165"/>
          <p:cNvSpPr txBox="1"/>
          <p:nvPr/>
        </p:nvSpPr>
        <p:spPr>
          <a:xfrm>
            <a:off x="438450" y="1686350"/>
            <a:ext cx="9214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Pueden definir valores por defecto para los parámetros. Si no se proporciona un valor al llamar a la función, se usará el valor por defecto.</a:t>
            </a:r>
            <a:endParaRPr b="0" i="0" sz="2000" u="none" cap="none" strike="noStrike">
              <a:solidFill>
                <a:srgbClr val="000000"/>
              </a:solidFill>
              <a:latin typeface="Saira"/>
              <a:ea typeface="Saira"/>
              <a:cs typeface="Saira"/>
              <a:sym typeface="Saira"/>
            </a:endParaRPr>
          </a:p>
        </p:txBody>
      </p:sp>
      <p:pic>
        <p:nvPicPr>
          <p:cNvPr id="297" name="Google Shape;297;g2e0920f1d41_0_165"/>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98" name="Google Shape;298;g2e0920f1d41_0_165"/>
          <p:cNvSpPr txBox="1"/>
          <p:nvPr/>
        </p:nvSpPr>
        <p:spPr>
          <a:xfrm>
            <a:off x="2610450" y="2938525"/>
            <a:ext cx="4870200" cy="18777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solidFill>
                  <a:srgbClr val="FF0000"/>
                </a:solidFill>
                <a:latin typeface="Saira"/>
                <a:ea typeface="Saira"/>
                <a:cs typeface="Saira"/>
                <a:sym typeface="Saira"/>
              </a:rPr>
              <a:t>def </a:t>
            </a:r>
            <a:r>
              <a:rPr lang="es-AR" sz="2200">
                <a:solidFill>
                  <a:schemeClr val="dk1"/>
                </a:solidFill>
                <a:latin typeface="Saira"/>
                <a:ea typeface="Saira"/>
                <a:cs typeface="Saira"/>
                <a:sym typeface="Saira"/>
              </a:rPr>
              <a:t>saludar(nombre="amigo"):</a:t>
            </a:r>
            <a:endParaRPr sz="22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solidFill>
                  <a:schemeClr val="dk1"/>
                </a:solidFill>
                <a:latin typeface="Saira"/>
                <a:ea typeface="Saira"/>
                <a:cs typeface="Saira"/>
                <a:sym typeface="Saira"/>
              </a:rPr>
              <a:t>    print(f"Hola, {nombre}")</a:t>
            </a:r>
            <a:endParaRPr sz="22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solidFill>
                  <a:schemeClr val="dk1"/>
                </a:solidFill>
                <a:latin typeface="Saira"/>
                <a:ea typeface="Saira"/>
                <a:cs typeface="Saira"/>
                <a:sym typeface="Saira"/>
              </a:rPr>
              <a:t>saludar()        # Output: Hola, amigo</a:t>
            </a:r>
            <a:endParaRPr sz="22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solidFill>
                  <a:schemeClr val="dk1"/>
                </a:solidFill>
                <a:latin typeface="Saira"/>
                <a:ea typeface="Saira"/>
                <a:cs typeface="Saira"/>
                <a:sym typeface="Saira"/>
              </a:rPr>
              <a:t>saludar("Luis")  # Output: Hola, Luis</a:t>
            </a:r>
            <a:endParaRPr sz="2200">
              <a:solidFill>
                <a:schemeClr val="dk1"/>
              </a:solidFill>
              <a:latin typeface="Saira"/>
              <a:ea typeface="Saira"/>
              <a:cs typeface="Saira"/>
              <a:sym typeface="Sair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20dae6325eb_1_3"/>
          <p:cNvSpPr txBox="1"/>
          <p:nvPr/>
        </p:nvSpPr>
        <p:spPr>
          <a:xfrm>
            <a:off x="319439" y="990221"/>
            <a:ext cx="84720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000">
                <a:solidFill>
                  <a:schemeClr val="dk1"/>
                </a:solidFill>
                <a:latin typeface="Saira"/>
                <a:ea typeface="Saira"/>
                <a:cs typeface="Saira"/>
                <a:sym typeface="Saira"/>
              </a:rPr>
              <a:t>Funciones con Parámetros Arbitrarios</a:t>
            </a:r>
            <a:endParaRPr b="0" i="0" sz="3000" u="none" cap="none" strike="noStrike">
              <a:solidFill>
                <a:schemeClr val="dk1"/>
              </a:solidFill>
              <a:latin typeface="Saira"/>
              <a:ea typeface="Saira"/>
              <a:cs typeface="Saira"/>
              <a:sym typeface="Saira"/>
            </a:endParaRPr>
          </a:p>
        </p:txBody>
      </p:sp>
      <p:pic>
        <p:nvPicPr>
          <p:cNvPr id="304" name="Google Shape;304;g20dae6325eb_1_3"/>
          <p:cNvPicPr preferRelativeResize="0"/>
          <p:nvPr/>
        </p:nvPicPr>
        <p:blipFill rotWithShape="1">
          <a:blip r:embed="rId3">
            <a:alphaModFix/>
          </a:blip>
          <a:srcRect b="30665" l="23552" r="22735" t="29912"/>
          <a:stretch/>
        </p:blipFill>
        <p:spPr>
          <a:xfrm>
            <a:off x="8791460" y="390327"/>
            <a:ext cx="2959467" cy="1085934"/>
          </a:xfrm>
          <a:prstGeom prst="rect">
            <a:avLst/>
          </a:prstGeom>
          <a:noFill/>
          <a:ln>
            <a:noFill/>
          </a:ln>
        </p:spPr>
      </p:pic>
      <p:sp>
        <p:nvSpPr>
          <p:cNvPr id="305" name="Google Shape;305;g20dae6325eb_1_3"/>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306" name="Google Shape;306;g20dae6325eb_1_3"/>
          <p:cNvSpPr txBox="1"/>
          <p:nvPr/>
        </p:nvSpPr>
        <p:spPr>
          <a:xfrm>
            <a:off x="556900" y="1844675"/>
            <a:ext cx="88122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A veces uno sabes de antemano cuántos parámetros necesitarás. Puedes usar *args para pasar un número arbitrario de argumentos posicionales y **kwargs para pasar un número arbitrario de argumentos nombrados.</a:t>
            </a:r>
            <a:endParaRPr b="0" i="0" sz="2000" u="none" cap="none" strike="noStrike">
              <a:solidFill>
                <a:srgbClr val="000000"/>
              </a:solidFill>
              <a:latin typeface="Saira"/>
              <a:ea typeface="Saira"/>
              <a:cs typeface="Saira"/>
              <a:sym typeface="Saira"/>
            </a:endParaRPr>
          </a:p>
        </p:txBody>
      </p:sp>
      <p:pic>
        <p:nvPicPr>
          <p:cNvPr id="307" name="Google Shape;307;g20dae6325eb_1_3"/>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308" name="Google Shape;308;g20dae6325eb_1_3"/>
          <p:cNvSpPr txBox="1"/>
          <p:nvPr/>
        </p:nvSpPr>
        <p:spPr>
          <a:xfrm>
            <a:off x="1534000" y="3002413"/>
            <a:ext cx="6858000" cy="18777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solidFill>
                  <a:srgbClr val="FF0000"/>
                </a:solidFill>
                <a:latin typeface="Saira"/>
                <a:ea typeface="Saira"/>
                <a:cs typeface="Saira"/>
                <a:sym typeface="Saira"/>
              </a:rPr>
              <a:t>def </a:t>
            </a:r>
            <a:r>
              <a:rPr lang="es-AR" sz="2200">
                <a:latin typeface="Saira"/>
                <a:ea typeface="Saira"/>
                <a:cs typeface="Saira"/>
                <a:sym typeface="Saira"/>
              </a:rPr>
              <a:t>sumar_todos(*args):</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return sum(args)</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print(sumar_todos(1, 2, 3))        # Output: 6</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print(sumar_todos(4, 5, 6, 7, 8))  # Output: 30</a:t>
            </a:r>
            <a:endParaRPr sz="2200">
              <a:latin typeface="Saira"/>
              <a:ea typeface="Saira"/>
              <a:cs typeface="Saira"/>
              <a:sym typeface="Sair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2e0920f1d41_0_175"/>
          <p:cNvSpPr txBox="1"/>
          <p:nvPr/>
        </p:nvSpPr>
        <p:spPr>
          <a:xfrm>
            <a:off x="319439" y="990221"/>
            <a:ext cx="84720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000">
                <a:solidFill>
                  <a:schemeClr val="dk1"/>
                </a:solidFill>
                <a:latin typeface="Saira"/>
                <a:ea typeface="Saira"/>
                <a:cs typeface="Saira"/>
                <a:sym typeface="Saira"/>
              </a:rPr>
              <a:t>Funciones con Parámetros Arbitrarios</a:t>
            </a:r>
            <a:endParaRPr b="0" i="0" sz="3000" u="none" cap="none" strike="noStrike">
              <a:solidFill>
                <a:schemeClr val="dk1"/>
              </a:solidFill>
              <a:latin typeface="Saira"/>
              <a:ea typeface="Saira"/>
              <a:cs typeface="Saira"/>
              <a:sym typeface="Saira"/>
            </a:endParaRPr>
          </a:p>
        </p:txBody>
      </p:sp>
      <p:pic>
        <p:nvPicPr>
          <p:cNvPr id="314" name="Google Shape;314;g2e0920f1d41_0_175"/>
          <p:cNvPicPr preferRelativeResize="0"/>
          <p:nvPr/>
        </p:nvPicPr>
        <p:blipFill rotWithShape="1">
          <a:blip r:embed="rId3">
            <a:alphaModFix/>
          </a:blip>
          <a:srcRect b="30667" l="23552" r="22736" t="29910"/>
          <a:stretch/>
        </p:blipFill>
        <p:spPr>
          <a:xfrm>
            <a:off x="8791460" y="390327"/>
            <a:ext cx="2959467" cy="1085934"/>
          </a:xfrm>
          <a:prstGeom prst="rect">
            <a:avLst/>
          </a:prstGeom>
          <a:noFill/>
          <a:ln>
            <a:noFill/>
          </a:ln>
        </p:spPr>
      </p:pic>
      <p:sp>
        <p:nvSpPr>
          <p:cNvPr id="315" name="Google Shape;315;g2e0920f1d41_0_175"/>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316" name="Google Shape;316;g2e0920f1d41_0_175"/>
          <p:cNvSpPr txBox="1"/>
          <p:nvPr/>
        </p:nvSpPr>
        <p:spPr>
          <a:xfrm>
            <a:off x="379050" y="1834350"/>
            <a:ext cx="8812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2200">
                <a:solidFill>
                  <a:srgbClr val="0D0D0D"/>
                </a:solidFill>
                <a:highlight>
                  <a:srgbClr val="FFFFFF"/>
                </a:highlight>
                <a:latin typeface="Saira"/>
                <a:ea typeface="Saira"/>
                <a:cs typeface="Saira"/>
                <a:sym typeface="Saira"/>
              </a:rPr>
              <a:t>Un ejemplo de uso de **</a:t>
            </a:r>
            <a:r>
              <a:rPr lang="es-AR" sz="2200">
                <a:solidFill>
                  <a:srgbClr val="0D0D0D"/>
                </a:solidFill>
                <a:highlight>
                  <a:srgbClr val="FFFFFF"/>
                </a:highlight>
                <a:latin typeface="Saira"/>
                <a:ea typeface="Saira"/>
                <a:cs typeface="Saira"/>
                <a:sym typeface="Saira"/>
              </a:rPr>
              <a:t>kwargs</a:t>
            </a:r>
            <a:r>
              <a:rPr lang="es-AR" sz="2200">
                <a:solidFill>
                  <a:srgbClr val="0D0D0D"/>
                </a:solidFill>
                <a:highlight>
                  <a:srgbClr val="FFFFFF"/>
                </a:highlight>
                <a:latin typeface="Saira"/>
                <a:ea typeface="Saira"/>
                <a:cs typeface="Saira"/>
                <a:sym typeface="Saira"/>
              </a:rPr>
              <a:t> </a:t>
            </a:r>
            <a:endParaRPr b="0" i="0" sz="2200" u="none" cap="none" strike="noStrike">
              <a:solidFill>
                <a:srgbClr val="000000"/>
              </a:solidFill>
              <a:latin typeface="Saira"/>
              <a:ea typeface="Saira"/>
              <a:cs typeface="Saira"/>
              <a:sym typeface="Saira"/>
            </a:endParaRPr>
          </a:p>
        </p:txBody>
      </p:sp>
      <p:pic>
        <p:nvPicPr>
          <p:cNvPr id="317" name="Google Shape;317;g2e0920f1d41_0_175"/>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318" name="Google Shape;318;g2e0920f1d41_0_175"/>
          <p:cNvSpPr txBox="1"/>
          <p:nvPr/>
        </p:nvSpPr>
        <p:spPr>
          <a:xfrm>
            <a:off x="2093500" y="2647575"/>
            <a:ext cx="7035900" cy="29553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000">
                <a:solidFill>
                  <a:srgbClr val="FF0000"/>
                </a:solidFill>
                <a:latin typeface="Saira"/>
                <a:ea typeface="Saira"/>
                <a:cs typeface="Saira"/>
                <a:sym typeface="Saira"/>
              </a:rPr>
              <a:t>def </a:t>
            </a:r>
            <a:r>
              <a:rPr lang="es-AR" sz="2000">
                <a:solidFill>
                  <a:schemeClr val="dk1"/>
                </a:solidFill>
                <a:latin typeface="Saira"/>
                <a:ea typeface="Saira"/>
                <a:cs typeface="Saira"/>
                <a:sym typeface="Saira"/>
              </a:rPr>
              <a:t>mostrar_info(**kwargs):</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000">
                <a:solidFill>
                  <a:schemeClr val="dk1"/>
                </a:solidFill>
                <a:latin typeface="Saira"/>
                <a:ea typeface="Saira"/>
                <a:cs typeface="Saira"/>
                <a:sym typeface="Saira"/>
              </a:rPr>
              <a:t>    for clave, valor en kwargs.items():</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000">
                <a:solidFill>
                  <a:schemeClr val="dk1"/>
                </a:solidFill>
                <a:latin typeface="Saira"/>
                <a:ea typeface="Saira"/>
                <a:cs typeface="Saira"/>
                <a:sym typeface="Saira"/>
              </a:rPr>
              <a:t>        print(f"{clave}: {valor}")</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000">
                <a:solidFill>
                  <a:schemeClr val="dk1"/>
                </a:solidFill>
                <a:latin typeface="Saira"/>
                <a:ea typeface="Saira"/>
                <a:cs typeface="Saira"/>
                <a:sym typeface="Saira"/>
              </a:rPr>
              <a:t>mostrar_info(nombre="Ana", edad=30, ciudad="Madrid")</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000">
                <a:solidFill>
                  <a:schemeClr val="dk1"/>
                </a:solidFill>
                <a:latin typeface="Saira"/>
                <a:ea typeface="Saira"/>
                <a:cs typeface="Saira"/>
                <a:sym typeface="Saira"/>
              </a:rPr>
              <a:t># Output:</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000">
                <a:solidFill>
                  <a:schemeClr val="dk1"/>
                </a:solidFill>
                <a:latin typeface="Saira"/>
                <a:ea typeface="Saira"/>
                <a:cs typeface="Saira"/>
                <a:sym typeface="Saira"/>
              </a:rPr>
              <a:t># nombre: Ana</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000">
                <a:solidFill>
                  <a:schemeClr val="dk1"/>
                </a:solidFill>
                <a:latin typeface="Saira"/>
                <a:ea typeface="Saira"/>
                <a:cs typeface="Saira"/>
                <a:sym typeface="Saira"/>
              </a:rPr>
              <a:t># edad: 30</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000">
                <a:solidFill>
                  <a:schemeClr val="dk1"/>
                </a:solidFill>
                <a:latin typeface="Saira"/>
                <a:ea typeface="Saira"/>
                <a:cs typeface="Saira"/>
                <a:sym typeface="Saira"/>
              </a:rPr>
              <a:t># ciudad: Madrid</a:t>
            </a:r>
            <a:endParaRPr sz="2000">
              <a:solidFill>
                <a:schemeClr val="dk1"/>
              </a:solidFill>
              <a:latin typeface="Saira"/>
              <a:ea typeface="Saira"/>
              <a:cs typeface="Saira"/>
              <a:sym typeface="Sair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2e0920f1d41_0_195"/>
          <p:cNvSpPr txBox="1"/>
          <p:nvPr/>
        </p:nvSpPr>
        <p:spPr>
          <a:xfrm>
            <a:off x="319439" y="990221"/>
            <a:ext cx="84720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000">
                <a:solidFill>
                  <a:schemeClr val="dk1"/>
                </a:solidFill>
                <a:latin typeface="Saira"/>
                <a:ea typeface="Saira"/>
                <a:cs typeface="Saira"/>
                <a:sym typeface="Saira"/>
              </a:rPr>
              <a:t>Retorno de </a:t>
            </a:r>
            <a:r>
              <a:rPr lang="es-AR" sz="3000">
                <a:solidFill>
                  <a:schemeClr val="dk1"/>
                </a:solidFill>
                <a:latin typeface="Saira"/>
                <a:ea typeface="Saira"/>
                <a:cs typeface="Saira"/>
                <a:sym typeface="Saira"/>
              </a:rPr>
              <a:t>múltiples valores</a:t>
            </a:r>
            <a:r>
              <a:rPr lang="es-AR" sz="3000">
                <a:solidFill>
                  <a:schemeClr val="dk1"/>
                </a:solidFill>
                <a:latin typeface="Saira"/>
                <a:ea typeface="Saira"/>
                <a:cs typeface="Saira"/>
                <a:sym typeface="Saira"/>
              </a:rPr>
              <a:t> </a:t>
            </a:r>
            <a:endParaRPr b="0" i="0" sz="3000" u="none" cap="none" strike="noStrike">
              <a:solidFill>
                <a:schemeClr val="dk1"/>
              </a:solidFill>
              <a:latin typeface="Saira"/>
              <a:ea typeface="Saira"/>
              <a:cs typeface="Saira"/>
              <a:sym typeface="Saira"/>
            </a:endParaRPr>
          </a:p>
        </p:txBody>
      </p:sp>
      <p:pic>
        <p:nvPicPr>
          <p:cNvPr id="324" name="Google Shape;324;g2e0920f1d41_0_195"/>
          <p:cNvPicPr preferRelativeResize="0"/>
          <p:nvPr/>
        </p:nvPicPr>
        <p:blipFill rotWithShape="1">
          <a:blip r:embed="rId3">
            <a:alphaModFix/>
          </a:blip>
          <a:srcRect b="30667" l="23552" r="22736" t="29910"/>
          <a:stretch/>
        </p:blipFill>
        <p:spPr>
          <a:xfrm>
            <a:off x="8791460" y="390327"/>
            <a:ext cx="2959467" cy="1085934"/>
          </a:xfrm>
          <a:prstGeom prst="rect">
            <a:avLst/>
          </a:prstGeom>
          <a:noFill/>
          <a:ln>
            <a:noFill/>
          </a:ln>
        </p:spPr>
      </p:pic>
      <p:sp>
        <p:nvSpPr>
          <p:cNvPr id="325" name="Google Shape;325;g2e0920f1d41_0_195"/>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326" name="Google Shape;326;g2e0920f1d41_0_195"/>
          <p:cNvSpPr txBox="1"/>
          <p:nvPr/>
        </p:nvSpPr>
        <p:spPr>
          <a:xfrm>
            <a:off x="379050" y="1834350"/>
            <a:ext cx="8812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2200">
                <a:solidFill>
                  <a:srgbClr val="0D0D0D"/>
                </a:solidFill>
                <a:highlight>
                  <a:srgbClr val="FFFFFF"/>
                </a:highlight>
                <a:latin typeface="Saira"/>
                <a:ea typeface="Saira"/>
                <a:cs typeface="Saira"/>
                <a:sym typeface="Saira"/>
              </a:rPr>
              <a:t>Las funciones permiten devolver </a:t>
            </a:r>
            <a:r>
              <a:rPr lang="es-AR" sz="2200">
                <a:solidFill>
                  <a:srgbClr val="0D0D0D"/>
                </a:solidFill>
                <a:highlight>
                  <a:srgbClr val="FFFFFF"/>
                </a:highlight>
                <a:latin typeface="Saira"/>
                <a:ea typeface="Saira"/>
                <a:cs typeface="Saira"/>
                <a:sym typeface="Saira"/>
              </a:rPr>
              <a:t>múltiples</a:t>
            </a:r>
            <a:r>
              <a:rPr lang="es-AR" sz="2200">
                <a:solidFill>
                  <a:srgbClr val="0D0D0D"/>
                </a:solidFill>
                <a:highlight>
                  <a:srgbClr val="FFFFFF"/>
                </a:highlight>
                <a:latin typeface="Saira"/>
                <a:ea typeface="Saira"/>
                <a:cs typeface="Saira"/>
                <a:sym typeface="Saira"/>
              </a:rPr>
              <a:t> valores</a:t>
            </a:r>
            <a:endParaRPr b="0" i="0" sz="2200" u="none" cap="none" strike="noStrike">
              <a:solidFill>
                <a:srgbClr val="000000"/>
              </a:solidFill>
              <a:latin typeface="Saira"/>
              <a:ea typeface="Saira"/>
              <a:cs typeface="Saira"/>
              <a:sym typeface="Saira"/>
            </a:endParaRPr>
          </a:p>
        </p:txBody>
      </p:sp>
      <p:pic>
        <p:nvPicPr>
          <p:cNvPr id="327" name="Google Shape;327;g2e0920f1d41_0_195"/>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328" name="Google Shape;328;g2e0920f1d41_0_195"/>
          <p:cNvSpPr txBox="1"/>
          <p:nvPr/>
        </p:nvSpPr>
        <p:spPr>
          <a:xfrm>
            <a:off x="1041600" y="2562425"/>
            <a:ext cx="8613900" cy="35709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000">
                <a:solidFill>
                  <a:schemeClr val="dk1"/>
                </a:solidFill>
                <a:latin typeface="Saira"/>
                <a:ea typeface="Saira"/>
                <a:cs typeface="Saira"/>
                <a:sym typeface="Saira"/>
              </a:rPr>
              <a:t>def obtener_coordenadas():</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000">
                <a:solidFill>
                  <a:schemeClr val="dk1"/>
                </a:solidFill>
                <a:latin typeface="Saira"/>
                <a:ea typeface="Saira"/>
                <a:cs typeface="Saira"/>
                <a:sym typeface="Saira"/>
              </a:rPr>
              <a:t>    x = 10</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000">
                <a:solidFill>
                  <a:schemeClr val="dk1"/>
                </a:solidFill>
                <a:latin typeface="Saira"/>
                <a:ea typeface="Saira"/>
                <a:cs typeface="Saira"/>
                <a:sym typeface="Saira"/>
              </a:rPr>
              <a:t>    y = 20</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000">
                <a:solidFill>
                  <a:schemeClr val="dk1"/>
                </a:solidFill>
                <a:latin typeface="Saira"/>
                <a:ea typeface="Saira"/>
                <a:cs typeface="Saira"/>
                <a:sym typeface="Saira"/>
              </a:rPr>
              <a:t>    return x, y</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000">
                <a:solidFill>
                  <a:schemeClr val="dk1"/>
                </a:solidFill>
                <a:latin typeface="Saira"/>
                <a:ea typeface="Saira"/>
                <a:cs typeface="Saira"/>
                <a:sym typeface="Saira"/>
              </a:rPr>
              <a:t># Llamar a la función y desempaquetar los valores retornados</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000">
                <a:solidFill>
                  <a:schemeClr val="dk1"/>
                </a:solidFill>
                <a:latin typeface="Saira"/>
                <a:ea typeface="Saira"/>
                <a:cs typeface="Saira"/>
                <a:sym typeface="Saira"/>
              </a:rPr>
              <a:t>coord_x, coord_y = obtener_coordenadas()</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000">
                <a:solidFill>
                  <a:schemeClr val="dk1"/>
                </a:solidFill>
                <a:latin typeface="Saira"/>
                <a:ea typeface="Saira"/>
                <a:cs typeface="Saira"/>
                <a:sym typeface="Saira"/>
              </a:rPr>
              <a:t>print(f"Coordenada X: {coord_x}")</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000">
                <a:solidFill>
                  <a:schemeClr val="dk1"/>
                </a:solidFill>
                <a:latin typeface="Saira"/>
                <a:ea typeface="Saira"/>
                <a:cs typeface="Saira"/>
                <a:sym typeface="Saira"/>
              </a:rPr>
              <a:t>print(f"Coordenada Y: {coord_y}")</a:t>
            </a:r>
            <a:endParaRPr sz="2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000">
              <a:solidFill>
                <a:schemeClr val="dk1"/>
              </a:solidFill>
              <a:latin typeface="Saira"/>
              <a:ea typeface="Saira"/>
              <a:cs typeface="Saira"/>
              <a:sym typeface="Sair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202c77a19e3_0_52"/>
          <p:cNvSpPr txBox="1"/>
          <p:nvPr/>
        </p:nvSpPr>
        <p:spPr>
          <a:xfrm>
            <a:off x="319439" y="990221"/>
            <a:ext cx="84720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b="0" i="0" lang="es-AR" sz="3000" u="none" cap="none" strike="noStrike">
                <a:solidFill>
                  <a:srgbClr val="0000FF"/>
                </a:solidFill>
                <a:latin typeface="Saira"/>
                <a:ea typeface="Saira"/>
                <a:cs typeface="Saira"/>
                <a:sym typeface="Saira"/>
              </a:rPr>
              <a:t>Ejercicio integrador</a:t>
            </a:r>
            <a:endParaRPr b="0" i="0" sz="3000" u="none" cap="none" strike="noStrike">
              <a:solidFill>
                <a:srgbClr val="0000FF"/>
              </a:solidFill>
              <a:latin typeface="Saira"/>
              <a:ea typeface="Saira"/>
              <a:cs typeface="Saira"/>
              <a:sym typeface="Saira"/>
            </a:endParaRPr>
          </a:p>
        </p:txBody>
      </p:sp>
      <p:pic>
        <p:nvPicPr>
          <p:cNvPr id="334" name="Google Shape;334;g202c77a19e3_0_52"/>
          <p:cNvPicPr preferRelativeResize="0"/>
          <p:nvPr/>
        </p:nvPicPr>
        <p:blipFill rotWithShape="1">
          <a:blip r:embed="rId3">
            <a:alphaModFix/>
          </a:blip>
          <a:srcRect b="30668" l="23553" r="22731" t="29911"/>
          <a:stretch/>
        </p:blipFill>
        <p:spPr>
          <a:xfrm>
            <a:off x="8791460" y="390327"/>
            <a:ext cx="2959467" cy="1085934"/>
          </a:xfrm>
          <a:prstGeom prst="rect">
            <a:avLst/>
          </a:prstGeom>
          <a:noFill/>
          <a:ln>
            <a:noFill/>
          </a:ln>
        </p:spPr>
      </p:pic>
      <p:sp>
        <p:nvSpPr>
          <p:cNvPr id="335" name="Google Shape;335;g202c77a19e3_0_52"/>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336" name="Google Shape;336;g202c77a19e3_0_52"/>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337" name="Google Shape;337;g202c77a19e3_0_52"/>
          <p:cNvSpPr txBox="1"/>
          <p:nvPr/>
        </p:nvSpPr>
        <p:spPr>
          <a:xfrm>
            <a:off x="515375" y="1610450"/>
            <a:ext cx="9849000" cy="4710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AR">
                <a:solidFill>
                  <a:srgbClr val="0D0D0D"/>
                </a:solidFill>
                <a:latin typeface="Saira"/>
                <a:ea typeface="Saira"/>
                <a:cs typeface="Saira"/>
                <a:sym typeface="Saira"/>
              </a:rPr>
              <a:t>Desarrolla un programa en Python que gestione la información de estudiantes y sus notas en diferentes asignaturas. El programa debe cumplir con los siguientes requisitos:</a:t>
            </a:r>
            <a:endParaRPr>
              <a:solidFill>
                <a:srgbClr val="0D0D0D"/>
              </a:solidFill>
              <a:latin typeface="Saira"/>
              <a:ea typeface="Saira"/>
              <a:cs typeface="Saira"/>
              <a:sym typeface="Saira"/>
            </a:endParaRPr>
          </a:p>
          <a:p>
            <a:pPr indent="0" lvl="0" marL="0" marR="0" rtl="0" algn="l">
              <a:lnSpc>
                <a:spcPct val="100000"/>
              </a:lnSpc>
              <a:spcBef>
                <a:spcPts val="0"/>
              </a:spcBef>
              <a:spcAft>
                <a:spcPts val="0"/>
              </a:spcAft>
              <a:buNone/>
            </a:pPr>
            <a:r>
              <a:t/>
            </a:r>
            <a:endParaRPr>
              <a:solidFill>
                <a:srgbClr val="0D0D0D"/>
              </a:solidFill>
              <a:latin typeface="Saira"/>
              <a:ea typeface="Saira"/>
              <a:cs typeface="Saira"/>
              <a:sym typeface="Saira"/>
            </a:endParaRPr>
          </a:p>
          <a:p>
            <a:pPr indent="0" lvl="0" marL="0" marR="0" rtl="0" algn="l">
              <a:lnSpc>
                <a:spcPct val="100000"/>
              </a:lnSpc>
              <a:spcBef>
                <a:spcPts val="0"/>
              </a:spcBef>
              <a:spcAft>
                <a:spcPts val="0"/>
              </a:spcAft>
              <a:buNone/>
            </a:pPr>
            <a:r>
              <a:rPr lang="es-AR">
                <a:solidFill>
                  <a:srgbClr val="0D0D0D"/>
                </a:solidFill>
                <a:latin typeface="Saira"/>
                <a:ea typeface="Saira"/>
                <a:cs typeface="Saira"/>
                <a:sym typeface="Saira"/>
              </a:rPr>
              <a:t>Definir Funciones:</a:t>
            </a:r>
            <a:endParaRPr>
              <a:solidFill>
                <a:srgbClr val="0D0D0D"/>
              </a:solidFill>
              <a:latin typeface="Saira"/>
              <a:ea typeface="Saira"/>
              <a:cs typeface="Saira"/>
              <a:sym typeface="Saira"/>
            </a:endParaRPr>
          </a:p>
          <a:p>
            <a:pPr indent="0" lvl="0" marL="0" marR="0" rtl="0" algn="l">
              <a:lnSpc>
                <a:spcPct val="100000"/>
              </a:lnSpc>
              <a:spcBef>
                <a:spcPts val="0"/>
              </a:spcBef>
              <a:spcAft>
                <a:spcPts val="0"/>
              </a:spcAft>
              <a:buNone/>
            </a:pPr>
            <a:r>
              <a:rPr lang="es-AR">
                <a:solidFill>
                  <a:srgbClr val="0D0D0D"/>
                </a:solidFill>
                <a:latin typeface="Saira"/>
                <a:ea typeface="Saira"/>
                <a:cs typeface="Saira"/>
                <a:sym typeface="Saira"/>
              </a:rPr>
              <a:t>agregar_estudiante(estudiantes, nombre, edad, ciudad): Añade un nuevo estudiante al diccionario estudiantes. Cada estudiante debe tener un identificador único (ID), nombre, edad, ciudad y un diccionario vacío para las notas.</a:t>
            </a:r>
            <a:endParaRPr>
              <a:solidFill>
                <a:srgbClr val="0D0D0D"/>
              </a:solidFill>
              <a:latin typeface="Saira"/>
              <a:ea typeface="Saira"/>
              <a:cs typeface="Saira"/>
              <a:sym typeface="Saira"/>
            </a:endParaRPr>
          </a:p>
          <a:p>
            <a:pPr indent="0" lvl="0" marL="0" marR="0" rtl="0" algn="l">
              <a:lnSpc>
                <a:spcPct val="100000"/>
              </a:lnSpc>
              <a:spcBef>
                <a:spcPts val="0"/>
              </a:spcBef>
              <a:spcAft>
                <a:spcPts val="0"/>
              </a:spcAft>
              <a:buNone/>
            </a:pPr>
            <a:r>
              <a:rPr lang="es-AR">
                <a:solidFill>
                  <a:srgbClr val="0D0D0D"/>
                </a:solidFill>
                <a:latin typeface="Saira"/>
                <a:ea typeface="Saira"/>
                <a:cs typeface="Saira"/>
                <a:sym typeface="Saira"/>
              </a:rPr>
              <a:t>agregar_nota(estudiantes, id_estudiante, asignatura, nota): Añade una nota para una asignatura específica a un estudiante.</a:t>
            </a:r>
            <a:endParaRPr>
              <a:solidFill>
                <a:srgbClr val="0D0D0D"/>
              </a:solidFill>
              <a:latin typeface="Saira"/>
              <a:ea typeface="Saira"/>
              <a:cs typeface="Saira"/>
              <a:sym typeface="Saira"/>
            </a:endParaRPr>
          </a:p>
          <a:p>
            <a:pPr indent="0" lvl="0" marL="0" marR="0" rtl="0" algn="l">
              <a:lnSpc>
                <a:spcPct val="100000"/>
              </a:lnSpc>
              <a:spcBef>
                <a:spcPts val="0"/>
              </a:spcBef>
              <a:spcAft>
                <a:spcPts val="0"/>
              </a:spcAft>
              <a:buNone/>
            </a:pPr>
            <a:r>
              <a:rPr lang="es-AR">
                <a:solidFill>
                  <a:srgbClr val="0D0D0D"/>
                </a:solidFill>
                <a:latin typeface="Saira"/>
                <a:ea typeface="Saira"/>
                <a:cs typeface="Saira"/>
                <a:sym typeface="Saira"/>
              </a:rPr>
              <a:t>obtener_promedio(estudiantes, id_estudiante): Calcula y devuelve el promedio de las notas de un estudiante.</a:t>
            </a:r>
            <a:endParaRPr>
              <a:solidFill>
                <a:srgbClr val="0D0D0D"/>
              </a:solidFill>
              <a:latin typeface="Saira"/>
              <a:ea typeface="Saira"/>
              <a:cs typeface="Saira"/>
              <a:sym typeface="Saira"/>
            </a:endParaRPr>
          </a:p>
          <a:p>
            <a:pPr indent="0" lvl="0" marL="0" marR="0" rtl="0" algn="l">
              <a:lnSpc>
                <a:spcPct val="100000"/>
              </a:lnSpc>
              <a:spcBef>
                <a:spcPts val="0"/>
              </a:spcBef>
              <a:spcAft>
                <a:spcPts val="0"/>
              </a:spcAft>
              <a:buNone/>
            </a:pPr>
            <a:r>
              <a:rPr lang="es-AR">
                <a:solidFill>
                  <a:srgbClr val="0D0D0D"/>
                </a:solidFill>
                <a:latin typeface="Saira"/>
                <a:ea typeface="Saira"/>
                <a:cs typeface="Saira"/>
                <a:sym typeface="Saira"/>
              </a:rPr>
              <a:t>mostrar_informacion(estudiantes): Muestra toda la información de todos los estudiantes, incluyendo el promedio de notas.</a:t>
            </a:r>
            <a:endParaRPr>
              <a:solidFill>
                <a:srgbClr val="0D0D0D"/>
              </a:solidFill>
              <a:latin typeface="Saira"/>
              <a:ea typeface="Saira"/>
              <a:cs typeface="Saira"/>
              <a:sym typeface="Saira"/>
            </a:endParaRPr>
          </a:p>
          <a:p>
            <a:pPr indent="0" lvl="0" marL="0" marR="0" rtl="0" algn="l">
              <a:lnSpc>
                <a:spcPct val="100000"/>
              </a:lnSpc>
              <a:spcBef>
                <a:spcPts val="0"/>
              </a:spcBef>
              <a:spcAft>
                <a:spcPts val="0"/>
              </a:spcAft>
              <a:buNone/>
            </a:pPr>
            <a:r>
              <a:t/>
            </a:r>
            <a:endParaRPr>
              <a:solidFill>
                <a:srgbClr val="0D0D0D"/>
              </a:solidFill>
              <a:latin typeface="Saira"/>
              <a:ea typeface="Saira"/>
              <a:cs typeface="Saira"/>
              <a:sym typeface="Saira"/>
            </a:endParaRPr>
          </a:p>
          <a:p>
            <a:pPr indent="0" lvl="0" marL="0" marR="0" rtl="0" algn="l">
              <a:lnSpc>
                <a:spcPct val="100000"/>
              </a:lnSpc>
              <a:spcBef>
                <a:spcPts val="0"/>
              </a:spcBef>
              <a:spcAft>
                <a:spcPts val="0"/>
              </a:spcAft>
              <a:buNone/>
            </a:pPr>
            <a:r>
              <a:rPr lang="es-AR">
                <a:solidFill>
                  <a:srgbClr val="0D0D0D"/>
                </a:solidFill>
                <a:latin typeface="Saira"/>
                <a:ea typeface="Saira"/>
                <a:cs typeface="Saira"/>
                <a:sym typeface="Saira"/>
              </a:rPr>
              <a:t>Estructura de Datos:</a:t>
            </a:r>
            <a:endParaRPr>
              <a:solidFill>
                <a:srgbClr val="0D0D0D"/>
              </a:solidFill>
              <a:latin typeface="Saira"/>
              <a:ea typeface="Saira"/>
              <a:cs typeface="Saira"/>
              <a:sym typeface="Saira"/>
            </a:endParaRPr>
          </a:p>
          <a:p>
            <a:pPr indent="0" lvl="0" marL="0" marR="0" rtl="0" algn="l">
              <a:lnSpc>
                <a:spcPct val="100000"/>
              </a:lnSpc>
              <a:spcBef>
                <a:spcPts val="0"/>
              </a:spcBef>
              <a:spcAft>
                <a:spcPts val="0"/>
              </a:spcAft>
              <a:buNone/>
            </a:pPr>
            <a:r>
              <a:rPr lang="es-AR">
                <a:solidFill>
                  <a:srgbClr val="0D0D0D"/>
                </a:solidFill>
                <a:latin typeface="Saira"/>
                <a:ea typeface="Saira"/>
                <a:cs typeface="Saira"/>
                <a:sym typeface="Saira"/>
              </a:rPr>
              <a:t>Utiliza un diccionario para almacenar la información de los estudiantes, donde la clave sea el ID del estudiante y el valor sea otro diccionario con la información del estudiante y sus notas.</a:t>
            </a:r>
            <a:endParaRPr>
              <a:solidFill>
                <a:srgbClr val="0D0D0D"/>
              </a:solidFill>
              <a:latin typeface="Saira"/>
              <a:ea typeface="Saira"/>
              <a:cs typeface="Saira"/>
              <a:sym typeface="Saira"/>
            </a:endParaRPr>
          </a:p>
          <a:p>
            <a:pPr indent="0" lvl="0" marL="0" marR="0" rtl="0" algn="l">
              <a:lnSpc>
                <a:spcPct val="100000"/>
              </a:lnSpc>
              <a:spcBef>
                <a:spcPts val="0"/>
              </a:spcBef>
              <a:spcAft>
                <a:spcPts val="0"/>
              </a:spcAft>
              <a:buNone/>
            </a:pPr>
            <a:r>
              <a:rPr lang="es-AR">
                <a:solidFill>
                  <a:srgbClr val="0D0D0D"/>
                </a:solidFill>
                <a:latin typeface="Saira"/>
                <a:ea typeface="Saira"/>
                <a:cs typeface="Saira"/>
                <a:sym typeface="Saira"/>
              </a:rPr>
              <a:t>La información de cada estudiante debe ser almacenada en una tupla (nombre, edad, ciudad).</a:t>
            </a:r>
            <a:endParaRPr>
              <a:solidFill>
                <a:srgbClr val="0D0D0D"/>
              </a:solidFill>
              <a:latin typeface="Saira"/>
              <a:ea typeface="Saira"/>
              <a:cs typeface="Saira"/>
              <a:sym typeface="Saira"/>
            </a:endParaRPr>
          </a:p>
          <a:p>
            <a:pPr indent="0" lvl="0" marL="0" marR="0" rtl="0" algn="l">
              <a:lnSpc>
                <a:spcPct val="100000"/>
              </a:lnSpc>
              <a:spcBef>
                <a:spcPts val="0"/>
              </a:spcBef>
              <a:spcAft>
                <a:spcPts val="0"/>
              </a:spcAft>
              <a:buNone/>
            </a:pPr>
            <a:r>
              <a:t/>
            </a:r>
            <a:endParaRPr>
              <a:solidFill>
                <a:srgbClr val="0D0D0D"/>
              </a:solidFill>
              <a:latin typeface="Saira"/>
              <a:ea typeface="Saira"/>
              <a:cs typeface="Saira"/>
              <a:sym typeface="Saira"/>
            </a:endParaRPr>
          </a:p>
          <a:p>
            <a:pPr indent="0" lvl="0" marL="0" marR="0" rtl="0" algn="l">
              <a:lnSpc>
                <a:spcPct val="100000"/>
              </a:lnSpc>
              <a:spcBef>
                <a:spcPts val="0"/>
              </a:spcBef>
              <a:spcAft>
                <a:spcPts val="0"/>
              </a:spcAft>
              <a:buNone/>
            </a:pPr>
            <a:r>
              <a:rPr lang="es-AR">
                <a:solidFill>
                  <a:srgbClr val="0D0D0D"/>
                </a:solidFill>
                <a:latin typeface="Saira"/>
                <a:ea typeface="Saira"/>
                <a:cs typeface="Saira"/>
                <a:sym typeface="Saira"/>
              </a:rPr>
              <a:t>Interacción con el Usuario:</a:t>
            </a:r>
            <a:endParaRPr>
              <a:solidFill>
                <a:srgbClr val="0D0D0D"/>
              </a:solidFill>
              <a:latin typeface="Saira"/>
              <a:ea typeface="Saira"/>
              <a:cs typeface="Saira"/>
              <a:sym typeface="Saira"/>
            </a:endParaRPr>
          </a:p>
          <a:p>
            <a:pPr indent="0" lvl="0" marL="0" marR="0" rtl="0" algn="l">
              <a:lnSpc>
                <a:spcPct val="100000"/>
              </a:lnSpc>
              <a:spcBef>
                <a:spcPts val="0"/>
              </a:spcBef>
              <a:spcAft>
                <a:spcPts val="0"/>
              </a:spcAft>
              <a:buNone/>
            </a:pPr>
            <a:r>
              <a:rPr lang="es-AR">
                <a:solidFill>
                  <a:srgbClr val="0D0D0D"/>
                </a:solidFill>
                <a:latin typeface="Saira"/>
                <a:ea typeface="Saira"/>
                <a:cs typeface="Saira"/>
                <a:sym typeface="Saira"/>
              </a:rPr>
              <a:t>Permite al usuario agregar nuevos estudiantes.</a:t>
            </a:r>
            <a:endParaRPr>
              <a:solidFill>
                <a:srgbClr val="0D0D0D"/>
              </a:solidFill>
              <a:latin typeface="Saira"/>
              <a:ea typeface="Saira"/>
              <a:cs typeface="Saira"/>
              <a:sym typeface="Saira"/>
            </a:endParaRPr>
          </a:p>
          <a:p>
            <a:pPr indent="0" lvl="0" marL="0" marR="0" rtl="0" algn="l">
              <a:lnSpc>
                <a:spcPct val="100000"/>
              </a:lnSpc>
              <a:spcBef>
                <a:spcPts val="0"/>
              </a:spcBef>
              <a:spcAft>
                <a:spcPts val="0"/>
              </a:spcAft>
              <a:buNone/>
            </a:pPr>
            <a:r>
              <a:rPr lang="es-AR">
                <a:solidFill>
                  <a:srgbClr val="0D0D0D"/>
                </a:solidFill>
                <a:latin typeface="Saira"/>
                <a:ea typeface="Saira"/>
                <a:cs typeface="Saira"/>
                <a:sym typeface="Saira"/>
              </a:rPr>
              <a:t>Permite al usuario agregar notas para los estudiantes.</a:t>
            </a:r>
            <a:endParaRPr>
              <a:solidFill>
                <a:srgbClr val="0D0D0D"/>
              </a:solidFill>
              <a:latin typeface="Saira"/>
              <a:ea typeface="Saira"/>
              <a:cs typeface="Saira"/>
              <a:sym typeface="Saira"/>
            </a:endParaRPr>
          </a:p>
          <a:p>
            <a:pPr indent="0" lvl="0" marL="0" marR="0" rtl="0" algn="l">
              <a:lnSpc>
                <a:spcPct val="100000"/>
              </a:lnSpc>
              <a:spcBef>
                <a:spcPts val="0"/>
              </a:spcBef>
              <a:spcAft>
                <a:spcPts val="0"/>
              </a:spcAft>
              <a:buNone/>
            </a:pPr>
            <a:r>
              <a:rPr lang="es-AR">
                <a:solidFill>
                  <a:srgbClr val="0D0D0D"/>
                </a:solidFill>
                <a:latin typeface="Saira"/>
                <a:ea typeface="Saira"/>
                <a:cs typeface="Saira"/>
                <a:sym typeface="Saira"/>
              </a:rPr>
              <a:t>Permite al usuario obtener y mostrar la información de todos los estudiantes, incluyendo sus promedios de notas.</a:t>
            </a:r>
            <a:endParaRPr>
              <a:solidFill>
                <a:srgbClr val="0D0D0D"/>
              </a:solidFill>
              <a:latin typeface="Saira"/>
              <a:ea typeface="Saira"/>
              <a:cs typeface="Saira"/>
              <a:sym typeface="Sair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id="342" name="Google Shape;342;g1f3006538ad_0_205"/>
          <p:cNvPicPr preferRelativeResize="0"/>
          <p:nvPr/>
        </p:nvPicPr>
        <p:blipFill rotWithShape="1">
          <a:blip r:embed="rId3">
            <a:alphaModFix/>
          </a:blip>
          <a:srcRect b="30671" l="23552" r="22735" t="29910"/>
          <a:stretch/>
        </p:blipFill>
        <p:spPr>
          <a:xfrm>
            <a:off x="8791460" y="390327"/>
            <a:ext cx="2959467" cy="1085934"/>
          </a:xfrm>
          <a:prstGeom prst="rect">
            <a:avLst/>
          </a:prstGeom>
          <a:noFill/>
          <a:ln>
            <a:noFill/>
          </a:ln>
        </p:spPr>
      </p:pic>
      <p:sp>
        <p:nvSpPr>
          <p:cNvPr id="343" name="Google Shape;343;g1f3006538ad_0_205"/>
          <p:cNvSpPr txBox="1"/>
          <p:nvPr>
            <p:ph idx="11" type="ftr"/>
          </p:nvPr>
        </p:nvSpPr>
        <p:spPr>
          <a:xfrm>
            <a:off x="2846238" y="2374225"/>
            <a:ext cx="6499500" cy="1003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AR" sz="2000">
                <a:latin typeface="Saira"/>
                <a:ea typeface="Saira"/>
                <a:cs typeface="Saira"/>
                <a:sym typeface="Saira"/>
              </a:rPr>
              <a:t>Próxima unidad: Clases y </a:t>
            </a:r>
            <a:r>
              <a:rPr lang="es-AR" sz="2000">
                <a:latin typeface="Saira"/>
                <a:ea typeface="Saira"/>
                <a:cs typeface="Saira"/>
                <a:sym typeface="Saira"/>
              </a:rPr>
              <a:t>librerías</a:t>
            </a:r>
            <a:r>
              <a:rPr lang="es-AR" sz="2000">
                <a:latin typeface="Saira"/>
                <a:ea typeface="Saira"/>
                <a:cs typeface="Saira"/>
                <a:sym typeface="Saira"/>
              </a:rPr>
              <a:t>.</a:t>
            </a:r>
            <a:endParaRPr sz="2000"/>
          </a:p>
        </p:txBody>
      </p:sp>
      <p:sp>
        <p:nvSpPr>
          <p:cNvPr id="344" name="Google Shape;344;g1f3006538ad_0_205"/>
          <p:cNvSpPr txBox="1"/>
          <p:nvPr>
            <p:ph idx="10" type="dt"/>
          </p:nvPr>
        </p:nvSpPr>
        <p:spPr>
          <a:xfrm>
            <a:off x="4439400" y="6313325"/>
            <a:ext cx="3313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r>
              <a:rPr lang="es-AR">
                <a:latin typeface="Saira"/>
                <a:ea typeface="Saira"/>
                <a:cs typeface="Saira"/>
                <a:sym typeface="Saira"/>
              </a:rPr>
              <a:t>Laboratorio de computación II  2024</a:t>
            </a:r>
            <a:endParaRPr>
              <a:latin typeface="Saira"/>
              <a:ea typeface="Saira"/>
              <a:cs typeface="Saira"/>
              <a:sym typeface="Saira"/>
            </a:endParaRPr>
          </a:p>
        </p:txBody>
      </p:sp>
      <p:pic>
        <p:nvPicPr>
          <p:cNvPr id="345" name="Google Shape;345;g1f3006538ad_0_205"/>
          <p:cNvPicPr preferRelativeResize="0"/>
          <p:nvPr/>
        </p:nvPicPr>
        <p:blipFill rotWithShape="1">
          <a:blip r:embed="rId4">
            <a:alphaModFix/>
          </a:blip>
          <a:srcRect b="0" l="0" r="0" t="0"/>
          <a:stretch/>
        </p:blipFill>
        <p:spPr>
          <a:xfrm>
            <a:off x="4964432" y="3311318"/>
            <a:ext cx="2263150" cy="22928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2023-03-07T21:33:27Z</dcterms:created>
  <dc:creator>Carlos Sebastián Pedraza</dc:creator>
</cp:coreProperties>
</file>